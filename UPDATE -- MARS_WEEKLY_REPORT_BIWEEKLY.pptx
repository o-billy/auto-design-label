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notesMasterIdLst>
    <p:notesMasterId r:id="rId11"/>
  </p:notesMasterIdLst>
  <p:sldIdLst>
    <p:sldId id="258" r:id="rId4"/>
    <p:sldId id="259" r:id="rId5"/>
    <p:sldId id="256" r:id="rId6"/>
    <p:sldId id="257" r:id="rId7"/>
    <p:sldId id="260" r:id="rId8"/>
    <p:sldId id="261" r:id="rId9"/>
    <p:sldId id="262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B8945-EA32-406B-A8A9-5EC79DC88A44}" type="datetimeFigureOut">
              <a:rPr lang="en-US" smtClean="0"/>
              <a:t>08/25/2026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3CBA0-657A-4A3D-AE3B-5AF1D08F4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3CBA0-657A-4A3D-AE3B-5AF1D08F45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9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79640" y="248760"/>
            <a:ext cx="9389520" cy="90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22720" y="2127240"/>
            <a:ext cx="9389520" cy="422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7"/>
          <p:cNvPicPr/>
          <p:nvPr/>
        </p:nvPicPr>
        <p:blipFill>
          <a:blip r:embed="rId4"/>
          <a:stretch/>
        </p:blipFill>
        <p:spPr>
          <a:xfrm>
            <a:off x="0" y="444240"/>
            <a:ext cx="1041120" cy="578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44856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zh-CN" sz="6000" b="1" strike="noStrike" spc="-1">
                <a:solidFill>
                  <a:schemeClr val="dk1"/>
                </a:solidFill>
                <a:latin typeface="思源黑体 CN Heavy"/>
                <a:ea typeface="思源黑体 CN Heavy"/>
              </a:rPr>
              <a:t>单击此处编辑母版标题样式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7"/>
          <p:cNvPicPr/>
          <p:nvPr/>
        </p:nvPicPr>
        <p:blipFill>
          <a:blip r:embed="rId4"/>
          <a:stretch/>
        </p:blipFill>
        <p:spPr>
          <a:xfrm>
            <a:off x="0" y="444240"/>
            <a:ext cx="1041120" cy="578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79640" y="248760"/>
            <a:ext cx="9389520" cy="9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fr-FR" sz="3600" b="1" strike="noStrike" spc="-1">
                <a:solidFill>
                  <a:srgbClr val="002F76"/>
                </a:solidFill>
                <a:latin typeface="Arial Black"/>
                <a:ea typeface="微软雅黑"/>
              </a:rPr>
              <a:t>main title-font size 30-36</a:t>
            </a:r>
            <a:endParaRPr lang="en-US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22720" y="2127240"/>
            <a:ext cx="9389520" cy="42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Text-font size 12-18</a:t>
            </a:r>
            <a:endParaRPr lang="en-US" sz="1600" b="1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文本框 11"/>
          <p:cNvSpPr/>
          <p:nvPr/>
        </p:nvSpPr>
        <p:spPr>
          <a:xfrm>
            <a:off x="11369520" y="6598800"/>
            <a:ext cx="725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14F74BE3-4C68-44E1-855B-E1831D85ACE7}" type="slidenum">
              <a:rPr lang="en-US" sz="1200" b="0" strike="noStrike" spc="-1">
                <a:solidFill>
                  <a:schemeClr val="lt1"/>
                </a:solidFill>
                <a:latin typeface="Arial"/>
              </a:rPr>
              <a:t>‹#›</a:t>
            </a:fld>
            <a:r>
              <a:rPr lang="en-US" sz="1200" b="0" strike="noStrike" spc="-1">
                <a:solidFill>
                  <a:schemeClr val="lt1"/>
                </a:solidFill>
                <a:latin typeface="Arial"/>
              </a:rPr>
              <a:t>/N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7"/>
          <p:cNvPicPr/>
          <p:nvPr/>
        </p:nvPicPr>
        <p:blipFill>
          <a:blip r:embed="rId4"/>
          <a:stretch/>
        </p:blipFill>
        <p:spPr>
          <a:xfrm>
            <a:off x="0" y="444240"/>
            <a:ext cx="1041120" cy="578880"/>
          </a:xfrm>
          <a:prstGeom prst="rect">
            <a:avLst/>
          </a:prstGeom>
          <a:ln w="0">
            <a:noFill/>
          </a:ln>
        </p:spPr>
      </p:pic>
      <p:sp>
        <p:nvSpPr>
          <p:cNvPr id="9" name="椭圆 2"/>
          <p:cNvSpPr/>
          <p:nvPr/>
        </p:nvSpPr>
        <p:spPr>
          <a:xfrm>
            <a:off x="2658240" y="1480320"/>
            <a:ext cx="6715440" cy="3652200"/>
          </a:xfrm>
          <a:prstGeom prst="ellipse">
            <a:avLst/>
          </a:prstGeom>
          <a:gradFill rotWithShape="0">
            <a:gsLst>
              <a:gs pos="0">
                <a:srgbClr val="2E75B6"/>
              </a:gs>
              <a:gs pos="100000">
                <a:srgbClr val="2E75B6">
                  <a:alpha val="0"/>
                </a:srgb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0" name="文本框 3"/>
          <p:cNvSpPr/>
          <p:nvPr/>
        </p:nvSpPr>
        <p:spPr>
          <a:xfrm>
            <a:off x="3974040" y="2557080"/>
            <a:ext cx="5889960" cy="14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800" b="0" strike="noStrike" spc="-1">
                <a:solidFill>
                  <a:schemeClr val="lt1"/>
                </a:solidFill>
                <a:latin typeface="Inter Black"/>
                <a:ea typeface="Inter Black"/>
              </a:rPr>
              <a:t>Thank You</a:t>
            </a:r>
            <a:endParaRPr lang="en-US" sz="8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"/>
          <p:cNvSpPr/>
          <p:nvPr/>
        </p:nvSpPr>
        <p:spPr>
          <a:xfrm>
            <a:off x="1079640" y="330008"/>
            <a:ext cx="93895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2F76"/>
                </a:solidFill>
                <a:latin typeface="Arial Black"/>
              </a:rPr>
              <a:t>KITTING MATERIAL TRACKING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"/>
          <p:cNvSpPr/>
          <p:nvPr/>
        </p:nvSpPr>
        <p:spPr>
          <a:xfrm>
            <a:off x="1079640" y="987480"/>
            <a:ext cx="9389520" cy="3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i="1" strike="noStrike" spc="-1" dirty="0">
                <a:solidFill>
                  <a:srgbClr val="5B6B8C"/>
                </a:solidFill>
                <a:latin typeface="Arial"/>
              </a:rPr>
              <a:t>Real-time SAP-connected dashboard for kitting progress monitoring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"/>
          <p:cNvSpPr/>
          <p:nvPr/>
        </p:nvSpPr>
        <p:spPr>
          <a:xfrm>
            <a:off x="457200" y="1515240"/>
            <a:ext cx="429948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1" strike="noStrike" spc="-1" dirty="0">
                <a:solidFill>
                  <a:srgbClr val="002F76"/>
                </a:solidFill>
                <a:latin typeface="Arial Black"/>
              </a:rPr>
              <a:t>HOW TO USE THE DASHBOARD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Dot"/>
          <p:cNvSpPr/>
          <p:nvPr/>
        </p:nvSpPr>
        <p:spPr>
          <a:xfrm>
            <a:off x="457200" y="193536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Text"/>
          <p:cNvSpPr/>
          <p:nvPr/>
        </p:nvSpPr>
        <p:spPr>
          <a:xfrm>
            <a:off x="457200" y="19353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01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"/>
          <p:cNvSpPr/>
          <p:nvPr/>
        </p:nvSpPr>
        <p:spPr>
          <a:xfrm>
            <a:off x="937080" y="191520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2B2B2B"/>
                </a:solidFill>
                <a:latin typeface="Arial"/>
              </a:rPr>
              <a:t>Set the scope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"/>
          <p:cNvSpPr/>
          <p:nvPr/>
        </p:nvSpPr>
        <p:spPr>
          <a:xfrm>
            <a:off x="937080" y="217512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Select plant (IAEB / IAEA) process:</a:t>
            </a:r>
            <a:r>
              <a:rPr lang="en-US" sz="900" spc="-1" dirty="0">
                <a:solidFill>
                  <a:srgbClr val="5B6B8C"/>
                </a:solidFill>
                <a:latin typeface="Arial"/>
                <a:sym typeface="Wingdings" panose="05000000000000000000" pitchFamily="2" charset="2"/>
              </a:rPr>
              <a:t>(</a:t>
            </a: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SMT / FATP) to focus </a:t>
            </a:r>
            <a:r>
              <a:rPr lang="en-US" sz="900" spc="-1" dirty="0">
                <a:solidFill>
                  <a:srgbClr val="5B6B8C"/>
                </a:solidFill>
                <a:latin typeface="Arial"/>
              </a:rPr>
              <a:t>daily</a:t>
            </a: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 review.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Card"/>
          <p:cNvSpPr/>
          <p:nvPr/>
        </p:nvSpPr>
        <p:spPr>
          <a:xfrm>
            <a:off x="457200" y="2505240"/>
            <a:ext cx="4299480" cy="9000"/>
          </a:xfrm>
          <a:prstGeom prst="roundRect">
            <a:avLst>
              <a:gd name="adj" fmla="val 0"/>
            </a:avLst>
          </a:prstGeom>
          <a:solidFill>
            <a:srgbClr val="D8DFEC"/>
          </a:solidFill>
          <a:ln w="9525">
            <a:solidFill>
              <a:srgbClr val="D8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Dot"/>
          <p:cNvSpPr/>
          <p:nvPr/>
        </p:nvSpPr>
        <p:spPr>
          <a:xfrm>
            <a:off x="457200" y="257508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Text"/>
          <p:cNvSpPr/>
          <p:nvPr/>
        </p:nvSpPr>
        <p:spPr>
          <a:xfrm>
            <a:off x="457200" y="25750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02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"/>
          <p:cNvSpPr/>
          <p:nvPr/>
        </p:nvSpPr>
        <p:spPr>
          <a:xfrm>
            <a:off x="937080" y="255528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defRPr sz="1425" b="1">
                <a:solidFill>
                  <a:srgbClr val="18384B"/>
                </a:solidFill>
              </a:defRPr>
            </a:pPr>
            <a:r>
              <a:rPr lang="en-US" sz="1100" b="1" dirty="0">
                <a:solidFill>
                  <a:srgbClr val="18384B"/>
                </a:solidFill>
              </a:rPr>
              <a:t>Prioritize execution</a:t>
            </a:r>
          </a:p>
        </p:txBody>
      </p:sp>
      <p:sp>
        <p:nvSpPr>
          <p:cNvPr id="89" name="Text"/>
          <p:cNvSpPr/>
          <p:nvPr/>
        </p:nvSpPr>
        <p:spPr>
          <a:xfrm>
            <a:off x="937080" y="281520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Watch Pending, Ongoing and Completed WOs update live against the PC’s plan.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Card"/>
          <p:cNvSpPr/>
          <p:nvPr/>
        </p:nvSpPr>
        <p:spPr>
          <a:xfrm>
            <a:off x="457200" y="3145320"/>
            <a:ext cx="4299480" cy="9000"/>
          </a:xfrm>
          <a:prstGeom prst="roundRect">
            <a:avLst>
              <a:gd name="adj" fmla="val 0"/>
            </a:avLst>
          </a:prstGeom>
          <a:solidFill>
            <a:srgbClr val="D8DFEC"/>
          </a:solidFill>
          <a:ln w="9525">
            <a:solidFill>
              <a:srgbClr val="D8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Dot"/>
          <p:cNvSpPr/>
          <p:nvPr/>
        </p:nvSpPr>
        <p:spPr>
          <a:xfrm>
            <a:off x="457200" y="321516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Text"/>
          <p:cNvSpPr/>
          <p:nvPr/>
        </p:nvSpPr>
        <p:spPr>
          <a:xfrm>
            <a:off x="457200" y="3215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03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"/>
          <p:cNvSpPr/>
          <p:nvPr/>
        </p:nvSpPr>
        <p:spPr>
          <a:xfrm>
            <a:off x="937080" y="319536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2B2B2B"/>
                </a:solidFill>
                <a:latin typeface="Arial"/>
              </a:rPr>
              <a:t>Drill down fast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"/>
          <p:cNvSpPr/>
          <p:nvPr/>
        </p:nvSpPr>
        <p:spPr>
          <a:xfrm>
            <a:off x="937080" y="345528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dirty="0">
                <a:solidFill>
                  <a:srgbClr val="526978"/>
                </a:solidFill>
              </a:rPr>
              <a:t>Filter by kitting status</a:t>
            </a:r>
          </a:p>
          <a:p>
            <a:pPr defTabSz="914400"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Click any WO number to see full PN-level quantities, gaps and status.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ard"/>
          <p:cNvSpPr/>
          <p:nvPr/>
        </p:nvSpPr>
        <p:spPr>
          <a:xfrm>
            <a:off x="457200" y="3785400"/>
            <a:ext cx="4299480" cy="9000"/>
          </a:xfrm>
          <a:prstGeom prst="roundRect">
            <a:avLst>
              <a:gd name="adj" fmla="val 0"/>
            </a:avLst>
          </a:prstGeom>
          <a:solidFill>
            <a:srgbClr val="D8DFEC"/>
          </a:solidFill>
          <a:ln w="9525">
            <a:solidFill>
              <a:srgbClr val="D8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Dot"/>
          <p:cNvSpPr/>
          <p:nvPr/>
        </p:nvSpPr>
        <p:spPr>
          <a:xfrm>
            <a:off x="457200" y="385524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Text"/>
          <p:cNvSpPr/>
          <p:nvPr/>
        </p:nvSpPr>
        <p:spPr>
          <a:xfrm>
            <a:off x="457200" y="3855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04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"/>
          <p:cNvSpPr/>
          <p:nvPr/>
        </p:nvSpPr>
        <p:spPr>
          <a:xfrm>
            <a:off x="937080" y="383508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defRPr sz="1425" b="1">
                <a:solidFill>
                  <a:srgbClr val="18384B"/>
                </a:solidFill>
              </a:defRPr>
            </a:pPr>
            <a:r>
              <a:rPr lang="en-US" sz="1100" b="1" dirty="0">
                <a:solidFill>
                  <a:srgbClr val="18384B"/>
                </a:solidFill>
              </a:rPr>
              <a:t>Complete posting &amp; close the loop</a:t>
            </a:r>
          </a:p>
        </p:txBody>
      </p:sp>
      <p:sp>
        <p:nvSpPr>
          <p:cNvPr id="99" name="Text"/>
          <p:cNvSpPr/>
          <p:nvPr/>
        </p:nvSpPr>
        <p:spPr>
          <a:xfrm>
            <a:off x="937080" y="409536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defRPr sz="1125">
                <a:solidFill>
                  <a:srgbClr val="526978"/>
                </a:solidFill>
              </a:defRPr>
            </a:pPr>
            <a:r>
              <a:rPr lang="en-US" sz="900" dirty="0">
                <a:solidFill>
                  <a:srgbClr val="526978"/>
                </a:solidFill>
              </a:rPr>
              <a:t>Monitor posting completion after kitting checkout, follow up on posting gaps and support WO Closure and TECO readiness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4455360"/>
            <a:ext cx="4299480" cy="61956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9525">
            <a:solidFill>
              <a:srgbClr val="C7D6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1" name="Picture"/>
          <p:cNvPicPr/>
          <p:nvPr/>
        </p:nvPicPr>
        <p:blipFill>
          <a:blip r:embed="rId3"/>
          <a:stretch/>
        </p:blipFill>
        <p:spPr>
          <a:xfrm>
            <a:off x="587160" y="4650120"/>
            <a:ext cx="229680" cy="229680"/>
          </a:xfrm>
          <a:prstGeom prst="rect">
            <a:avLst/>
          </a:prstGeom>
          <a:ln w="0">
            <a:noFill/>
          </a:ln>
        </p:spPr>
      </p:pic>
      <p:sp>
        <p:nvSpPr>
          <p:cNvPr id="102" name="Text"/>
          <p:cNvSpPr/>
          <p:nvPr/>
        </p:nvSpPr>
        <p:spPr>
          <a:xfrm>
            <a:off x="877320" y="4545360"/>
            <a:ext cx="37396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strike="noStrike" spc="-1" dirty="0">
                <a:solidFill>
                  <a:srgbClr val="002F76"/>
                </a:solidFill>
                <a:latin typeface="Arial Black"/>
              </a:rPr>
              <a:t>OUTCOME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"/>
          <p:cNvSpPr/>
          <p:nvPr/>
        </p:nvSpPr>
        <p:spPr>
          <a:xfrm>
            <a:off x="877320" y="4785120"/>
            <a:ext cx="373968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2B2B2B"/>
                </a:solidFill>
                <a:latin typeface="Arial"/>
              </a:rPr>
              <a:t>Real-time visibility of kitting and posting progress for WH, PC &amp; Production — replacing manual, delayed tracking.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Card"/>
          <p:cNvSpPr/>
          <p:nvPr/>
        </p:nvSpPr>
        <p:spPr>
          <a:xfrm>
            <a:off x="457200" y="5225400"/>
            <a:ext cx="4299480" cy="12744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Card"/>
          <p:cNvSpPr/>
          <p:nvPr/>
        </p:nvSpPr>
        <p:spPr>
          <a:xfrm>
            <a:off x="587160" y="5355360"/>
            <a:ext cx="1759680" cy="1014480"/>
          </a:xfrm>
          <a:prstGeom prst="roundRect">
            <a:avLst>
              <a:gd name="adj" fmla="val 10000"/>
            </a:avLst>
          </a:prstGeom>
          <a:solidFill>
            <a:srgbClr val="FDEBEF"/>
          </a:solidFill>
          <a:ln w="9525">
            <a:solidFill>
              <a:srgbClr val="F5C9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6" name="Picture"/>
          <p:cNvPicPr/>
          <p:nvPr/>
        </p:nvPicPr>
        <p:blipFill>
          <a:blip r:embed="rId4"/>
          <a:stretch/>
        </p:blipFill>
        <p:spPr>
          <a:xfrm>
            <a:off x="707040" y="544536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107" name="Text"/>
          <p:cNvSpPr/>
          <p:nvPr/>
        </p:nvSpPr>
        <p:spPr>
          <a:xfrm>
            <a:off x="1007280" y="5450400"/>
            <a:ext cx="1219680" cy="2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strike="noStrike" spc="-1">
                <a:solidFill>
                  <a:srgbClr val="D00034"/>
                </a:solidFill>
                <a:latin typeface="Arial Black"/>
              </a:rPr>
              <a:t>BEFORE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"/>
          <p:cNvSpPr/>
          <p:nvPr/>
        </p:nvSpPr>
        <p:spPr>
          <a:xfrm>
            <a:off x="707040" y="5745240"/>
            <a:ext cx="151956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>
                <a:solidFill>
                  <a:srgbClr val="2B2B2B"/>
                </a:solidFill>
                <a:latin typeface="Arial"/>
              </a:rPr>
              <a:t>Manual phone / Excel updates, no real-time visibility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Picture"/>
          <p:cNvPicPr/>
          <p:nvPr/>
        </p:nvPicPr>
        <p:blipFill>
          <a:blip r:embed="rId5"/>
          <a:stretch/>
        </p:blipFill>
        <p:spPr>
          <a:xfrm>
            <a:off x="2437200" y="5712480"/>
            <a:ext cx="299520" cy="299520"/>
          </a:xfrm>
          <a:prstGeom prst="rect">
            <a:avLst/>
          </a:prstGeom>
          <a:ln w="0">
            <a:noFill/>
          </a:ln>
        </p:spPr>
      </p:pic>
      <p:sp>
        <p:nvSpPr>
          <p:cNvPr id="110" name="Card"/>
          <p:cNvSpPr/>
          <p:nvPr/>
        </p:nvSpPr>
        <p:spPr>
          <a:xfrm>
            <a:off x="2827080" y="5355360"/>
            <a:ext cx="1759680" cy="10144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9525">
            <a:solidFill>
              <a:srgbClr val="C7D6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1" name="Picture"/>
          <p:cNvPicPr/>
          <p:nvPr/>
        </p:nvPicPr>
        <p:blipFill>
          <a:blip r:embed="rId6"/>
          <a:stretch/>
        </p:blipFill>
        <p:spPr>
          <a:xfrm>
            <a:off x="2947320" y="544536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112" name="Text"/>
          <p:cNvSpPr/>
          <p:nvPr/>
        </p:nvSpPr>
        <p:spPr>
          <a:xfrm>
            <a:off x="3247200" y="5450400"/>
            <a:ext cx="1219680" cy="2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strike="noStrike" spc="-1">
                <a:solidFill>
                  <a:srgbClr val="002F76"/>
                </a:solidFill>
                <a:latin typeface="Arial Black"/>
              </a:rPr>
              <a:t>AFTER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"/>
          <p:cNvSpPr/>
          <p:nvPr/>
        </p:nvSpPr>
        <p:spPr>
          <a:xfrm>
            <a:off x="2947320" y="5745240"/>
            <a:ext cx="151956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2B2B2B"/>
                </a:solidFill>
                <a:latin typeface="Arial"/>
              </a:rPr>
              <a:t>Live SAP-connected dashboard.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Card"/>
          <p:cNvSpPr/>
          <p:nvPr/>
        </p:nvSpPr>
        <p:spPr>
          <a:xfrm>
            <a:off x="4977360" y="1515240"/>
            <a:ext cx="6757200" cy="49845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Text"/>
          <p:cNvSpPr/>
          <p:nvPr/>
        </p:nvSpPr>
        <p:spPr>
          <a:xfrm>
            <a:off x="5157360" y="1625400"/>
            <a:ext cx="515736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strike="noStrike" spc="-1">
                <a:solidFill>
                  <a:srgbClr val="002F76"/>
                </a:solidFill>
                <a:latin typeface="Arial Black"/>
              </a:rPr>
              <a:t>LIVE DASHBOARD — IN PRODUCTION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"/>
          <p:cNvSpPr/>
          <p:nvPr/>
        </p:nvSpPr>
        <p:spPr>
          <a:xfrm>
            <a:off x="9984960" y="1625400"/>
            <a:ext cx="159948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00" b="0" i="1" strike="noStrike" spc="-1">
                <a:solidFill>
                  <a:srgbClr val="5B6B8C"/>
                </a:solidFill>
                <a:latin typeface="Arial"/>
              </a:rPr>
              <a:t>2026/08/19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ard"/>
          <p:cNvSpPr/>
          <p:nvPr/>
        </p:nvSpPr>
        <p:spPr>
          <a:xfrm>
            <a:off x="6985359" y="5283327"/>
            <a:ext cx="3278569" cy="11792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" name="Card"/>
          <p:cNvSpPr/>
          <p:nvPr/>
        </p:nvSpPr>
        <p:spPr>
          <a:xfrm>
            <a:off x="5115159" y="5283327"/>
            <a:ext cx="1649520" cy="299520"/>
          </a:xfrm>
          <a:prstGeom prst="roundRect">
            <a:avLst>
              <a:gd name="adj" fmla="val 25000"/>
            </a:avLst>
          </a:prstGeom>
          <a:solidFill>
            <a:srgbClr val="002F76"/>
          </a:solidFill>
          <a:ln w="9525">
            <a:solidFill>
              <a:srgbClr val="002F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Text"/>
          <p:cNvSpPr/>
          <p:nvPr/>
        </p:nvSpPr>
        <p:spPr>
          <a:xfrm>
            <a:off x="5115159" y="5283327"/>
            <a:ext cx="164952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strike="noStrike" spc="-1" dirty="0">
                <a:solidFill>
                  <a:srgbClr val="FFFFFF"/>
                </a:solidFill>
                <a:latin typeface="Arial"/>
              </a:rPr>
              <a:t>WO Drill-down on Click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60C57-FAFC-4377-B085-23727EED52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973" y="5361020"/>
            <a:ext cx="2977200" cy="1037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A2E8CF-2769-43C4-A0D4-5AF92700C7D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360" y="1873024"/>
            <a:ext cx="6447480" cy="3270511"/>
          </a:xfrm>
          <a:prstGeom prst="rect">
            <a:avLst/>
          </a:prstGeom>
        </p:spPr>
      </p:pic>
      <p:sp>
        <p:nvSpPr>
          <p:cNvPr id="51" name="矩形 33">
            <a:extLst>
              <a:ext uri="{FF2B5EF4-FFF2-40B4-BE49-F238E27FC236}">
                <a16:creationId xmlns:a16="http://schemas.microsoft.com/office/drawing/2014/main" id="{245C1099-C385-4119-A466-EE36C169865C}"/>
              </a:ext>
            </a:extLst>
          </p:cNvPr>
          <p:cNvSpPr/>
          <p:nvPr/>
        </p:nvSpPr>
        <p:spPr>
          <a:xfrm>
            <a:off x="9524520" y="852840"/>
            <a:ext cx="2209680" cy="66232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7280" tIns="53640" rIns="107280" bIns="536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Project member: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WH</a:t>
            </a:r>
            <a:r>
              <a:rPr lang="zh-CN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：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Tung </a:t>
            </a:r>
            <a:r>
              <a:rPr lang="en-US" sz="1200" b="0" strike="noStrike" spc="-1" dirty="0" err="1">
                <a:solidFill>
                  <a:schemeClr val="dk1"/>
                </a:solidFill>
                <a:latin typeface="Times New Roman"/>
                <a:ea typeface="SimHei"/>
              </a:rPr>
              <a:t>Chieh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, Ben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IT Development</a:t>
            </a:r>
            <a:r>
              <a:rPr lang="zh-CN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：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Chown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4DAA0-D97D-4C0C-9F84-D46D956F2B3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4608" y="6002969"/>
            <a:ext cx="1175033" cy="33663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"/>
          <p:cNvSpPr/>
          <p:nvPr/>
        </p:nvSpPr>
        <p:spPr>
          <a:xfrm>
            <a:off x="1079640" y="331956"/>
            <a:ext cx="93895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2F76"/>
                </a:solidFill>
                <a:latin typeface="Arial Black"/>
              </a:rPr>
              <a:t>WAREHOUSE STOCK TRACKING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"/>
          <p:cNvSpPr/>
          <p:nvPr/>
        </p:nvSpPr>
        <p:spPr>
          <a:xfrm>
            <a:off x="1079640" y="987480"/>
            <a:ext cx="9389520" cy="3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i="1" strike="noStrike" spc="-1" dirty="0">
                <a:solidFill>
                  <a:srgbClr val="5B6B8C"/>
                </a:solidFill>
                <a:latin typeface="Arial"/>
              </a:rPr>
              <a:t>Live SAP-to-floor stock reconciliation across warehouse locations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"/>
          <p:cNvSpPr/>
          <p:nvPr/>
        </p:nvSpPr>
        <p:spPr>
          <a:xfrm>
            <a:off x="9524520" y="852840"/>
            <a:ext cx="2209680" cy="66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2B2B2B"/>
                </a:solidFill>
                <a:latin typeface="Arial"/>
              </a:rPr>
              <a:t>Project member: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2B2B2B"/>
                </a:solidFill>
                <a:latin typeface="Arial"/>
              </a:rPr>
              <a:t>WH</a:t>
            </a:r>
            <a:r>
              <a:rPr lang="zh-CN" sz="1000" b="0" strike="noStrike" spc="-1">
                <a:solidFill>
                  <a:srgbClr val="2B2B2B"/>
                </a:solidFill>
                <a:latin typeface="Arial"/>
              </a:rPr>
              <a:t>：</a:t>
            </a:r>
            <a:r>
              <a:rPr lang="en-US" sz="1000" b="0" strike="noStrike" spc="-1">
                <a:solidFill>
                  <a:srgbClr val="2B2B2B"/>
                </a:solidFill>
                <a:latin typeface="Arial"/>
              </a:rPr>
              <a:t>Tung Chieh, Ben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2B2B2B"/>
                </a:solidFill>
                <a:latin typeface="Arial"/>
              </a:rPr>
              <a:t>IT develop</a:t>
            </a:r>
            <a:r>
              <a:rPr lang="zh-CN" sz="1000" b="0" strike="noStrike" spc="-1">
                <a:solidFill>
                  <a:srgbClr val="2B2B2B"/>
                </a:solidFill>
                <a:latin typeface="Arial"/>
              </a:rPr>
              <a:t>：</a:t>
            </a:r>
            <a:r>
              <a:rPr lang="en-US" sz="1000" b="0" strike="noStrike" spc="-1">
                <a:solidFill>
                  <a:srgbClr val="2B2B2B"/>
                </a:solidFill>
                <a:latin typeface="Arial"/>
              </a:rPr>
              <a:t>Chown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Card"/>
          <p:cNvSpPr/>
          <p:nvPr/>
        </p:nvSpPr>
        <p:spPr>
          <a:xfrm>
            <a:off x="457800" y="1406520"/>
            <a:ext cx="6757200" cy="519372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"/>
          <p:cNvSpPr/>
          <p:nvPr/>
        </p:nvSpPr>
        <p:spPr>
          <a:xfrm>
            <a:off x="637800" y="1516680"/>
            <a:ext cx="515736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02F76"/>
                </a:solidFill>
                <a:latin typeface="Arial Black"/>
              </a:rPr>
              <a:t>LIVE DASHBOARD — IN PRODUCTION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"/>
          <p:cNvSpPr/>
          <p:nvPr/>
        </p:nvSpPr>
        <p:spPr>
          <a:xfrm>
            <a:off x="5465400" y="1516680"/>
            <a:ext cx="159948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1" strike="noStrike" spc="-1">
                <a:solidFill>
                  <a:srgbClr val="5B6B8C"/>
                </a:solidFill>
                <a:latin typeface="Arial"/>
              </a:rPr>
              <a:t>2026/08/19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Card"/>
          <p:cNvSpPr/>
          <p:nvPr/>
        </p:nvSpPr>
        <p:spPr>
          <a:xfrm>
            <a:off x="2772780" y="5110920"/>
            <a:ext cx="3386822" cy="1489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ard"/>
          <p:cNvSpPr/>
          <p:nvPr/>
        </p:nvSpPr>
        <p:spPr>
          <a:xfrm>
            <a:off x="761898" y="5145480"/>
            <a:ext cx="1979640" cy="299520"/>
          </a:xfrm>
          <a:prstGeom prst="roundRect">
            <a:avLst>
              <a:gd name="adj" fmla="val 25000"/>
            </a:avLst>
          </a:prstGeom>
          <a:solidFill>
            <a:srgbClr val="002F76"/>
          </a:solidFill>
          <a:ln w="9525">
            <a:solidFill>
              <a:srgbClr val="002F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"/>
          <p:cNvSpPr/>
          <p:nvPr/>
        </p:nvSpPr>
        <p:spPr>
          <a:xfrm>
            <a:off x="761898" y="5145480"/>
            <a:ext cx="19796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strike="noStrike" spc="-1" dirty="0">
                <a:solidFill>
                  <a:srgbClr val="FFFFFF"/>
                </a:solidFill>
                <a:latin typeface="Arial"/>
              </a:rPr>
              <a:t>Location Heatmap on Click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">
            <a:extLst>
              <a:ext uri="{FF2B5EF4-FFF2-40B4-BE49-F238E27FC236}">
                <a16:creationId xmlns:a16="http://schemas.microsoft.com/office/drawing/2014/main" id="{F47A05F7-B034-4A72-9F37-98E99CA7566B}"/>
              </a:ext>
            </a:extLst>
          </p:cNvPr>
          <p:cNvSpPr/>
          <p:nvPr/>
        </p:nvSpPr>
        <p:spPr>
          <a:xfrm>
            <a:off x="7487520" y="1365120"/>
            <a:ext cx="429948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1" strike="noStrike" spc="-1" dirty="0">
                <a:solidFill>
                  <a:srgbClr val="002F76"/>
                </a:solidFill>
                <a:latin typeface="Arial Black"/>
              </a:rPr>
              <a:t>HOW TO USE THE DASHBOARD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Dot">
            <a:extLst>
              <a:ext uri="{FF2B5EF4-FFF2-40B4-BE49-F238E27FC236}">
                <a16:creationId xmlns:a16="http://schemas.microsoft.com/office/drawing/2014/main" id="{7D7536D5-252B-411B-89AD-9EA1D037DA91}"/>
              </a:ext>
            </a:extLst>
          </p:cNvPr>
          <p:cNvSpPr/>
          <p:nvPr/>
        </p:nvSpPr>
        <p:spPr>
          <a:xfrm>
            <a:off x="7487520" y="178524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">
            <a:extLst>
              <a:ext uri="{FF2B5EF4-FFF2-40B4-BE49-F238E27FC236}">
                <a16:creationId xmlns:a16="http://schemas.microsoft.com/office/drawing/2014/main" id="{B298DBD8-520D-4E59-98C5-90C529B4ED3E}"/>
              </a:ext>
            </a:extLst>
          </p:cNvPr>
          <p:cNvSpPr/>
          <p:nvPr/>
        </p:nvSpPr>
        <p:spPr>
          <a:xfrm>
            <a:off x="7487520" y="1785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01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">
            <a:extLst>
              <a:ext uri="{FF2B5EF4-FFF2-40B4-BE49-F238E27FC236}">
                <a16:creationId xmlns:a16="http://schemas.microsoft.com/office/drawing/2014/main" id="{9F51F0D2-E39D-480E-8F5D-151D8A71FA15}"/>
              </a:ext>
            </a:extLst>
          </p:cNvPr>
          <p:cNvSpPr/>
          <p:nvPr/>
        </p:nvSpPr>
        <p:spPr>
          <a:xfrm>
            <a:off x="7967400" y="176508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2B2B2B"/>
                </a:solidFill>
                <a:latin typeface="Arial"/>
              </a:rPr>
              <a:t>Monitor stock system-wide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">
            <a:extLst>
              <a:ext uri="{FF2B5EF4-FFF2-40B4-BE49-F238E27FC236}">
                <a16:creationId xmlns:a16="http://schemas.microsoft.com/office/drawing/2014/main" id="{A09A8A17-4E29-479E-AF5F-708731759DD2}"/>
              </a:ext>
            </a:extLst>
          </p:cNvPr>
          <p:cNvSpPr/>
          <p:nvPr/>
        </p:nvSpPr>
        <p:spPr>
          <a:xfrm>
            <a:off x="7967400" y="202500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Daily review materials tracked live across IAEB / IAEA plants and zones.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ard">
            <a:extLst>
              <a:ext uri="{FF2B5EF4-FFF2-40B4-BE49-F238E27FC236}">
                <a16:creationId xmlns:a16="http://schemas.microsoft.com/office/drawing/2014/main" id="{EB5AEBA7-B3B3-41BF-8B9A-8A3CC4BB30BB}"/>
              </a:ext>
            </a:extLst>
          </p:cNvPr>
          <p:cNvSpPr/>
          <p:nvPr/>
        </p:nvSpPr>
        <p:spPr>
          <a:xfrm>
            <a:off x="7487520" y="2355120"/>
            <a:ext cx="4299480" cy="9000"/>
          </a:xfrm>
          <a:prstGeom prst="roundRect">
            <a:avLst>
              <a:gd name="adj" fmla="val 0"/>
            </a:avLst>
          </a:prstGeom>
          <a:solidFill>
            <a:srgbClr val="D8DFEC"/>
          </a:solidFill>
          <a:ln w="9525">
            <a:solidFill>
              <a:srgbClr val="D8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Dot">
            <a:extLst>
              <a:ext uri="{FF2B5EF4-FFF2-40B4-BE49-F238E27FC236}">
                <a16:creationId xmlns:a16="http://schemas.microsoft.com/office/drawing/2014/main" id="{D22413F4-BD51-420F-A6AC-83F00DC71F26}"/>
              </a:ext>
            </a:extLst>
          </p:cNvPr>
          <p:cNvSpPr/>
          <p:nvPr/>
        </p:nvSpPr>
        <p:spPr>
          <a:xfrm>
            <a:off x="7487520" y="242496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">
            <a:extLst>
              <a:ext uri="{FF2B5EF4-FFF2-40B4-BE49-F238E27FC236}">
                <a16:creationId xmlns:a16="http://schemas.microsoft.com/office/drawing/2014/main" id="{D021DBA3-1073-431D-A29C-1FCA2C04F7CF}"/>
              </a:ext>
            </a:extLst>
          </p:cNvPr>
          <p:cNvSpPr/>
          <p:nvPr/>
        </p:nvSpPr>
        <p:spPr>
          <a:xfrm>
            <a:off x="7487520" y="2424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02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">
            <a:extLst>
              <a:ext uri="{FF2B5EF4-FFF2-40B4-BE49-F238E27FC236}">
                <a16:creationId xmlns:a16="http://schemas.microsoft.com/office/drawing/2014/main" id="{A44772BD-C120-432F-A1B7-376D7F3B95CB}"/>
              </a:ext>
            </a:extLst>
          </p:cNvPr>
          <p:cNvSpPr/>
          <p:nvPr/>
        </p:nvSpPr>
        <p:spPr>
          <a:xfrm>
            <a:off x="7967400" y="240516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2B2B2B"/>
                </a:solidFill>
                <a:latin typeface="Arial"/>
              </a:rPr>
              <a:t>Spot gaps instantly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">
            <a:extLst>
              <a:ext uri="{FF2B5EF4-FFF2-40B4-BE49-F238E27FC236}">
                <a16:creationId xmlns:a16="http://schemas.microsoft.com/office/drawing/2014/main" id="{420F7BF5-7ABC-403D-B848-B5EFB0FD7EE5}"/>
              </a:ext>
            </a:extLst>
          </p:cNvPr>
          <p:cNvSpPr/>
          <p:nvPr/>
        </p:nvSpPr>
        <p:spPr>
          <a:xfrm>
            <a:off x="7967400" y="266508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SAP stock vs </a:t>
            </a:r>
            <a:r>
              <a:rPr lang="en-US" sz="900" b="0" strike="noStrike" spc="-1" dirty="0" err="1">
                <a:solidFill>
                  <a:srgbClr val="5B6B8C"/>
                </a:solidFill>
                <a:latin typeface="Arial"/>
              </a:rPr>
              <a:t>Allparts</a:t>
            </a: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 physical/inventory count auto-flags shortage and excess.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ard">
            <a:extLst>
              <a:ext uri="{FF2B5EF4-FFF2-40B4-BE49-F238E27FC236}">
                <a16:creationId xmlns:a16="http://schemas.microsoft.com/office/drawing/2014/main" id="{6B16A85B-F09C-4553-B2F6-5E37B9E6C18C}"/>
              </a:ext>
            </a:extLst>
          </p:cNvPr>
          <p:cNvSpPr/>
          <p:nvPr/>
        </p:nvSpPr>
        <p:spPr>
          <a:xfrm>
            <a:off x="7487520" y="2995200"/>
            <a:ext cx="4299480" cy="9000"/>
          </a:xfrm>
          <a:prstGeom prst="roundRect">
            <a:avLst>
              <a:gd name="adj" fmla="val 0"/>
            </a:avLst>
          </a:prstGeom>
          <a:solidFill>
            <a:srgbClr val="D8DFEC"/>
          </a:solidFill>
          <a:ln w="9525">
            <a:solidFill>
              <a:srgbClr val="D8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Dot">
            <a:extLst>
              <a:ext uri="{FF2B5EF4-FFF2-40B4-BE49-F238E27FC236}">
                <a16:creationId xmlns:a16="http://schemas.microsoft.com/office/drawing/2014/main" id="{CA939D50-EAE8-48A7-AC59-3A06FBB9C299}"/>
              </a:ext>
            </a:extLst>
          </p:cNvPr>
          <p:cNvSpPr/>
          <p:nvPr/>
        </p:nvSpPr>
        <p:spPr>
          <a:xfrm>
            <a:off x="7487520" y="306504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">
            <a:extLst>
              <a:ext uri="{FF2B5EF4-FFF2-40B4-BE49-F238E27FC236}">
                <a16:creationId xmlns:a16="http://schemas.microsoft.com/office/drawing/2014/main" id="{8D73CC45-7909-45E7-AAB0-B953255154A3}"/>
              </a:ext>
            </a:extLst>
          </p:cNvPr>
          <p:cNvSpPr/>
          <p:nvPr/>
        </p:nvSpPr>
        <p:spPr>
          <a:xfrm>
            <a:off x="7487520" y="30650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03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">
            <a:extLst>
              <a:ext uri="{FF2B5EF4-FFF2-40B4-BE49-F238E27FC236}">
                <a16:creationId xmlns:a16="http://schemas.microsoft.com/office/drawing/2014/main" id="{F6DE153F-5841-4679-BA14-7573C99F7E09}"/>
              </a:ext>
            </a:extLst>
          </p:cNvPr>
          <p:cNvSpPr/>
          <p:nvPr/>
        </p:nvSpPr>
        <p:spPr>
          <a:xfrm>
            <a:off x="7967400" y="304524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2B2B2B"/>
                </a:solidFill>
                <a:latin typeface="Arial"/>
              </a:rPr>
              <a:t>Trace by location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">
            <a:extLst>
              <a:ext uri="{FF2B5EF4-FFF2-40B4-BE49-F238E27FC236}">
                <a16:creationId xmlns:a16="http://schemas.microsoft.com/office/drawing/2014/main" id="{53CFE01B-BDB0-4EEC-A0D4-82A974AE35B0}"/>
              </a:ext>
            </a:extLst>
          </p:cNvPr>
          <p:cNvSpPr/>
          <p:nvPr/>
        </p:nvSpPr>
        <p:spPr>
          <a:xfrm>
            <a:off x="7967400" y="330516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Click any warehouse to open the live occupancy heatmap and search by material.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Card">
            <a:extLst>
              <a:ext uri="{FF2B5EF4-FFF2-40B4-BE49-F238E27FC236}">
                <a16:creationId xmlns:a16="http://schemas.microsoft.com/office/drawing/2014/main" id="{9C3C3AC5-F999-4EA5-8051-7AEF98705966}"/>
              </a:ext>
            </a:extLst>
          </p:cNvPr>
          <p:cNvSpPr/>
          <p:nvPr/>
        </p:nvSpPr>
        <p:spPr>
          <a:xfrm>
            <a:off x="7487520" y="3635280"/>
            <a:ext cx="4299480" cy="9000"/>
          </a:xfrm>
          <a:prstGeom prst="roundRect">
            <a:avLst>
              <a:gd name="adj" fmla="val 0"/>
            </a:avLst>
          </a:prstGeom>
          <a:solidFill>
            <a:srgbClr val="D8DFEC"/>
          </a:solidFill>
          <a:ln w="9525">
            <a:solidFill>
              <a:srgbClr val="D8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Dot">
            <a:extLst>
              <a:ext uri="{FF2B5EF4-FFF2-40B4-BE49-F238E27FC236}">
                <a16:creationId xmlns:a16="http://schemas.microsoft.com/office/drawing/2014/main" id="{5E782A43-3AB8-4E25-94A8-777770583F51}"/>
              </a:ext>
            </a:extLst>
          </p:cNvPr>
          <p:cNvSpPr/>
          <p:nvPr/>
        </p:nvSpPr>
        <p:spPr>
          <a:xfrm>
            <a:off x="7487520" y="3705120"/>
            <a:ext cx="319680" cy="319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">
            <a:extLst>
              <a:ext uri="{FF2B5EF4-FFF2-40B4-BE49-F238E27FC236}">
                <a16:creationId xmlns:a16="http://schemas.microsoft.com/office/drawing/2014/main" id="{8981C247-714F-4B10-BC59-1D977295B308}"/>
              </a:ext>
            </a:extLst>
          </p:cNvPr>
          <p:cNvSpPr/>
          <p:nvPr/>
        </p:nvSpPr>
        <p:spPr>
          <a:xfrm>
            <a:off x="7487520" y="37051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rial Black"/>
              </a:rPr>
              <a:t>04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">
            <a:extLst>
              <a:ext uri="{FF2B5EF4-FFF2-40B4-BE49-F238E27FC236}">
                <a16:creationId xmlns:a16="http://schemas.microsoft.com/office/drawing/2014/main" id="{2AE13F86-A01C-4A7A-A85C-B5A03529A9F2}"/>
              </a:ext>
            </a:extLst>
          </p:cNvPr>
          <p:cNvSpPr/>
          <p:nvPr/>
        </p:nvSpPr>
        <p:spPr>
          <a:xfrm>
            <a:off x="7967400" y="3684960"/>
            <a:ext cx="38196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2B2B2B"/>
                </a:solidFill>
                <a:latin typeface="Arial"/>
              </a:rPr>
              <a:t>Resolve shortages fast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">
            <a:extLst>
              <a:ext uri="{FF2B5EF4-FFF2-40B4-BE49-F238E27FC236}">
                <a16:creationId xmlns:a16="http://schemas.microsoft.com/office/drawing/2014/main" id="{B43A560F-B082-4DE6-BB43-9DC21C29BACE}"/>
              </a:ext>
            </a:extLst>
          </p:cNvPr>
          <p:cNvSpPr/>
          <p:nvPr/>
        </p:nvSpPr>
        <p:spPr>
          <a:xfrm>
            <a:off x="7967400" y="3945240"/>
            <a:ext cx="381960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5B6B8C"/>
                </a:solidFill>
                <a:latin typeface="Arial"/>
              </a:rPr>
              <a:t>Drill into affected WOs per material and export the full report to Excel.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ard">
            <a:extLst>
              <a:ext uri="{FF2B5EF4-FFF2-40B4-BE49-F238E27FC236}">
                <a16:creationId xmlns:a16="http://schemas.microsoft.com/office/drawing/2014/main" id="{2CF04DD8-37C2-459D-AD52-59216DFA3863}"/>
              </a:ext>
            </a:extLst>
          </p:cNvPr>
          <p:cNvSpPr/>
          <p:nvPr/>
        </p:nvSpPr>
        <p:spPr>
          <a:xfrm>
            <a:off x="7487520" y="4305240"/>
            <a:ext cx="4299480" cy="61956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9525">
            <a:solidFill>
              <a:srgbClr val="C7D6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">
            <a:extLst>
              <a:ext uri="{FF2B5EF4-FFF2-40B4-BE49-F238E27FC236}">
                <a16:creationId xmlns:a16="http://schemas.microsoft.com/office/drawing/2014/main" id="{F27342CA-90D9-47C9-B76D-D1F5D547618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617480" y="4500000"/>
            <a:ext cx="229680" cy="229680"/>
          </a:xfrm>
          <a:prstGeom prst="rect">
            <a:avLst/>
          </a:prstGeom>
          <a:ln w="0">
            <a:noFill/>
          </a:ln>
        </p:spPr>
      </p:pic>
      <p:sp>
        <p:nvSpPr>
          <p:cNvPr id="103" name="Text">
            <a:extLst>
              <a:ext uri="{FF2B5EF4-FFF2-40B4-BE49-F238E27FC236}">
                <a16:creationId xmlns:a16="http://schemas.microsoft.com/office/drawing/2014/main" id="{CDB977FA-B609-4BC0-9F5E-AD6F9E0B259D}"/>
              </a:ext>
            </a:extLst>
          </p:cNvPr>
          <p:cNvSpPr/>
          <p:nvPr/>
        </p:nvSpPr>
        <p:spPr>
          <a:xfrm>
            <a:off x="7907640" y="4395240"/>
            <a:ext cx="37396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strike="noStrike" spc="-1">
                <a:solidFill>
                  <a:srgbClr val="002F76"/>
                </a:solidFill>
                <a:latin typeface="Arial Black"/>
              </a:rPr>
              <a:t>OUTCOME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">
            <a:extLst>
              <a:ext uri="{FF2B5EF4-FFF2-40B4-BE49-F238E27FC236}">
                <a16:creationId xmlns:a16="http://schemas.microsoft.com/office/drawing/2014/main" id="{A947BEFB-414F-4E5D-AAE3-F87411C6B77F}"/>
              </a:ext>
            </a:extLst>
          </p:cNvPr>
          <p:cNvSpPr/>
          <p:nvPr/>
        </p:nvSpPr>
        <p:spPr>
          <a:xfrm>
            <a:off x="7907640" y="4635000"/>
            <a:ext cx="373968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>
                <a:solidFill>
                  <a:srgbClr val="2B2B2B"/>
                </a:solidFill>
                <a:latin typeface="Arial"/>
              </a:rPr>
              <a:t>Real-time SAP-to-floor reconciliation — shortages caught before they block production.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Card">
            <a:extLst>
              <a:ext uri="{FF2B5EF4-FFF2-40B4-BE49-F238E27FC236}">
                <a16:creationId xmlns:a16="http://schemas.microsoft.com/office/drawing/2014/main" id="{6F170F7E-5AE4-4C02-9B0C-E8DC0D220FC8}"/>
              </a:ext>
            </a:extLst>
          </p:cNvPr>
          <p:cNvSpPr/>
          <p:nvPr/>
        </p:nvSpPr>
        <p:spPr>
          <a:xfrm>
            <a:off x="7487520" y="5075280"/>
            <a:ext cx="4299480" cy="12744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Card">
            <a:extLst>
              <a:ext uri="{FF2B5EF4-FFF2-40B4-BE49-F238E27FC236}">
                <a16:creationId xmlns:a16="http://schemas.microsoft.com/office/drawing/2014/main" id="{9AA5C722-FA81-40BD-813B-3F0543C3CE7B}"/>
              </a:ext>
            </a:extLst>
          </p:cNvPr>
          <p:cNvSpPr/>
          <p:nvPr/>
        </p:nvSpPr>
        <p:spPr>
          <a:xfrm>
            <a:off x="7617480" y="5205240"/>
            <a:ext cx="1759680" cy="1014480"/>
          </a:xfrm>
          <a:prstGeom prst="roundRect">
            <a:avLst>
              <a:gd name="adj" fmla="val 10000"/>
            </a:avLst>
          </a:prstGeom>
          <a:solidFill>
            <a:srgbClr val="FDEBEF"/>
          </a:solidFill>
          <a:ln w="9525">
            <a:solidFill>
              <a:srgbClr val="F5C9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Picture">
            <a:extLst>
              <a:ext uri="{FF2B5EF4-FFF2-40B4-BE49-F238E27FC236}">
                <a16:creationId xmlns:a16="http://schemas.microsoft.com/office/drawing/2014/main" id="{DBBE868F-D58F-46D9-BEC8-B40431AECAE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737360" y="529524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108" name="Text">
            <a:extLst>
              <a:ext uri="{FF2B5EF4-FFF2-40B4-BE49-F238E27FC236}">
                <a16:creationId xmlns:a16="http://schemas.microsoft.com/office/drawing/2014/main" id="{7C77FC91-0F0D-4330-817B-549CFDF29A26}"/>
              </a:ext>
            </a:extLst>
          </p:cNvPr>
          <p:cNvSpPr/>
          <p:nvPr/>
        </p:nvSpPr>
        <p:spPr>
          <a:xfrm>
            <a:off x="8037600" y="5300280"/>
            <a:ext cx="1219680" cy="2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strike="noStrike" spc="-1">
                <a:solidFill>
                  <a:srgbClr val="D00034"/>
                </a:solidFill>
                <a:latin typeface="Arial Black"/>
              </a:rPr>
              <a:t>BEFORE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">
            <a:extLst>
              <a:ext uri="{FF2B5EF4-FFF2-40B4-BE49-F238E27FC236}">
                <a16:creationId xmlns:a16="http://schemas.microsoft.com/office/drawing/2014/main" id="{F644062E-D200-43EA-9C80-B74E3838C6A1}"/>
              </a:ext>
            </a:extLst>
          </p:cNvPr>
          <p:cNvSpPr/>
          <p:nvPr/>
        </p:nvSpPr>
        <p:spPr>
          <a:xfrm>
            <a:off x="7737360" y="5595120"/>
            <a:ext cx="151956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2B2B2B"/>
                </a:solidFill>
                <a:latin typeface="Arial"/>
              </a:rPr>
              <a:t>Manual cycle counts — shortages found after WO is blocked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">
            <a:extLst>
              <a:ext uri="{FF2B5EF4-FFF2-40B4-BE49-F238E27FC236}">
                <a16:creationId xmlns:a16="http://schemas.microsoft.com/office/drawing/2014/main" id="{F2A76510-B60B-4B2B-B325-C27C623352E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467520" y="5562360"/>
            <a:ext cx="299520" cy="299520"/>
          </a:xfrm>
          <a:prstGeom prst="rect">
            <a:avLst/>
          </a:prstGeom>
          <a:ln w="0">
            <a:noFill/>
          </a:ln>
        </p:spPr>
      </p:pic>
      <p:sp>
        <p:nvSpPr>
          <p:cNvPr id="111" name="Card">
            <a:extLst>
              <a:ext uri="{FF2B5EF4-FFF2-40B4-BE49-F238E27FC236}">
                <a16:creationId xmlns:a16="http://schemas.microsoft.com/office/drawing/2014/main" id="{66676403-F0BD-4992-AF9F-89B0BC91780A}"/>
              </a:ext>
            </a:extLst>
          </p:cNvPr>
          <p:cNvSpPr/>
          <p:nvPr/>
        </p:nvSpPr>
        <p:spPr>
          <a:xfrm>
            <a:off x="9857400" y="5205240"/>
            <a:ext cx="1759680" cy="10144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9525">
            <a:solidFill>
              <a:srgbClr val="C7D6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Picture">
            <a:extLst>
              <a:ext uri="{FF2B5EF4-FFF2-40B4-BE49-F238E27FC236}">
                <a16:creationId xmlns:a16="http://schemas.microsoft.com/office/drawing/2014/main" id="{72E96391-CF23-4892-A290-70501142A4A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9977640" y="529524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113" name="Text">
            <a:extLst>
              <a:ext uri="{FF2B5EF4-FFF2-40B4-BE49-F238E27FC236}">
                <a16:creationId xmlns:a16="http://schemas.microsoft.com/office/drawing/2014/main" id="{041A076B-0793-4687-8E69-541AD1A17333}"/>
              </a:ext>
            </a:extLst>
          </p:cNvPr>
          <p:cNvSpPr/>
          <p:nvPr/>
        </p:nvSpPr>
        <p:spPr>
          <a:xfrm>
            <a:off x="10277520" y="5300280"/>
            <a:ext cx="1219680" cy="2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strike="noStrike" spc="-1">
                <a:solidFill>
                  <a:srgbClr val="002F76"/>
                </a:solidFill>
                <a:latin typeface="Arial Black"/>
              </a:rPr>
              <a:t>AFTER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">
            <a:extLst>
              <a:ext uri="{FF2B5EF4-FFF2-40B4-BE49-F238E27FC236}">
                <a16:creationId xmlns:a16="http://schemas.microsoft.com/office/drawing/2014/main" id="{1D67FA8F-9FF6-4931-97E4-325DBA7F7BD3}"/>
              </a:ext>
            </a:extLst>
          </p:cNvPr>
          <p:cNvSpPr/>
          <p:nvPr/>
        </p:nvSpPr>
        <p:spPr>
          <a:xfrm>
            <a:off x="9977640" y="5595120"/>
            <a:ext cx="151956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 dirty="0">
                <a:solidFill>
                  <a:srgbClr val="2B2B2B"/>
                </a:solidFill>
                <a:latin typeface="Arial"/>
              </a:rPr>
              <a:t>Live SAP-to-floor sync — shortages flagged and traced instantly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49F1D-053F-4EE4-B1B2-13E203140B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798" y="5150160"/>
            <a:ext cx="3157113" cy="14388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2AAC24-BEB0-47A4-986E-360FBF29BB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24" y="1719719"/>
            <a:ext cx="6591150" cy="332208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22B0F42-EC24-4993-B277-E9FA3E33FB6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167" y="6198154"/>
            <a:ext cx="1175033" cy="33663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46810" y="328320"/>
            <a:ext cx="9389520" cy="6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1" strike="noStrike" spc="-1" dirty="0">
                <a:solidFill>
                  <a:srgbClr val="002F75"/>
                </a:solidFill>
                <a:latin typeface="Arial Black"/>
                <a:ea typeface="思源黑体 CN Heavy"/>
              </a:rPr>
              <a:t>FORKLIFT TASK DISPATCH</a:t>
            </a:r>
            <a:endParaRPr lang="en-US" sz="3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1079640" y="987480"/>
            <a:ext cx="5924880" cy="3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5B6B8C"/>
                </a:solidFill>
                <a:latin typeface="Arial"/>
              </a:rPr>
              <a:t>From manual coordination to a real-time web dispatch platform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Card"/>
          <p:cNvSpPr/>
          <p:nvPr/>
        </p:nvSpPr>
        <p:spPr>
          <a:xfrm>
            <a:off x="457200" y="1549800"/>
            <a:ext cx="5488200" cy="3300480"/>
          </a:xfrm>
          <a:prstGeom prst="roundRect">
            <a:avLst>
              <a:gd name="adj" fmla="val 6000"/>
            </a:avLst>
          </a:prstGeom>
          <a:solidFill>
            <a:srgbClr val="FDEBEF"/>
          </a:solidFill>
          <a:ln w="9525">
            <a:solidFill>
              <a:srgbClr val="F5C9D3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Card"/>
          <p:cNvSpPr/>
          <p:nvPr/>
        </p:nvSpPr>
        <p:spPr>
          <a:xfrm>
            <a:off x="6245640" y="1549800"/>
            <a:ext cx="5488200" cy="33004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 w="9525">
            <a:solidFill>
              <a:srgbClr val="C7D6F2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Text"/>
          <p:cNvSpPr/>
          <p:nvPr/>
        </p:nvSpPr>
        <p:spPr>
          <a:xfrm>
            <a:off x="758880" y="1751040"/>
            <a:ext cx="488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strike="noStrike" spc="-1">
                <a:solidFill>
                  <a:srgbClr val="D00034"/>
                </a:solidFill>
                <a:latin typeface="Arial Black"/>
              </a:rPr>
              <a:t>BEFORE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"/>
          <p:cNvSpPr/>
          <p:nvPr/>
        </p:nvSpPr>
        <p:spPr>
          <a:xfrm>
            <a:off x="6547680" y="1751040"/>
            <a:ext cx="488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strike="noStrike" spc="-1">
                <a:solidFill>
                  <a:srgbClr val="002F76"/>
                </a:solidFill>
                <a:latin typeface="Arial Black"/>
              </a:rPr>
              <a:t>AFTER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Icon"/>
          <p:cNvSpPr/>
          <p:nvPr/>
        </p:nvSpPr>
        <p:spPr>
          <a:xfrm>
            <a:off x="758880" y="2503800"/>
            <a:ext cx="310680" cy="310680"/>
          </a:xfrm>
          <a:prstGeom prst="ellipse">
            <a:avLst/>
          </a:prstGeom>
          <a:solidFill>
            <a:srgbClr val="D0003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!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"/>
          <p:cNvSpPr/>
          <p:nvPr/>
        </p:nvSpPr>
        <p:spPr>
          <a:xfrm>
            <a:off x="1216080" y="2281320"/>
            <a:ext cx="4427640" cy="7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>
                <a:solidFill>
                  <a:srgbClr val="2B2B2B"/>
                </a:solidFill>
                <a:latin typeface="Arial"/>
              </a:rPr>
              <a:t>Tasks assigned by phone or chat — easily missed or duplicated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Icon"/>
          <p:cNvSpPr/>
          <p:nvPr/>
        </p:nvSpPr>
        <p:spPr>
          <a:xfrm>
            <a:off x="758880" y="2918520"/>
            <a:ext cx="310680" cy="310680"/>
          </a:xfrm>
          <a:prstGeom prst="ellipse">
            <a:avLst/>
          </a:prstGeom>
          <a:solidFill>
            <a:srgbClr val="D0003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!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"/>
          <p:cNvSpPr/>
          <p:nvPr/>
        </p:nvSpPr>
        <p:spPr>
          <a:xfrm>
            <a:off x="1216080" y="2696040"/>
            <a:ext cx="4427640" cy="7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>
                <a:solidFill>
                  <a:srgbClr val="2B2B2B"/>
                </a:solidFill>
                <a:latin typeface="Arial"/>
              </a:rPr>
              <a:t>Drivers don't know the next task — idle time, empty runs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Icon"/>
          <p:cNvSpPr/>
          <p:nvPr/>
        </p:nvSpPr>
        <p:spPr>
          <a:xfrm>
            <a:off x="752400" y="3345120"/>
            <a:ext cx="310680" cy="310680"/>
          </a:xfrm>
          <a:prstGeom prst="ellipse">
            <a:avLst/>
          </a:prstGeom>
          <a:solidFill>
            <a:srgbClr val="D0003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!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"/>
          <p:cNvSpPr/>
          <p:nvPr/>
        </p:nvSpPr>
        <p:spPr>
          <a:xfrm>
            <a:off x="1199935" y="3717360"/>
            <a:ext cx="4427640" cy="7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2B2B2B"/>
                </a:solidFill>
                <a:latin typeface="Arial"/>
              </a:rPr>
              <a:t>Managers lack real-time visibility, hard to trace issues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Icon"/>
          <p:cNvSpPr/>
          <p:nvPr/>
        </p:nvSpPr>
        <p:spPr>
          <a:xfrm>
            <a:off x="6554160" y="2112120"/>
            <a:ext cx="310680" cy="310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✓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"/>
          <p:cNvSpPr/>
          <p:nvPr/>
        </p:nvSpPr>
        <p:spPr>
          <a:xfrm>
            <a:off x="7011360" y="1984320"/>
            <a:ext cx="4427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>
                <a:solidFill>
                  <a:srgbClr val="2B2B2B"/>
                </a:solidFill>
                <a:latin typeface="Arial"/>
              </a:rPr>
              <a:t>Create Picking &amp; Return tasks — auto-fills location and quantity by WO/PN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Icon"/>
          <p:cNvSpPr/>
          <p:nvPr/>
        </p:nvSpPr>
        <p:spPr>
          <a:xfrm>
            <a:off x="6554160" y="2679120"/>
            <a:ext cx="310680" cy="310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✓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"/>
          <p:cNvSpPr/>
          <p:nvPr/>
        </p:nvSpPr>
        <p:spPr>
          <a:xfrm>
            <a:off x="7011360" y="2551320"/>
            <a:ext cx="4427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>
                <a:solidFill>
                  <a:srgbClr val="2B2B2B"/>
                </a:solidFill>
                <a:latin typeface="Arial"/>
              </a:rPr>
              <a:t>Driver screen auto-sorts by priority and nearest location, one-tap confirm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Icon"/>
          <p:cNvSpPr/>
          <p:nvPr/>
        </p:nvSpPr>
        <p:spPr>
          <a:xfrm>
            <a:off x="6554160" y="3246120"/>
            <a:ext cx="310680" cy="310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✓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"/>
          <p:cNvSpPr/>
          <p:nvPr/>
        </p:nvSpPr>
        <p:spPr>
          <a:xfrm>
            <a:off x="7011360" y="3117960"/>
            <a:ext cx="4427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>
                <a:solidFill>
                  <a:srgbClr val="2B2B2B"/>
                </a:solidFill>
                <a:latin typeface="Arial"/>
              </a:rPr>
              <a:t>Instantly reassign a task to another truck when needed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Icon"/>
          <p:cNvSpPr/>
          <p:nvPr/>
        </p:nvSpPr>
        <p:spPr>
          <a:xfrm>
            <a:off x="6554160" y="3748680"/>
            <a:ext cx="310680" cy="310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✓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"/>
          <p:cNvSpPr/>
          <p:nvPr/>
        </p:nvSpPr>
        <p:spPr>
          <a:xfrm>
            <a:off x="7011360" y="4116128"/>
            <a:ext cx="4427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2B2B2B"/>
                </a:solidFill>
                <a:latin typeface="Arial"/>
              </a:rPr>
              <a:t>Full statistics — filter by time, employee, status; edit or delete as needed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Icon"/>
          <p:cNvSpPr/>
          <p:nvPr/>
        </p:nvSpPr>
        <p:spPr>
          <a:xfrm>
            <a:off x="1494360" y="5047560"/>
            <a:ext cx="456840" cy="45684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</a:rPr>
              <a:t>1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Card"/>
          <p:cNvSpPr/>
          <p:nvPr/>
        </p:nvSpPr>
        <p:spPr>
          <a:xfrm>
            <a:off x="457200" y="5577840"/>
            <a:ext cx="25308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D6F2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Text"/>
          <p:cNvSpPr/>
          <p:nvPr/>
        </p:nvSpPr>
        <p:spPr>
          <a:xfrm>
            <a:off x="567000" y="5577840"/>
            <a:ext cx="23115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50" b="1" strike="noStrike" spc="-1">
                <a:solidFill>
                  <a:srgbClr val="002F76"/>
                </a:solidFill>
                <a:latin typeface="Arial"/>
              </a:rPr>
              <a:t>Dispatcher creates task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Arrow"/>
          <p:cNvSpPr/>
          <p:nvPr/>
        </p:nvSpPr>
        <p:spPr>
          <a:xfrm>
            <a:off x="3025080" y="5193720"/>
            <a:ext cx="310680" cy="16416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Icon"/>
          <p:cNvSpPr/>
          <p:nvPr/>
        </p:nvSpPr>
        <p:spPr>
          <a:xfrm>
            <a:off x="4409640" y="5047560"/>
            <a:ext cx="456840" cy="45684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</a:rPr>
              <a:t>2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Card"/>
          <p:cNvSpPr/>
          <p:nvPr/>
        </p:nvSpPr>
        <p:spPr>
          <a:xfrm>
            <a:off x="3372480" y="5577840"/>
            <a:ext cx="25308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D6F2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Text"/>
          <p:cNvSpPr/>
          <p:nvPr/>
        </p:nvSpPr>
        <p:spPr>
          <a:xfrm>
            <a:off x="3482280" y="5577840"/>
            <a:ext cx="23115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50" b="1" strike="noStrike" spc="-1">
                <a:solidFill>
                  <a:srgbClr val="002F76"/>
                </a:solidFill>
                <a:latin typeface="Arial"/>
              </a:rPr>
              <a:t>System prioritizes &amp; selects location (FIFO)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Arrow"/>
          <p:cNvSpPr/>
          <p:nvPr/>
        </p:nvSpPr>
        <p:spPr>
          <a:xfrm>
            <a:off x="5940360" y="5193720"/>
            <a:ext cx="310680" cy="16416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Icon"/>
          <p:cNvSpPr/>
          <p:nvPr/>
        </p:nvSpPr>
        <p:spPr>
          <a:xfrm>
            <a:off x="7324920" y="5047560"/>
            <a:ext cx="456840" cy="45684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</a:rPr>
              <a:t>3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Card"/>
          <p:cNvSpPr/>
          <p:nvPr/>
        </p:nvSpPr>
        <p:spPr>
          <a:xfrm>
            <a:off x="6287760" y="5577840"/>
            <a:ext cx="25308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D6F2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Text"/>
          <p:cNvSpPr/>
          <p:nvPr/>
        </p:nvSpPr>
        <p:spPr>
          <a:xfrm>
            <a:off x="6397560" y="5577840"/>
            <a:ext cx="23115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50" b="1" strike="noStrike" spc="-1" dirty="0">
                <a:solidFill>
                  <a:srgbClr val="002F76"/>
                </a:solidFill>
                <a:latin typeface="Arial"/>
              </a:rPr>
              <a:t>Driver confirms in one tap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Arrow"/>
          <p:cNvSpPr/>
          <p:nvPr/>
        </p:nvSpPr>
        <p:spPr>
          <a:xfrm>
            <a:off x="8855640" y="5193720"/>
            <a:ext cx="310680" cy="16416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Icon"/>
          <p:cNvSpPr/>
          <p:nvPr/>
        </p:nvSpPr>
        <p:spPr>
          <a:xfrm>
            <a:off x="10240200" y="5047560"/>
            <a:ext cx="456840" cy="45684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</a:rPr>
              <a:t>4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Card"/>
          <p:cNvSpPr/>
          <p:nvPr/>
        </p:nvSpPr>
        <p:spPr>
          <a:xfrm>
            <a:off x="9203040" y="5577840"/>
            <a:ext cx="25308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D6F2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Text"/>
          <p:cNvSpPr/>
          <p:nvPr/>
        </p:nvSpPr>
        <p:spPr>
          <a:xfrm>
            <a:off x="9312840" y="5577840"/>
            <a:ext cx="23115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50" b="1" strike="noStrike" spc="-1">
                <a:solidFill>
                  <a:srgbClr val="002F76"/>
                </a:solidFill>
                <a:latin typeface="Arial"/>
              </a:rPr>
              <a:t>Time &amp; status auto-logged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Icon"/>
          <p:cNvSpPr/>
          <p:nvPr/>
        </p:nvSpPr>
        <p:spPr>
          <a:xfrm>
            <a:off x="746280" y="3927240"/>
            <a:ext cx="310680" cy="310680"/>
          </a:xfrm>
          <a:prstGeom prst="ellipse">
            <a:avLst/>
          </a:prstGeom>
          <a:solidFill>
            <a:srgbClr val="D0003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!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"/>
          <p:cNvSpPr/>
          <p:nvPr/>
        </p:nvSpPr>
        <p:spPr>
          <a:xfrm>
            <a:off x="1209600" y="3198858"/>
            <a:ext cx="4427640" cy="7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vi-VN" sz="1300" b="0" strike="noStrike" spc="-1" dirty="0">
                <a:solidFill>
                  <a:srgbClr val="2B2B2B"/>
                </a:solidFill>
                <a:latin typeface="Arial"/>
              </a:rPr>
              <a:t>Safety risk from workers stationed under high racking — potential accidents from falling goods or forklift collisions.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Icon"/>
          <p:cNvSpPr/>
          <p:nvPr/>
        </p:nvSpPr>
        <p:spPr>
          <a:xfrm>
            <a:off x="6554160" y="4278960"/>
            <a:ext cx="310680" cy="310680"/>
          </a:xfrm>
          <a:prstGeom prst="ellipse">
            <a:avLst/>
          </a:prstGeom>
          <a:solidFill>
            <a:srgbClr val="002F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</a:rPr>
              <a:t>✓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"/>
          <p:cNvSpPr/>
          <p:nvPr/>
        </p:nvSpPr>
        <p:spPr>
          <a:xfrm>
            <a:off x="7018080" y="3631704"/>
            <a:ext cx="4427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vi-VN" sz="1300" b="0" strike="noStrike" spc="-1" dirty="0">
                <a:solidFill>
                  <a:srgbClr val="2B2B2B"/>
                </a:solidFill>
                <a:latin typeface="Arial"/>
              </a:rPr>
              <a:t>Only forklifts operate in the racking area — no workers stationed below, reducing accident risk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矩形 33"/>
          <p:cNvSpPr/>
          <p:nvPr/>
        </p:nvSpPr>
        <p:spPr>
          <a:xfrm>
            <a:off x="9524520" y="852840"/>
            <a:ext cx="2209680" cy="66232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7280" tIns="53640" rIns="107280" bIns="536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Project member: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WH</a:t>
            </a:r>
            <a:r>
              <a:rPr lang="zh-CN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：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Tung </a:t>
            </a:r>
            <a:r>
              <a:rPr lang="en-US" sz="1200" b="0" strike="noStrike" spc="-1" dirty="0" err="1">
                <a:solidFill>
                  <a:schemeClr val="dk1"/>
                </a:solidFill>
                <a:latin typeface="Times New Roman"/>
                <a:ea typeface="SimHei"/>
              </a:rPr>
              <a:t>Chieh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, Ben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IT Development</a:t>
            </a:r>
            <a:r>
              <a:rPr lang="zh-CN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：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Chown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Picture 135" descr="icon_worker_red.png"/>
          <p:cNvPicPr/>
          <p:nvPr/>
        </p:nvPicPr>
        <p:blipFill>
          <a:blip r:embed="rId2"/>
          <a:stretch/>
        </p:blipFill>
        <p:spPr>
          <a:xfrm>
            <a:off x="5310909" y="1609920"/>
            <a:ext cx="439011" cy="45684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136" descr="icon_forklift_navy.png"/>
          <p:cNvPicPr/>
          <p:nvPr/>
        </p:nvPicPr>
        <p:blipFill>
          <a:blip r:embed="rId3"/>
          <a:stretch/>
        </p:blipFill>
        <p:spPr>
          <a:xfrm>
            <a:off x="11203920" y="1601280"/>
            <a:ext cx="457200" cy="457200"/>
          </a:xfrm>
          <a:prstGeom prst="rect">
            <a:avLst/>
          </a:prstGeom>
          <a:ln w="0">
            <a:noFill/>
          </a:ln>
        </p:spPr>
      </p:pic>
      <p:pic>
        <p:nvPicPr>
          <p:cNvPr id="53" name="Picture 137" descr="icon_clipboard_navy.png"/>
          <p:cNvPicPr/>
          <p:nvPr/>
        </p:nvPicPr>
        <p:blipFill>
          <a:blip r:embed="rId4"/>
          <a:stretch/>
        </p:blipFill>
        <p:spPr>
          <a:xfrm>
            <a:off x="2658600" y="5617800"/>
            <a:ext cx="299520" cy="29952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138" descr="icon_priority_navy.png"/>
          <p:cNvPicPr/>
          <p:nvPr/>
        </p:nvPicPr>
        <p:blipFill>
          <a:blip r:embed="rId5"/>
          <a:stretch/>
        </p:blipFill>
        <p:spPr>
          <a:xfrm>
            <a:off x="5573880" y="5617800"/>
            <a:ext cx="299520" cy="29952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139" descr="icon_tablet_navy.png"/>
          <p:cNvPicPr/>
          <p:nvPr/>
        </p:nvPicPr>
        <p:blipFill>
          <a:blip r:embed="rId6"/>
          <a:stretch/>
        </p:blipFill>
        <p:spPr>
          <a:xfrm>
            <a:off x="8489160" y="5617800"/>
            <a:ext cx="299520" cy="29952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140" descr="icon_clock_navy.png"/>
          <p:cNvPicPr/>
          <p:nvPr/>
        </p:nvPicPr>
        <p:blipFill>
          <a:blip r:embed="rId7"/>
          <a:stretch/>
        </p:blipFill>
        <p:spPr>
          <a:xfrm>
            <a:off x="11404440" y="5617800"/>
            <a:ext cx="299520" cy="299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43780" y="312078"/>
            <a:ext cx="9389520" cy="6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1" strike="noStrike" spc="-1" dirty="0">
                <a:solidFill>
                  <a:srgbClr val="002F75"/>
                </a:solidFill>
                <a:latin typeface="Arial Black"/>
                <a:ea typeface="思源黑体 CN Heavy"/>
              </a:rPr>
              <a:t>FORKLIFT TASK DISPATCH</a:t>
            </a:r>
            <a:endParaRPr lang="en-US" sz="3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Subtitle"/>
          <p:cNvSpPr/>
          <p:nvPr/>
        </p:nvSpPr>
        <p:spPr>
          <a:xfrm>
            <a:off x="1079640" y="987480"/>
            <a:ext cx="9389520" cy="3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i="1" strike="noStrike" spc="-1" dirty="0">
                <a:solidFill>
                  <a:srgbClr val="5B6B8C"/>
                </a:solidFill>
                <a:latin typeface="Arial"/>
              </a:rPr>
              <a:t>Live interface in production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Card"/>
          <p:cNvSpPr/>
          <p:nvPr/>
        </p:nvSpPr>
        <p:spPr>
          <a:xfrm>
            <a:off x="457200" y="1515240"/>
            <a:ext cx="11277000" cy="25488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Text"/>
          <p:cNvSpPr/>
          <p:nvPr/>
        </p:nvSpPr>
        <p:spPr>
          <a:xfrm>
            <a:off x="594360" y="1623240"/>
            <a:ext cx="11002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002F76"/>
                </a:solidFill>
                <a:latin typeface="Arial"/>
              </a:rPr>
              <a:t>CREATE TASK — PICKING &amp; RETURN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Picture"/>
          <p:cNvPicPr/>
          <p:nvPr/>
        </p:nvPicPr>
        <p:blipFill>
          <a:blip r:embed="rId2"/>
          <a:stretch/>
        </p:blipFill>
        <p:spPr>
          <a:xfrm>
            <a:off x="1305000" y="1989000"/>
            <a:ext cx="3638160" cy="1938240"/>
          </a:xfrm>
          <a:prstGeom prst="rect">
            <a:avLst/>
          </a:prstGeom>
          <a:ln w="9525">
            <a:solidFill>
              <a:srgbClr val="D9D9D9"/>
            </a:solidFill>
            <a:round/>
          </a:ln>
        </p:spPr>
      </p:pic>
      <p:sp>
        <p:nvSpPr>
          <p:cNvPr id="62" name="Card"/>
          <p:cNvSpPr/>
          <p:nvPr/>
        </p:nvSpPr>
        <p:spPr>
          <a:xfrm>
            <a:off x="457200" y="4293000"/>
            <a:ext cx="3575880" cy="20160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Text"/>
          <p:cNvSpPr/>
          <p:nvPr/>
        </p:nvSpPr>
        <p:spPr>
          <a:xfrm>
            <a:off x="594360" y="4366440"/>
            <a:ext cx="330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002F76"/>
                </a:solidFill>
                <a:latin typeface="Arial"/>
              </a:rPr>
              <a:t>DRIVER SCREEN(TABLET) — PICKING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Picture"/>
          <p:cNvPicPr/>
          <p:nvPr/>
        </p:nvPicPr>
        <p:blipFill>
          <a:blip r:embed="rId3"/>
          <a:stretch/>
        </p:blipFill>
        <p:spPr>
          <a:xfrm>
            <a:off x="1663560" y="4631400"/>
            <a:ext cx="1163160" cy="1604160"/>
          </a:xfrm>
          <a:prstGeom prst="rect">
            <a:avLst/>
          </a:prstGeom>
          <a:ln w="9525">
            <a:solidFill>
              <a:srgbClr val="D9D9D9"/>
            </a:solidFill>
            <a:round/>
          </a:ln>
        </p:spPr>
      </p:pic>
      <p:sp>
        <p:nvSpPr>
          <p:cNvPr id="65" name="Card"/>
          <p:cNvSpPr/>
          <p:nvPr/>
        </p:nvSpPr>
        <p:spPr>
          <a:xfrm>
            <a:off x="4307760" y="4293000"/>
            <a:ext cx="3575880" cy="20160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Text"/>
          <p:cNvSpPr/>
          <p:nvPr/>
        </p:nvSpPr>
        <p:spPr>
          <a:xfrm>
            <a:off x="4444920" y="4366440"/>
            <a:ext cx="330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002F76"/>
                </a:solidFill>
                <a:latin typeface="Arial"/>
              </a:rPr>
              <a:t>DRIVER SCREEN (TABLET) — RETURN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"/>
          <p:cNvPicPr/>
          <p:nvPr/>
        </p:nvPicPr>
        <p:blipFill>
          <a:blip r:embed="rId4"/>
          <a:stretch/>
        </p:blipFill>
        <p:spPr>
          <a:xfrm>
            <a:off x="5517000" y="4601520"/>
            <a:ext cx="1314000" cy="1634400"/>
          </a:xfrm>
          <a:prstGeom prst="rect">
            <a:avLst/>
          </a:prstGeom>
          <a:ln w="9525">
            <a:solidFill>
              <a:srgbClr val="D9D9D9"/>
            </a:solidFill>
            <a:round/>
          </a:ln>
        </p:spPr>
      </p:pic>
      <p:sp>
        <p:nvSpPr>
          <p:cNvPr id="68" name="Card"/>
          <p:cNvSpPr/>
          <p:nvPr/>
        </p:nvSpPr>
        <p:spPr>
          <a:xfrm>
            <a:off x="8158320" y="4293000"/>
            <a:ext cx="3575880" cy="20160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D8DFEC"/>
            </a:solidFill>
            <a:round/>
          </a:ln>
          <a:effectLst>
            <a:outerShdw blurRad="90000" dist="24840" dir="5400000" rotWithShape="0">
              <a:srgbClr val="1A2E5C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Text"/>
          <p:cNvSpPr/>
          <p:nvPr/>
        </p:nvSpPr>
        <p:spPr>
          <a:xfrm>
            <a:off x="8295480" y="4366440"/>
            <a:ext cx="330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strike="noStrike" spc="-1">
                <a:solidFill>
                  <a:srgbClr val="002F76"/>
                </a:solidFill>
                <a:latin typeface="Arial"/>
              </a:rPr>
              <a:t>STATISTICS &amp; LOG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Picture"/>
          <p:cNvPicPr/>
          <p:nvPr/>
        </p:nvPicPr>
        <p:blipFill>
          <a:blip r:embed="rId5"/>
          <a:stretch/>
        </p:blipFill>
        <p:spPr>
          <a:xfrm>
            <a:off x="8956080" y="4601520"/>
            <a:ext cx="2008440" cy="1609200"/>
          </a:xfrm>
          <a:prstGeom prst="rect">
            <a:avLst/>
          </a:prstGeom>
          <a:ln w="9525">
            <a:solidFill>
              <a:srgbClr val="D9D9D9"/>
            </a:solidFill>
            <a:round/>
          </a:ln>
        </p:spPr>
      </p:pic>
      <p:pic>
        <p:nvPicPr>
          <p:cNvPr id="71" name="Picture 4"/>
          <p:cNvPicPr/>
          <p:nvPr/>
        </p:nvPicPr>
        <p:blipFill>
          <a:blip r:embed="rId6"/>
          <a:stretch/>
        </p:blipFill>
        <p:spPr>
          <a:xfrm>
            <a:off x="6777360" y="1952280"/>
            <a:ext cx="4109400" cy="1974600"/>
          </a:xfrm>
          <a:prstGeom prst="rect">
            <a:avLst/>
          </a:prstGeom>
          <a:ln w="0">
            <a:noFill/>
          </a:ln>
        </p:spPr>
      </p:pic>
      <p:sp>
        <p:nvSpPr>
          <p:cNvPr id="72" name="矩形 33"/>
          <p:cNvSpPr/>
          <p:nvPr/>
        </p:nvSpPr>
        <p:spPr>
          <a:xfrm>
            <a:off x="9524520" y="852840"/>
            <a:ext cx="2209680" cy="66232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7280" tIns="53640" rIns="107280" bIns="536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Project member: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WH</a:t>
            </a:r>
            <a:r>
              <a:rPr lang="zh-CN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：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Tung </a:t>
            </a:r>
            <a:r>
              <a:rPr lang="en-US" sz="1200" b="0" strike="noStrike" spc="-1" dirty="0" err="1">
                <a:solidFill>
                  <a:schemeClr val="dk1"/>
                </a:solidFill>
                <a:latin typeface="Times New Roman"/>
                <a:ea typeface="SimHei"/>
              </a:rPr>
              <a:t>Chieh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, Ben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IT Development</a:t>
            </a:r>
            <a:r>
              <a:rPr lang="zh-CN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：</a:t>
            </a: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  <a:ea typeface="SimHei"/>
              </a:rPr>
              <a:t>Chown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Picture 114" descr="icon_desktop_navy.png"/>
          <p:cNvPicPr/>
          <p:nvPr/>
        </p:nvPicPr>
        <p:blipFill>
          <a:blip r:embed="rId7"/>
          <a:stretch/>
        </p:blipFill>
        <p:spPr>
          <a:xfrm>
            <a:off x="11284560" y="1613160"/>
            <a:ext cx="299520" cy="299520"/>
          </a:xfrm>
          <a:prstGeom prst="rect">
            <a:avLst/>
          </a:prstGeom>
          <a:ln w="0">
            <a:noFill/>
          </a:ln>
        </p:spPr>
      </p:pic>
      <p:pic>
        <p:nvPicPr>
          <p:cNvPr id="74" name="Picture 115" descr="icon_forklift_navy.png"/>
          <p:cNvPicPr/>
          <p:nvPr/>
        </p:nvPicPr>
        <p:blipFill>
          <a:blip r:embed="rId8"/>
          <a:stretch/>
        </p:blipFill>
        <p:spPr>
          <a:xfrm>
            <a:off x="849960" y="5249880"/>
            <a:ext cx="379800" cy="37980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116" descr="icon_forklift_navy.png"/>
          <p:cNvPicPr/>
          <p:nvPr/>
        </p:nvPicPr>
        <p:blipFill>
          <a:blip r:embed="rId8"/>
          <a:stretch/>
        </p:blipFill>
        <p:spPr>
          <a:xfrm flipH="1">
            <a:off x="7183253" y="5234760"/>
            <a:ext cx="373320" cy="37980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117" descr="icon_chart_navy.png"/>
          <p:cNvPicPr/>
          <p:nvPr/>
        </p:nvPicPr>
        <p:blipFill>
          <a:blip r:embed="rId9"/>
          <a:stretch/>
        </p:blipFill>
        <p:spPr>
          <a:xfrm>
            <a:off x="11354400" y="4356360"/>
            <a:ext cx="299520" cy="29952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979CEF-FDAD-4C0B-A698-4FB07963347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386" y="6235560"/>
            <a:ext cx="1012814" cy="32731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1477899" y="418157"/>
            <a:ext cx="71835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kern="0" spc="3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DESIGN LABEL</a:t>
            </a:r>
            <a:endParaRPr lang="en-US" sz="3300" dirty="0"/>
          </a:p>
        </p:txBody>
      </p:sp>
      <p:sp>
        <p:nvSpPr>
          <p:cNvPr id="70" name="Shape 6"/>
          <p:cNvSpPr/>
          <p:nvPr/>
        </p:nvSpPr>
        <p:spPr>
          <a:xfrm>
            <a:off x="457200" y="1234440"/>
            <a:ext cx="5509260" cy="2331720"/>
          </a:xfrm>
          <a:prstGeom prst="roundRect">
            <a:avLst>
              <a:gd name="adj" fmla="val 2745"/>
            </a:avLst>
          </a:prstGeom>
          <a:solidFill>
            <a:srgbClr val="FDEBEF"/>
          </a:solidFill>
          <a:ln w="12700">
            <a:solidFill>
              <a:srgbClr val="F6C9D2"/>
            </a:solidFill>
            <a:prstDash val="solid"/>
          </a:ln>
        </p:spPr>
      </p:sp>
      <p:pic>
        <p:nvPicPr>
          <p:cNvPr id="71" name="Image 1" descr="/home/claude/deck2/assets/ic-hard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2" y="1453896"/>
            <a:ext cx="365760" cy="365760"/>
          </a:xfrm>
          <a:prstGeom prst="rect">
            <a:avLst/>
          </a:prstGeom>
        </p:spPr>
      </p:pic>
      <p:sp>
        <p:nvSpPr>
          <p:cNvPr id="72" name="Text 7"/>
          <p:cNvSpPr/>
          <p:nvPr/>
        </p:nvSpPr>
        <p:spPr>
          <a:xfrm>
            <a:off x="731520" y="1435608"/>
            <a:ext cx="4594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00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Manual Process</a:t>
            </a:r>
            <a:endParaRPr lang="en-US" sz="1900" dirty="0"/>
          </a:p>
        </p:txBody>
      </p:sp>
      <p:sp>
        <p:nvSpPr>
          <p:cNvPr id="73" name="Shape 8"/>
          <p:cNvSpPr/>
          <p:nvPr/>
        </p:nvSpPr>
        <p:spPr>
          <a:xfrm>
            <a:off x="731520" y="1984248"/>
            <a:ext cx="201168" cy="201168"/>
          </a:xfrm>
          <a:prstGeom prst="ellipse">
            <a:avLst/>
          </a:prstGeom>
          <a:solidFill>
            <a:srgbClr val="D0043A"/>
          </a:solidFill>
          <a:ln/>
        </p:spPr>
      </p:sp>
      <p:sp>
        <p:nvSpPr>
          <p:cNvPr id="74" name="Text 9"/>
          <p:cNvSpPr/>
          <p:nvPr/>
        </p:nvSpPr>
        <p:spPr>
          <a:xfrm>
            <a:off x="731520" y="1965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75" name="Text 10"/>
          <p:cNvSpPr/>
          <p:nvPr/>
        </p:nvSpPr>
        <p:spPr>
          <a:xfrm>
            <a:off x="1042416" y="194767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PMD documents — 30 minutes to 8 hours per model</a:t>
            </a:r>
            <a:endParaRPr lang="en-US" sz="1100" dirty="0"/>
          </a:p>
        </p:txBody>
      </p:sp>
      <p:sp>
        <p:nvSpPr>
          <p:cNvPr id="76" name="Shape 11"/>
          <p:cNvSpPr/>
          <p:nvPr/>
        </p:nvSpPr>
        <p:spPr>
          <a:xfrm>
            <a:off x="731520" y="2372868"/>
            <a:ext cx="201168" cy="201168"/>
          </a:xfrm>
          <a:prstGeom prst="ellipse">
            <a:avLst/>
          </a:prstGeom>
          <a:solidFill>
            <a:srgbClr val="D0043A"/>
          </a:solidFill>
          <a:ln/>
        </p:spPr>
      </p:sp>
      <p:sp>
        <p:nvSpPr>
          <p:cNvPr id="77" name="Text 12"/>
          <p:cNvSpPr/>
          <p:nvPr/>
        </p:nvSpPr>
        <p:spPr>
          <a:xfrm>
            <a:off x="731520" y="23545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78" name="Text 13"/>
          <p:cNvSpPr/>
          <p:nvPr/>
        </p:nvSpPr>
        <p:spPr>
          <a:xfrm>
            <a:off x="1042416" y="233629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Redesigning in Codesoft 6 — requires separate license and training</a:t>
            </a:r>
            <a:endParaRPr lang="en-US" sz="1100" dirty="0"/>
          </a:p>
        </p:txBody>
      </p:sp>
      <p:sp>
        <p:nvSpPr>
          <p:cNvPr id="79" name="Shape 14"/>
          <p:cNvSpPr/>
          <p:nvPr/>
        </p:nvSpPr>
        <p:spPr>
          <a:xfrm>
            <a:off x="731520" y="2761488"/>
            <a:ext cx="201168" cy="201168"/>
          </a:xfrm>
          <a:prstGeom prst="ellipse">
            <a:avLst/>
          </a:prstGeom>
          <a:solidFill>
            <a:srgbClr val="D0043A"/>
          </a:solidFill>
          <a:ln/>
        </p:spPr>
      </p:sp>
      <p:sp>
        <p:nvSpPr>
          <p:cNvPr id="80" name="Text 15"/>
          <p:cNvSpPr/>
          <p:nvPr/>
        </p:nvSpPr>
        <p:spPr>
          <a:xfrm>
            <a:off x="731520" y="2743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81" name="Text 16"/>
          <p:cNvSpPr/>
          <p:nvPr/>
        </p:nvSpPr>
        <p:spPr>
          <a:xfrm>
            <a:off x="1042416" y="272491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MAC/RSN/coordinate entry errors — high defect rate in mass printing</a:t>
            </a:r>
            <a:endParaRPr lang="en-US" sz="1100" dirty="0"/>
          </a:p>
        </p:txBody>
      </p:sp>
      <p:sp>
        <p:nvSpPr>
          <p:cNvPr id="82" name="Shape 17"/>
          <p:cNvSpPr/>
          <p:nvPr/>
        </p:nvSpPr>
        <p:spPr>
          <a:xfrm>
            <a:off x="731520" y="3150108"/>
            <a:ext cx="201168" cy="201168"/>
          </a:xfrm>
          <a:prstGeom prst="ellipse">
            <a:avLst/>
          </a:prstGeom>
          <a:solidFill>
            <a:srgbClr val="D0043A"/>
          </a:solidFill>
          <a:ln/>
        </p:spPr>
      </p:sp>
      <p:sp>
        <p:nvSpPr>
          <p:cNvPr id="83" name="Text 18"/>
          <p:cNvSpPr/>
          <p:nvPr/>
        </p:nvSpPr>
        <p:spPr>
          <a:xfrm>
            <a:off x="731520" y="31318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84" name="Text 19"/>
          <p:cNvSpPr/>
          <p:nvPr/>
        </p:nvSpPr>
        <p:spPr>
          <a:xfrm>
            <a:off x="1042416" y="311353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.lab files — no version control, no traceability</a:t>
            </a:r>
            <a:endParaRPr lang="en-US" sz="1100" dirty="0"/>
          </a:p>
        </p:txBody>
      </p:sp>
      <p:sp>
        <p:nvSpPr>
          <p:cNvPr id="85" name="Shape 20"/>
          <p:cNvSpPr/>
          <p:nvPr/>
        </p:nvSpPr>
        <p:spPr>
          <a:xfrm>
            <a:off x="6240780" y="1234440"/>
            <a:ext cx="5509260" cy="2331720"/>
          </a:xfrm>
          <a:prstGeom prst="roundRect">
            <a:avLst>
              <a:gd name="adj" fmla="val 2745"/>
            </a:avLst>
          </a:prstGeom>
          <a:solidFill>
            <a:srgbClr val="E9EFFB"/>
          </a:solidFill>
          <a:ln w="12700">
            <a:solidFill>
              <a:srgbClr val="C7D6F2"/>
            </a:solidFill>
            <a:prstDash val="solid"/>
          </a:ln>
        </p:spPr>
      </p:sp>
      <p:pic>
        <p:nvPicPr>
          <p:cNvPr id="86" name="Image 2" descr="/home/claude/deck2/assets/ic-re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1453896"/>
            <a:ext cx="365760" cy="365760"/>
          </a:xfrm>
          <a:prstGeom prst="rect">
            <a:avLst/>
          </a:prstGeom>
        </p:spPr>
      </p:pic>
      <p:sp>
        <p:nvSpPr>
          <p:cNvPr id="87" name="Text 21"/>
          <p:cNvSpPr/>
          <p:nvPr/>
        </p:nvSpPr>
        <p:spPr>
          <a:xfrm>
            <a:off x="6515100" y="1435608"/>
            <a:ext cx="4594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</a:t>
            </a:r>
            <a:r>
              <a:rPr lang="en-US" sz="1900" b="1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00" b="1" smtClean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Process</a:t>
            </a:r>
            <a:endParaRPr lang="en-US" sz="1900" dirty="0"/>
          </a:p>
        </p:txBody>
      </p:sp>
      <p:sp>
        <p:nvSpPr>
          <p:cNvPr id="88" name="Shape 22"/>
          <p:cNvSpPr/>
          <p:nvPr/>
        </p:nvSpPr>
        <p:spPr>
          <a:xfrm>
            <a:off x="6515100" y="1984248"/>
            <a:ext cx="201168" cy="20116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89" name="Text 23"/>
          <p:cNvSpPr/>
          <p:nvPr/>
        </p:nvSpPr>
        <p:spPr>
          <a:xfrm>
            <a:off x="6515100" y="1965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90" name="Text 24"/>
          <p:cNvSpPr/>
          <p:nvPr/>
        </p:nvSpPr>
        <p:spPr>
          <a:xfrm>
            <a:off x="6825996" y="194767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Auto-reads and interprets PMD documents — 100% hands-free</a:t>
            </a:r>
            <a:endParaRPr lang="en-US" sz="1100" dirty="0"/>
          </a:p>
        </p:txBody>
      </p:sp>
      <p:sp>
        <p:nvSpPr>
          <p:cNvPr id="91" name="Shape 25"/>
          <p:cNvSpPr/>
          <p:nvPr/>
        </p:nvSpPr>
        <p:spPr>
          <a:xfrm>
            <a:off x="6515100" y="2372868"/>
            <a:ext cx="201168" cy="20116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92" name="Text 26"/>
          <p:cNvSpPr/>
          <p:nvPr/>
        </p:nvSpPr>
        <p:spPr>
          <a:xfrm>
            <a:off x="6515100" y="23545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93" name="Text 27"/>
          <p:cNvSpPr/>
          <p:nvPr/>
        </p:nvSpPr>
        <p:spPr>
          <a:xfrm>
            <a:off x="6825996" y="233629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risks, unclear or conflicting definitions</a:t>
            </a:r>
            <a:endParaRPr lang="en-US" sz="1100" dirty="0"/>
          </a:p>
        </p:txBody>
      </p:sp>
      <p:sp>
        <p:nvSpPr>
          <p:cNvPr id="94" name="Shape 28"/>
          <p:cNvSpPr/>
          <p:nvPr/>
        </p:nvSpPr>
        <p:spPr>
          <a:xfrm>
            <a:off x="6515100" y="2761488"/>
            <a:ext cx="201168" cy="20116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95" name="Text 29"/>
          <p:cNvSpPr/>
          <p:nvPr/>
        </p:nvSpPr>
        <p:spPr>
          <a:xfrm>
            <a:off x="6515100" y="2743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96" name="Text 30"/>
          <p:cNvSpPr/>
          <p:nvPr/>
        </p:nvSpPr>
        <p:spPr>
          <a:xfrm>
            <a:off x="6825996" y="272491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Auto-designs labels, allows direct review before and after export</a:t>
            </a:r>
            <a:endParaRPr lang="en-US" sz="1100" dirty="0"/>
          </a:p>
        </p:txBody>
      </p:sp>
      <p:sp>
        <p:nvSpPr>
          <p:cNvPr id="97" name="Shape 31"/>
          <p:cNvSpPr/>
          <p:nvPr/>
        </p:nvSpPr>
        <p:spPr>
          <a:xfrm>
            <a:off x="6515100" y="3150108"/>
            <a:ext cx="201168" cy="20116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98" name="Text 32"/>
          <p:cNvSpPr/>
          <p:nvPr/>
        </p:nvSpPr>
        <p:spPr>
          <a:xfrm>
            <a:off x="6515100" y="31318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99" name="Text 33"/>
          <p:cNvSpPr/>
          <p:nvPr/>
        </p:nvSpPr>
        <p:spPr>
          <a:xfrm>
            <a:off x="6825996" y="3113532"/>
            <a:ext cx="46405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ZPL code — the foundation for Phase 2 Codesoft 6 cost-down</a:t>
            </a:r>
            <a:endParaRPr lang="en-US" sz="1100" dirty="0"/>
          </a:p>
        </p:txBody>
      </p:sp>
      <p:sp>
        <p:nvSpPr>
          <p:cNvPr id="100" name="Text 34"/>
          <p:cNvSpPr/>
          <p:nvPr/>
        </p:nvSpPr>
        <p:spPr>
          <a:xfrm>
            <a:off x="4572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</a:t>
            </a:r>
            <a:r>
              <a:rPr lang="en-US" sz="1300" b="1" kern="0" spc="5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r>
              <a:rPr lang="en-US" sz="1300" b="1" kern="0" spc="50" smtClean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300" dirty="0"/>
          </a:p>
        </p:txBody>
      </p:sp>
      <p:sp>
        <p:nvSpPr>
          <p:cNvPr id="101" name="Shape 35"/>
          <p:cNvSpPr/>
          <p:nvPr/>
        </p:nvSpPr>
        <p:spPr>
          <a:xfrm>
            <a:off x="1477899" y="4160520"/>
            <a:ext cx="438912" cy="438912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102" name="Text 36"/>
          <p:cNvSpPr/>
          <p:nvPr/>
        </p:nvSpPr>
        <p:spPr>
          <a:xfrm>
            <a:off x="1477899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3" name="Text 37"/>
          <p:cNvSpPr/>
          <p:nvPr/>
        </p:nvSpPr>
        <p:spPr>
          <a:xfrm>
            <a:off x="2955798" y="4105656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4" name="Shape 38"/>
          <p:cNvSpPr/>
          <p:nvPr/>
        </p:nvSpPr>
        <p:spPr>
          <a:xfrm>
            <a:off x="457200" y="4782312"/>
            <a:ext cx="248031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5" name="Text 39"/>
          <p:cNvSpPr/>
          <p:nvPr/>
        </p:nvSpPr>
        <p:spPr>
          <a:xfrm>
            <a:off x="548640" y="4782312"/>
            <a:ext cx="229743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smtClean="0">
                <a:solidFill>
                  <a:srgbClr val="0B2C6E"/>
                </a:solidFill>
                <a:latin typeface="Calibri" pitchFamily="34" charset="0"/>
                <a:cs typeface="Calibri" pitchFamily="34" charset="-120"/>
              </a:rPr>
              <a:t>Read &amp; Interpret Label Document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(System)</a:t>
            </a:r>
            <a:endParaRPr lang="en-US" sz="1150" dirty="0"/>
          </a:p>
        </p:txBody>
      </p:sp>
      <p:sp>
        <p:nvSpPr>
          <p:cNvPr id="106" name="Shape 40"/>
          <p:cNvSpPr/>
          <p:nvPr/>
        </p:nvSpPr>
        <p:spPr>
          <a:xfrm>
            <a:off x="4415409" y="4160520"/>
            <a:ext cx="438912" cy="438912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107" name="Text 41"/>
          <p:cNvSpPr/>
          <p:nvPr/>
        </p:nvSpPr>
        <p:spPr>
          <a:xfrm>
            <a:off x="4415409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8" name="Text 42"/>
          <p:cNvSpPr/>
          <p:nvPr/>
        </p:nvSpPr>
        <p:spPr>
          <a:xfrm>
            <a:off x="5893308" y="4105656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9" name="Shape 43"/>
          <p:cNvSpPr/>
          <p:nvPr/>
        </p:nvSpPr>
        <p:spPr>
          <a:xfrm>
            <a:off x="3394710" y="4782312"/>
            <a:ext cx="248031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0" name="Text 44"/>
          <p:cNvSpPr/>
          <p:nvPr/>
        </p:nvSpPr>
        <p:spPr>
          <a:xfrm>
            <a:off x="3486150" y="4782312"/>
            <a:ext cx="229743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Design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(System)</a:t>
            </a:r>
            <a:endParaRPr lang="en-US" sz="1150" dirty="0"/>
          </a:p>
        </p:txBody>
      </p:sp>
      <p:sp>
        <p:nvSpPr>
          <p:cNvPr id="111" name="Shape 45"/>
          <p:cNvSpPr/>
          <p:nvPr/>
        </p:nvSpPr>
        <p:spPr>
          <a:xfrm>
            <a:off x="7352919" y="4160520"/>
            <a:ext cx="438912" cy="438912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112" name="Text 46"/>
          <p:cNvSpPr/>
          <p:nvPr/>
        </p:nvSpPr>
        <p:spPr>
          <a:xfrm>
            <a:off x="7352919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3" name="Text 47"/>
          <p:cNvSpPr/>
          <p:nvPr/>
        </p:nvSpPr>
        <p:spPr>
          <a:xfrm>
            <a:off x="8830818" y="4105656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4" name="Shape 48"/>
          <p:cNvSpPr/>
          <p:nvPr/>
        </p:nvSpPr>
        <p:spPr>
          <a:xfrm>
            <a:off x="6332220" y="4782312"/>
            <a:ext cx="248031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5" name="Text 49"/>
          <p:cNvSpPr/>
          <p:nvPr/>
        </p:nvSpPr>
        <p:spPr>
          <a:xfrm>
            <a:off x="6423660" y="4782312"/>
            <a:ext cx="229743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smtClean="0">
                <a:solidFill>
                  <a:srgbClr val="0B2C6E"/>
                </a:solidFill>
                <a:latin typeface="Calibri" pitchFamily="34" charset="0"/>
                <a:cs typeface="Calibri" pitchFamily="34" charset="-120"/>
              </a:rPr>
              <a:t>Review Results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smtClean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 evaluation — CCD-based)</a:t>
            </a:r>
            <a:endParaRPr lang="en-US" sz="1150" dirty="0"/>
          </a:p>
        </p:txBody>
      </p:sp>
      <p:sp>
        <p:nvSpPr>
          <p:cNvPr id="116" name="Shape 50"/>
          <p:cNvSpPr/>
          <p:nvPr/>
        </p:nvSpPr>
        <p:spPr>
          <a:xfrm>
            <a:off x="10290429" y="4160520"/>
            <a:ext cx="438912" cy="438912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117" name="Text 51"/>
          <p:cNvSpPr/>
          <p:nvPr/>
        </p:nvSpPr>
        <p:spPr>
          <a:xfrm>
            <a:off x="10290429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18" name="Shape 52"/>
          <p:cNvSpPr/>
          <p:nvPr/>
        </p:nvSpPr>
        <p:spPr>
          <a:xfrm>
            <a:off x="9269730" y="4782312"/>
            <a:ext cx="248031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9" name="Text 53"/>
          <p:cNvSpPr/>
          <p:nvPr/>
        </p:nvSpPr>
        <p:spPr>
          <a:xfrm>
            <a:off x="9361170" y="4782312"/>
            <a:ext cx="229743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Label File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(System)</a:t>
            </a:r>
            <a:endParaRPr lang="en-US" sz="1150" dirty="0"/>
          </a:p>
        </p:txBody>
      </p:sp>
      <p:sp>
        <p:nvSpPr>
          <p:cNvPr id="120" name="Shape 54"/>
          <p:cNvSpPr/>
          <p:nvPr/>
        </p:nvSpPr>
        <p:spPr>
          <a:xfrm>
            <a:off x="457200" y="5623560"/>
            <a:ext cx="11292840" cy="713232"/>
          </a:xfrm>
          <a:prstGeom prst="roundRect">
            <a:avLst>
              <a:gd name="adj" fmla="val 8974"/>
            </a:avLst>
          </a:prstGeom>
          <a:solidFill>
            <a:srgbClr val="E9EFFB"/>
          </a:solidFill>
          <a:ln w="12700">
            <a:solidFill>
              <a:srgbClr val="C7D6F2"/>
            </a:solidFill>
            <a:prstDash val="solid"/>
          </a:ln>
        </p:spPr>
      </p:sp>
      <p:sp>
        <p:nvSpPr>
          <p:cNvPr id="121" name="Text 55"/>
          <p:cNvSpPr/>
          <p:nvPr/>
        </p:nvSpPr>
        <p:spPr>
          <a:xfrm>
            <a:off x="685800" y="56235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TO ALL SITES:</a:t>
            </a:r>
            <a:endParaRPr lang="en-US" sz="1200" dirty="0"/>
          </a:p>
        </p:txBody>
      </p:sp>
      <p:sp>
        <p:nvSpPr>
          <p:cNvPr id="122" name="Text 56"/>
          <p:cNvSpPr/>
          <p:nvPr/>
        </p:nvSpPr>
        <p:spPr>
          <a:xfrm>
            <a:off x="3063240" y="562356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LDM (Label Definition Model) is a schema-driven intermediate layer with no site-specific hardcoding — any site using PMD + Codesoft 6 can load it immediately, with no need to rebuild the engine.</a:t>
            </a:r>
            <a:endParaRPr lang="en-US" sz="1150" dirty="0"/>
          </a:p>
        </p:txBody>
      </p:sp>
      <p:sp>
        <p:nvSpPr>
          <p:cNvPr id="123" name="Shape 5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2C6E"/>
          </a:solidFill>
          <a:ln/>
        </p:spPr>
      </p:sp>
      <p:sp>
        <p:nvSpPr>
          <p:cNvPr id="124" name="Text 58"/>
          <p:cNvSpPr/>
          <p:nvPr/>
        </p:nvSpPr>
        <p:spPr>
          <a:xfrm>
            <a:off x="320040" y="652881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Auto Design Label — Internal. All Rights Reserved.</a:t>
            </a:r>
            <a:endParaRPr lang="en-US" sz="1050" dirty="0"/>
          </a:p>
        </p:txBody>
      </p:sp>
      <p:sp>
        <p:nvSpPr>
          <p:cNvPr id="125" name="Text 59"/>
          <p:cNvSpPr/>
          <p:nvPr/>
        </p:nvSpPr>
        <p:spPr>
          <a:xfrm>
            <a:off x="7680960" y="652881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26" name="Shape 60"/>
          <p:cNvSpPr/>
          <p:nvPr/>
        </p:nvSpPr>
        <p:spPr>
          <a:xfrm>
            <a:off x="11475720" y="6528816"/>
            <a:ext cx="713232" cy="329184"/>
          </a:xfrm>
          <a:prstGeom prst="rect">
            <a:avLst/>
          </a:prstGeom>
          <a:solidFill>
            <a:srgbClr val="D0043A"/>
          </a:solidFill>
          <a:ln/>
        </p:spPr>
      </p:sp>
      <p:sp>
        <p:nvSpPr>
          <p:cNvPr id="127" name="Text 61"/>
          <p:cNvSpPr/>
          <p:nvPr/>
        </p:nvSpPr>
        <p:spPr>
          <a:xfrm>
            <a:off x="11475720" y="6528816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/7</a:t>
            </a:r>
            <a:endParaRPr lang="en-US" sz="1100" dirty="0"/>
          </a:p>
        </p:txBody>
      </p:sp>
      <p:sp>
        <p:nvSpPr>
          <p:cNvPr id="132" name="Shape 2"/>
          <p:cNvSpPr/>
          <p:nvPr/>
        </p:nvSpPr>
        <p:spPr>
          <a:xfrm>
            <a:off x="9818551" y="418863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600F"/>
          </a:solidFill>
          <a:ln/>
        </p:spPr>
      </p:sp>
      <p:sp>
        <p:nvSpPr>
          <p:cNvPr id="133" name="Text 3"/>
          <p:cNvSpPr/>
          <p:nvPr/>
        </p:nvSpPr>
        <p:spPr>
          <a:xfrm>
            <a:off x="9818551" y="40057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34" name="Text 4"/>
          <p:cNvSpPr/>
          <p:nvPr/>
        </p:nvSpPr>
        <p:spPr>
          <a:xfrm>
            <a:off x="9214338" y="674895"/>
            <a:ext cx="1048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66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CNSBG-Billy Su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5216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1490472" y="400575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kern="0" spc="3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DESIGN LABEL</a:t>
            </a:r>
            <a:endParaRPr lang="en-US" sz="3300" dirty="0"/>
          </a:p>
        </p:txBody>
      </p:sp>
      <p:sp>
        <p:nvSpPr>
          <p:cNvPr id="63" name="Shape 2"/>
          <p:cNvSpPr/>
          <p:nvPr/>
        </p:nvSpPr>
        <p:spPr>
          <a:xfrm>
            <a:off x="9818551" y="418863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600F"/>
          </a:solidFill>
          <a:ln/>
        </p:spPr>
      </p:sp>
      <p:sp>
        <p:nvSpPr>
          <p:cNvPr id="64" name="Text 3"/>
          <p:cNvSpPr/>
          <p:nvPr/>
        </p:nvSpPr>
        <p:spPr>
          <a:xfrm>
            <a:off x="9818551" y="40057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65" name="Text 4"/>
          <p:cNvSpPr/>
          <p:nvPr/>
        </p:nvSpPr>
        <p:spPr>
          <a:xfrm>
            <a:off x="9214338" y="674895"/>
            <a:ext cx="1048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66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CNSBG-Billy Su</a:t>
            </a:r>
            <a:endParaRPr lang="en-US" sz="1000" dirty="0"/>
          </a:p>
        </p:txBody>
      </p:sp>
      <p:sp>
        <p:nvSpPr>
          <p:cNvPr id="67" name="Text 6"/>
          <p:cNvSpPr/>
          <p:nvPr/>
        </p:nvSpPr>
        <p:spPr>
          <a:xfrm>
            <a:off x="457200" y="116202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BEEN DELIVERED</a:t>
            </a:r>
            <a:endParaRPr lang="en-US" sz="1400" dirty="0"/>
          </a:p>
        </p:txBody>
      </p:sp>
      <p:sp>
        <p:nvSpPr>
          <p:cNvPr id="68" name="Shape 7"/>
          <p:cNvSpPr/>
          <p:nvPr/>
        </p:nvSpPr>
        <p:spPr>
          <a:xfrm>
            <a:off x="457200" y="1629033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69" name="Text 8"/>
          <p:cNvSpPr/>
          <p:nvPr/>
        </p:nvSpPr>
        <p:spPr>
          <a:xfrm>
            <a:off x="457200" y="162903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28" name="Text 9"/>
          <p:cNvSpPr/>
          <p:nvPr/>
        </p:nvSpPr>
        <p:spPr>
          <a:xfrm>
            <a:off x="987552" y="1592457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Automated Label Document Interpretation</a:t>
            </a:r>
            <a:endParaRPr lang="en-US" sz="1400" dirty="0"/>
          </a:p>
        </p:txBody>
      </p:sp>
      <p:sp>
        <p:nvSpPr>
          <p:cNvPr id="129" name="Text 10"/>
          <p:cNvSpPr/>
          <p:nvPr/>
        </p:nvSpPr>
        <p:spPr>
          <a:xfrm>
            <a:off x="987552" y="1885065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all PMD content (dimensions, fonts, barcodes, QR codes, positions) into LDM (standardized JSON) — no manual reading required.</a:t>
            </a:r>
            <a:endParaRPr lang="en-US" sz="1100" dirty="0"/>
          </a:p>
        </p:txBody>
      </p:sp>
      <p:sp>
        <p:nvSpPr>
          <p:cNvPr id="130" name="Shape 11"/>
          <p:cNvSpPr/>
          <p:nvPr/>
        </p:nvSpPr>
        <p:spPr>
          <a:xfrm>
            <a:off x="457200" y="2525145"/>
            <a:ext cx="562356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131" name="Shape 12"/>
          <p:cNvSpPr/>
          <p:nvPr/>
        </p:nvSpPr>
        <p:spPr>
          <a:xfrm>
            <a:off x="457200" y="2653161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132" name="Text 13"/>
          <p:cNvSpPr/>
          <p:nvPr/>
        </p:nvSpPr>
        <p:spPr>
          <a:xfrm>
            <a:off x="457200" y="265316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33" name="Text 14"/>
          <p:cNvSpPr/>
          <p:nvPr/>
        </p:nvSpPr>
        <p:spPr>
          <a:xfrm>
            <a:off x="987552" y="2616585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&amp; Conflict Control</a:t>
            </a:r>
            <a:endParaRPr lang="en-US" sz="1400" dirty="0"/>
          </a:p>
        </p:txBody>
      </p:sp>
      <p:sp>
        <p:nvSpPr>
          <p:cNvPr id="134" name="Text 15"/>
          <p:cNvSpPr/>
          <p:nvPr/>
        </p:nvSpPr>
        <p:spPr>
          <a:xfrm>
            <a:off x="987552" y="2909193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masked values, unclear definitions, and conflicts between sections in the document — never infers a “correct” value on its own.</a:t>
            </a:r>
            <a:endParaRPr lang="en-US" sz="1100" dirty="0"/>
          </a:p>
        </p:txBody>
      </p:sp>
      <p:sp>
        <p:nvSpPr>
          <p:cNvPr id="135" name="Shape 16"/>
          <p:cNvSpPr/>
          <p:nvPr/>
        </p:nvSpPr>
        <p:spPr>
          <a:xfrm>
            <a:off x="457200" y="3549273"/>
            <a:ext cx="562356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136" name="Shape 17"/>
          <p:cNvSpPr/>
          <p:nvPr/>
        </p:nvSpPr>
        <p:spPr>
          <a:xfrm>
            <a:off x="457200" y="3677289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137" name="Text 18"/>
          <p:cNvSpPr/>
          <p:nvPr/>
        </p:nvSpPr>
        <p:spPr>
          <a:xfrm>
            <a:off x="457200" y="36772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38" name="Text 19"/>
          <p:cNvSpPr/>
          <p:nvPr/>
        </p:nvSpPr>
        <p:spPr>
          <a:xfrm>
            <a:off x="987552" y="3640713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Design + Direct Review</a:t>
            </a:r>
            <a:endParaRPr lang="en-US" sz="1400" dirty="0"/>
          </a:p>
        </p:txBody>
      </p:sp>
      <p:sp>
        <p:nvSpPr>
          <p:cNvPr id="139" name="Text 20"/>
          <p:cNvSpPr/>
          <p:nvPr/>
        </p:nvSpPr>
        <p:spPr>
          <a:xfrm>
            <a:off x="987552" y="3933321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label designs at true 1:1 scale (mm), enabling preview and review both before and after file export.</a:t>
            </a:r>
            <a:endParaRPr lang="en-US" sz="1100" dirty="0"/>
          </a:p>
        </p:txBody>
      </p:sp>
      <p:sp>
        <p:nvSpPr>
          <p:cNvPr id="140" name="Shape 21"/>
          <p:cNvSpPr/>
          <p:nvPr/>
        </p:nvSpPr>
        <p:spPr>
          <a:xfrm>
            <a:off x="457200" y="4573401"/>
            <a:ext cx="562356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141" name="Shape 22"/>
          <p:cNvSpPr/>
          <p:nvPr/>
        </p:nvSpPr>
        <p:spPr>
          <a:xfrm>
            <a:off x="457200" y="4701417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</p:sp>
      <p:sp>
        <p:nvSpPr>
          <p:cNvPr id="142" name="Text 23"/>
          <p:cNvSpPr/>
          <p:nvPr/>
        </p:nvSpPr>
        <p:spPr>
          <a:xfrm>
            <a:off x="457200" y="470141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43" name="Text 24"/>
          <p:cNvSpPr/>
          <p:nvPr/>
        </p:nvSpPr>
        <p:spPr>
          <a:xfrm>
            <a:off x="987552" y="4664841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ZPL Code Generation</a:t>
            </a:r>
            <a:endParaRPr lang="en-US" sz="1400" dirty="0"/>
          </a:p>
        </p:txBody>
      </p:sp>
      <p:sp>
        <p:nvSpPr>
          <p:cNvPr id="144" name="Text 25"/>
          <p:cNvSpPr/>
          <p:nvPr/>
        </p:nvSpPr>
        <p:spPr>
          <a:xfrm>
            <a:off x="987552" y="4957449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ZPL code directly from LDM — the technical foundation for Phase 2 to fully eliminate Codesoft 6 license costs.</a:t>
            </a:r>
            <a:endParaRPr lang="en-US" sz="1100" dirty="0"/>
          </a:p>
        </p:txBody>
      </p:sp>
      <p:sp>
        <p:nvSpPr>
          <p:cNvPr id="145" name="Shape 26"/>
          <p:cNvSpPr/>
          <p:nvPr/>
        </p:nvSpPr>
        <p:spPr>
          <a:xfrm>
            <a:off x="457200" y="5568767"/>
            <a:ext cx="5623560" cy="868680"/>
          </a:xfrm>
          <a:prstGeom prst="roundRect">
            <a:avLst>
              <a:gd name="adj" fmla="val 7368"/>
            </a:avLst>
          </a:prstGeom>
          <a:solidFill>
            <a:srgbClr val="E9EFFB"/>
          </a:solidFill>
          <a:ln w="12700">
            <a:solidFill>
              <a:srgbClr val="C7D6F2"/>
            </a:solidFill>
            <a:prstDash val="solid"/>
          </a:ln>
        </p:spPr>
      </p:sp>
      <p:pic>
        <p:nvPicPr>
          <p:cNvPr id="146" name="Image 1" descr="/home/claude/deck2/assets/ic-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788223"/>
            <a:ext cx="384048" cy="384048"/>
          </a:xfrm>
          <a:prstGeom prst="rect">
            <a:avLst/>
          </a:prstGeom>
        </p:spPr>
      </p:pic>
      <p:sp>
        <p:nvSpPr>
          <p:cNvPr id="147" name="Text 27"/>
          <p:cNvSpPr/>
          <p:nvPr/>
        </p:nvSpPr>
        <p:spPr>
          <a:xfrm>
            <a:off x="1188720" y="5678495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200" dirty="0"/>
          </a:p>
        </p:txBody>
      </p:sp>
      <p:sp>
        <p:nvSpPr>
          <p:cNvPr id="148" name="Text 28"/>
          <p:cNvSpPr/>
          <p:nvPr/>
        </p:nvSpPr>
        <p:spPr>
          <a:xfrm>
            <a:off x="1188720" y="5934527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Room no longer needs to read PMDs or build files by hand — the system handles the entire process; operators only confirm at the review step.</a:t>
            </a:r>
            <a:endParaRPr lang="en-US" sz="1100" dirty="0"/>
          </a:p>
        </p:txBody>
      </p:sp>
      <p:sp>
        <p:nvSpPr>
          <p:cNvPr id="149" name="Shape 29"/>
          <p:cNvSpPr/>
          <p:nvPr/>
        </p:nvSpPr>
        <p:spPr>
          <a:xfrm>
            <a:off x="6355080" y="1562840"/>
            <a:ext cx="5394960" cy="4878752"/>
          </a:xfrm>
          <a:prstGeom prst="roundRect">
            <a:avLst>
              <a:gd name="adj" fmla="val 1261"/>
            </a:avLst>
          </a:prstGeom>
          <a:solidFill>
            <a:srgbClr val="081F4D"/>
          </a:solidFill>
          <a:ln w="12700">
            <a:solidFill>
              <a:srgbClr val="081F4D"/>
            </a:solidFill>
            <a:prstDash val="solid"/>
          </a:ln>
          <a:effectLst>
            <a:outerShdw blurRad="101600" dist="25400" dir="5400000" algn="bl" rotWithShape="0">
              <a:srgbClr val="0A0E12">
                <a:alpha val="10000"/>
              </a:srgbClr>
            </a:outerShdw>
          </a:effectLst>
        </p:spPr>
      </p:sp>
      <p:sp>
        <p:nvSpPr>
          <p:cNvPr id="150" name="Shape 30"/>
          <p:cNvSpPr/>
          <p:nvPr/>
        </p:nvSpPr>
        <p:spPr>
          <a:xfrm>
            <a:off x="6583680" y="5575087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0B2C6E"/>
          </a:solidFill>
          <a:ln/>
        </p:spPr>
      </p:sp>
      <p:sp>
        <p:nvSpPr>
          <p:cNvPr id="151" name="Text 31"/>
          <p:cNvSpPr/>
          <p:nvPr/>
        </p:nvSpPr>
        <p:spPr>
          <a:xfrm>
            <a:off x="6583680" y="5575087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interpretation &amp; design: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</a:t>
            </a:r>
            <a:endParaRPr lang="en-US" sz="1050" dirty="0"/>
          </a:p>
        </p:txBody>
      </p:sp>
      <p:sp>
        <p:nvSpPr>
          <p:cNvPr id="152" name="Shape 32"/>
          <p:cNvSpPr/>
          <p:nvPr/>
        </p:nvSpPr>
        <p:spPr>
          <a:xfrm>
            <a:off x="9954493" y="5593375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FFEAC2"/>
          </a:solidFill>
          <a:ln/>
        </p:spPr>
      </p:sp>
      <p:sp>
        <p:nvSpPr>
          <p:cNvPr id="153" name="Text 33"/>
          <p:cNvSpPr/>
          <p:nvPr/>
        </p:nvSpPr>
        <p:spPr>
          <a:xfrm>
            <a:off x="9954493" y="5575087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progress</a:t>
            </a:r>
            <a:endParaRPr lang="en-US" sz="1100" dirty="0"/>
          </a:p>
        </p:txBody>
      </p:sp>
      <p:sp>
        <p:nvSpPr>
          <p:cNvPr id="154" name="Text 34"/>
          <p:cNvSpPr/>
          <p:nvPr/>
        </p:nvSpPr>
        <p:spPr>
          <a:xfrm>
            <a:off x="6355080" y="1205247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5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INTERFACE — DEMO IN PROGRESS</a:t>
            </a:r>
          </a:p>
        </p:txBody>
      </p:sp>
      <p:sp>
        <p:nvSpPr>
          <p:cNvPr id="155" name="Shape 3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2C6E"/>
          </a:solidFill>
          <a:ln/>
        </p:spPr>
      </p:sp>
      <p:sp>
        <p:nvSpPr>
          <p:cNvPr id="156" name="Text 36"/>
          <p:cNvSpPr/>
          <p:nvPr/>
        </p:nvSpPr>
        <p:spPr>
          <a:xfrm>
            <a:off x="320040" y="652881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Auto Design Label — Internal. All Rights Reserved.</a:t>
            </a:r>
            <a:endParaRPr lang="en-US" sz="1050" dirty="0"/>
          </a:p>
        </p:txBody>
      </p:sp>
      <p:sp>
        <p:nvSpPr>
          <p:cNvPr id="157" name="Text 37"/>
          <p:cNvSpPr/>
          <p:nvPr/>
        </p:nvSpPr>
        <p:spPr>
          <a:xfrm>
            <a:off x="7680960" y="652881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58" name="Shape 38"/>
          <p:cNvSpPr/>
          <p:nvPr/>
        </p:nvSpPr>
        <p:spPr>
          <a:xfrm>
            <a:off x="11475720" y="6528816"/>
            <a:ext cx="713232" cy="329184"/>
          </a:xfrm>
          <a:prstGeom prst="rect">
            <a:avLst/>
          </a:prstGeom>
          <a:solidFill>
            <a:srgbClr val="D0043A"/>
          </a:solidFill>
          <a:ln/>
        </p:spPr>
      </p:sp>
      <p:sp>
        <p:nvSpPr>
          <p:cNvPr id="159" name="Text 39"/>
          <p:cNvSpPr/>
          <p:nvPr/>
        </p:nvSpPr>
        <p:spPr>
          <a:xfrm>
            <a:off x="11475720" y="6528816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/7</a:t>
            </a:r>
            <a:endParaRPr lang="en-US" sz="1100" dirty="0"/>
          </a:p>
        </p:txBody>
      </p:sp>
      <p:pic>
        <p:nvPicPr>
          <p:cNvPr id="160" name="Picture 1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95" y="1642146"/>
            <a:ext cx="5326929" cy="35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1508760" y="453331"/>
            <a:ext cx="7502804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kern="0" spc="3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ALL SITES</a:t>
            </a:r>
            <a:endParaRPr lang="en-US" sz="3300" dirty="0"/>
          </a:p>
        </p:txBody>
      </p:sp>
      <p:sp>
        <p:nvSpPr>
          <p:cNvPr id="182" name="Text 6"/>
          <p:cNvSpPr/>
          <p:nvPr/>
        </p:nvSpPr>
        <p:spPr>
          <a:xfrm>
            <a:off x="525932" y="152274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5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</a:t>
            </a:r>
            <a:r>
              <a:rPr lang="en-US" sz="1400" b="1" kern="0" spc="5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</a:t>
            </a:r>
            <a:r>
              <a:rPr lang="en-US" sz="1400" b="1" kern="0" spc="50" smtClean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SITES</a:t>
            </a:r>
            <a:endParaRPr lang="en-US" sz="1400" dirty="0"/>
          </a:p>
        </p:txBody>
      </p:sp>
      <p:sp>
        <p:nvSpPr>
          <p:cNvPr id="183" name="Shape 7"/>
          <p:cNvSpPr/>
          <p:nvPr/>
        </p:nvSpPr>
        <p:spPr>
          <a:xfrm>
            <a:off x="525932" y="1922472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Text 8"/>
          <p:cNvSpPr/>
          <p:nvPr/>
        </p:nvSpPr>
        <p:spPr>
          <a:xfrm>
            <a:off x="525932" y="1922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85" name="Text 9"/>
          <p:cNvSpPr/>
          <p:nvPr/>
        </p:nvSpPr>
        <p:spPr>
          <a:xfrm>
            <a:off x="1056284" y="1885896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Site-Specific Hardcoding</a:t>
            </a:r>
            <a:endParaRPr lang="en-US" sz="1400" dirty="0"/>
          </a:p>
        </p:txBody>
      </p:sp>
      <p:sp>
        <p:nvSpPr>
          <p:cNvPr id="186" name="Text 10"/>
          <p:cNvSpPr/>
          <p:nvPr/>
        </p:nvSpPr>
        <p:spPr>
          <a:xfrm>
            <a:off x="1056284" y="2178504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LDM is a generic JSON schema — any site using the same PMD format and Codesoft 6 can load it directly, with no need to build a separate engine.</a:t>
            </a:r>
            <a:endParaRPr lang="en-US" sz="1100" dirty="0"/>
          </a:p>
        </p:txBody>
      </p:sp>
      <p:sp>
        <p:nvSpPr>
          <p:cNvPr id="187" name="Shape 11"/>
          <p:cNvSpPr/>
          <p:nvPr/>
        </p:nvSpPr>
        <p:spPr>
          <a:xfrm>
            <a:off x="525932" y="2818584"/>
            <a:ext cx="562356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2"/>
          <p:cNvSpPr/>
          <p:nvPr/>
        </p:nvSpPr>
        <p:spPr>
          <a:xfrm>
            <a:off x="525932" y="2946600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Text 13"/>
          <p:cNvSpPr/>
          <p:nvPr/>
        </p:nvSpPr>
        <p:spPr>
          <a:xfrm>
            <a:off x="525932" y="2946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90" name="Text 14"/>
          <p:cNvSpPr/>
          <p:nvPr/>
        </p:nvSpPr>
        <p:spPr>
          <a:xfrm>
            <a:off x="1056284" y="2910024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Linter for All Standards</a:t>
            </a:r>
            <a:endParaRPr lang="en-US" sz="1400" dirty="0"/>
          </a:p>
        </p:txBody>
      </p:sp>
      <p:sp>
        <p:nvSpPr>
          <p:cNvPr id="191" name="Text 15"/>
          <p:cNvSpPr/>
          <p:nvPr/>
        </p:nvSpPr>
        <p:spPr>
          <a:xfrm>
            <a:off x="1056284" y="3202632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Printability rules (X-dimension, QR density, boundary overflow) apply to every label type and every site — only the input data differs.</a:t>
            </a:r>
            <a:endParaRPr lang="en-US" sz="1100" dirty="0"/>
          </a:p>
        </p:txBody>
      </p:sp>
      <p:sp>
        <p:nvSpPr>
          <p:cNvPr id="192" name="Shape 16"/>
          <p:cNvSpPr/>
          <p:nvPr/>
        </p:nvSpPr>
        <p:spPr>
          <a:xfrm>
            <a:off x="525932" y="3842712"/>
            <a:ext cx="562356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7"/>
          <p:cNvSpPr/>
          <p:nvPr/>
        </p:nvSpPr>
        <p:spPr>
          <a:xfrm>
            <a:off x="525932" y="3970728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Text 18"/>
          <p:cNvSpPr/>
          <p:nvPr/>
        </p:nvSpPr>
        <p:spPr>
          <a:xfrm>
            <a:off x="525932" y="3970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5" name="Text 19"/>
          <p:cNvSpPr/>
          <p:nvPr/>
        </p:nvSpPr>
        <p:spPr>
          <a:xfrm>
            <a:off x="1056284" y="3934152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Hardware-Independent by Site</a:t>
            </a:r>
            <a:endParaRPr lang="en-US" sz="1400" dirty="0"/>
          </a:p>
        </p:txBody>
      </p:sp>
      <p:sp>
        <p:nvSpPr>
          <p:cNvPr id="196" name="Text 20"/>
          <p:cNvSpPr/>
          <p:nvPr/>
        </p:nvSpPr>
        <p:spPr>
          <a:xfrm>
            <a:off x="1056284" y="4226760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ZplEmitter and PrinterClient communicate over standard ZPL via port 9100 — compatible with any Zebra printer, not locked to any site-specific model.</a:t>
            </a:r>
            <a:endParaRPr lang="en-US" sz="1100" dirty="0"/>
          </a:p>
        </p:txBody>
      </p:sp>
      <p:sp>
        <p:nvSpPr>
          <p:cNvPr id="197" name="Shape 21"/>
          <p:cNvSpPr/>
          <p:nvPr/>
        </p:nvSpPr>
        <p:spPr>
          <a:xfrm>
            <a:off x="525932" y="4866840"/>
            <a:ext cx="562356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22"/>
          <p:cNvSpPr/>
          <p:nvPr/>
        </p:nvSpPr>
        <p:spPr>
          <a:xfrm>
            <a:off x="525932" y="4994856"/>
            <a:ext cx="384048" cy="384048"/>
          </a:xfrm>
          <a:prstGeom prst="ellipse">
            <a:avLst/>
          </a:prstGeom>
          <a:solidFill>
            <a:srgbClr val="0B2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Text 23"/>
          <p:cNvSpPr/>
          <p:nvPr/>
        </p:nvSpPr>
        <p:spPr>
          <a:xfrm>
            <a:off x="525932" y="4994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0" name="Text 24"/>
          <p:cNvSpPr/>
          <p:nvPr/>
        </p:nvSpPr>
        <p:spPr>
          <a:xfrm>
            <a:off x="1056284" y="4958280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Rollout, Zero Disruption</a:t>
            </a:r>
            <a:endParaRPr lang="en-US" sz="1400" dirty="0"/>
          </a:p>
        </p:txBody>
      </p:sp>
      <p:sp>
        <p:nvSpPr>
          <p:cNvPr id="201" name="Text 25"/>
          <p:cNvSpPr/>
          <p:nvPr/>
        </p:nvSpPr>
        <p:spPr>
          <a:xfrm>
            <a:off x="1056284" y="5250888"/>
            <a:ext cx="5093208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converts independently at its own pace — Label Room continues running CS6 in parallel until stability is confirmed.</a:t>
            </a:r>
            <a:endParaRPr lang="en-US" sz="1100" dirty="0"/>
          </a:p>
        </p:txBody>
      </p:sp>
      <p:sp>
        <p:nvSpPr>
          <p:cNvPr id="202" name="Text 26"/>
          <p:cNvSpPr/>
          <p:nvPr/>
        </p:nvSpPr>
        <p:spPr>
          <a:xfrm>
            <a:off x="68732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03" name="Text 27"/>
          <p:cNvSpPr/>
          <p:nvPr/>
        </p:nvSpPr>
        <p:spPr>
          <a:xfrm>
            <a:off x="6345431" y="154452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kern="0" spc="5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FOR SITE ADOPTION</a:t>
            </a:r>
          </a:p>
        </p:txBody>
      </p:sp>
      <p:sp>
        <p:nvSpPr>
          <p:cNvPr id="204" name="Shape 28"/>
          <p:cNvSpPr/>
          <p:nvPr/>
        </p:nvSpPr>
        <p:spPr>
          <a:xfrm>
            <a:off x="6423812" y="1871101"/>
            <a:ext cx="5394960" cy="2724912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A0E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5" name="Shape 29"/>
          <p:cNvSpPr/>
          <p:nvPr/>
        </p:nvSpPr>
        <p:spPr>
          <a:xfrm>
            <a:off x="6423812" y="1871101"/>
            <a:ext cx="5394960" cy="457200"/>
          </a:xfrm>
          <a:prstGeom prst="rect">
            <a:avLst/>
          </a:prstGeom>
          <a:solidFill>
            <a:srgbClr val="0B2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Text 30"/>
          <p:cNvSpPr/>
          <p:nvPr/>
        </p:nvSpPr>
        <p:spPr>
          <a:xfrm>
            <a:off x="6652412" y="1871101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50" dirty="0"/>
          </a:p>
        </p:txBody>
      </p:sp>
      <p:sp>
        <p:nvSpPr>
          <p:cNvPr id="207" name="Text 31"/>
          <p:cNvSpPr/>
          <p:nvPr/>
        </p:nvSpPr>
        <p:spPr>
          <a:xfrm>
            <a:off x="10081412" y="1871101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50" dirty="0"/>
          </a:p>
        </p:txBody>
      </p:sp>
      <p:sp>
        <p:nvSpPr>
          <p:cNvPr id="208" name="Text 32"/>
          <p:cNvSpPr/>
          <p:nvPr/>
        </p:nvSpPr>
        <p:spPr>
          <a:xfrm>
            <a:off x="6652412" y="2328301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documents in PMD (PDF) format</a:t>
            </a:r>
            <a:endParaRPr lang="en-US" sz="1100" dirty="0"/>
          </a:p>
        </p:txBody>
      </p:sp>
      <p:sp>
        <p:nvSpPr>
          <p:cNvPr id="209" name="Shape 33"/>
          <p:cNvSpPr/>
          <p:nvPr/>
        </p:nvSpPr>
        <p:spPr>
          <a:xfrm>
            <a:off x="10218572" y="2456317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9EF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Text 34"/>
          <p:cNvSpPr/>
          <p:nvPr/>
        </p:nvSpPr>
        <p:spPr>
          <a:xfrm>
            <a:off x="10218572" y="2456317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211" name="Shape 35"/>
          <p:cNvSpPr/>
          <p:nvPr/>
        </p:nvSpPr>
        <p:spPr>
          <a:xfrm>
            <a:off x="6423812" y="2895229"/>
            <a:ext cx="539496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Text 36"/>
          <p:cNvSpPr/>
          <p:nvPr/>
        </p:nvSpPr>
        <p:spPr>
          <a:xfrm>
            <a:off x="6652412" y="2895229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using Codesoft 6 + Zebra printers</a:t>
            </a:r>
            <a:endParaRPr lang="en-US" sz="1100" dirty="0"/>
          </a:p>
        </p:txBody>
      </p:sp>
      <p:sp>
        <p:nvSpPr>
          <p:cNvPr id="213" name="Shape 37"/>
          <p:cNvSpPr/>
          <p:nvPr/>
        </p:nvSpPr>
        <p:spPr>
          <a:xfrm>
            <a:off x="10218572" y="3023245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9EF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Text 38"/>
          <p:cNvSpPr/>
          <p:nvPr/>
        </p:nvSpPr>
        <p:spPr>
          <a:xfrm>
            <a:off x="10218572" y="3023245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215" name="Text 39"/>
          <p:cNvSpPr/>
          <p:nvPr/>
        </p:nvSpPr>
        <p:spPr>
          <a:xfrm>
            <a:off x="6652412" y="3462157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document sample for initial LDM validation</a:t>
            </a:r>
            <a:endParaRPr lang="en-US" sz="1100" dirty="0"/>
          </a:p>
        </p:txBody>
      </p:sp>
      <p:sp>
        <p:nvSpPr>
          <p:cNvPr id="216" name="Shape 40"/>
          <p:cNvSpPr/>
          <p:nvPr/>
        </p:nvSpPr>
        <p:spPr>
          <a:xfrm>
            <a:off x="10218572" y="3590173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9EF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Text 41"/>
          <p:cNvSpPr/>
          <p:nvPr/>
        </p:nvSpPr>
        <p:spPr>
          <a:xfrm>
            <a:off x="10218572" y="3590173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0B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218" name="Shape 42"/>
          <p:cNvSpPr/>
          <p:nvPr/>
        </p:nvSpPr>
        <p:spPr>
          <a:xfrm>
            <a:off x="6423812" y="4029085"/>
            <a:ext cx="539496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Text 43"/>
          <p:cNvSpPr/>
          <p:nvPr/>
        </p:nvSpPr>
        <p:spPr>
          <a:xfrm>
            <a:off x="6652412" y="4029085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Site-specific font files (if different from JioType)</a:t>
            </a:r>
            <a:endParaRPr lang="en-US" sz="1100" dirty="0"/>
          </a:p>
        </p:txBody>
      </p:sp>
      <p:sp>
        <p:nvSpPr>
          <p:cNvPr id="220" name="Shape 44"/>
          <p:cNvSpPr/>
          <p:nvPr/>
        </p:nvSpPr>
        <p:spPr>
          <a:xfrm>
            <a:off x="10218572" y="4157101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Text 45"/>
          <p:cNvSpPr/>
          <p:nvPr/>
        </p:nvSpPr>
        <p:spPr>
          <a:xfrm>
            <a:off x="10218572" y="4157101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66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Phase 2</a:t>
            </a:r>
            <a:endParaRPr lang="en-US" sz="950" dirty="0"/>
          </a:p>
        </p:txBody>
      </p:sp>
      <p:sp>
        <p:nvSpPr>
          <p:cNvPr id="222" name="Shape 46"/>
          <p:cNvSpPr/>
          <p:nvPr/>
        </p:nvSpPr>
        <p:spPr>
          <a:xfrm>
            <a:off x="6423812" y="4824612"/>
            <a:ext cx="5394960" cy="1014983"/>
          </a:xfrm>
          <a:prstGeom prst="roundRect">
            <a:avLst>
              <a:gd name="adj" fmla="val 7368"/>
            </a:avLst>
          </a:prstGeom>
          <a:solidFill>
            <a:srgbClr val="E9EFFB"/>
          </a:solidFill>
          <a:ln w="12700">
            <a:solidFill>
              <a:srgbClr val="C7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3" name="Image 1" descr="/home/claude/deck2/assets/ic-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80" y="5044069"/>
            <a:ext cx="384048" cy="384048"/>
          </a:xfrm>
          <a:prstGeom prst="rect">
            <a:avLst/>
          </a:prstGeom>
        </p:spPr>
      </p:pic>
      <p:sp>
        <p:nvSpPr>
          <p:cNvPr id="224" name="Text 47"/>
          <p:cNvSpPr/>
          <p:nvPr/>
        </p:nvSpPr>
        <p:spPr>
          <a:xfrm>
            <a:off x="7155332" y="4934341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50" dirty="0">
                <a:solidFill>
                  <a:srgbClr val="0B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200" dirty="0"/>
          </a:p>
        </p:txBody>
      </p:sp>
      <p:sp>
        <p:nvSpPr>
          <p:cNvPr id="225" name="Text 48"/>
          <p:cNvSpPr/>
          <p:nvPr/>
        </p:nvSpPr>
        <p:spPr>
          <a:xfrm>
            <a:off x="7155332" y="52153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site (pilot B01O023.01) was used only to validate the architecture — LDM itself is not tied to this site and is ready to load documents from any other site on demand.</a:t>
            </a:r>
            <a:endParaRPr lang="en-US" sz="1100" dirty="0"/>
          </a:p>
        </p:txBody>
      </p:sp>
      <p:sp>
        <p:nvSpPr>
          <p:cNvPr id="226" name="Shape 49"/>
          <p:cNvSpPr/>
          <p:nvPr/>
        </p:nvSpPr>
        <p:spPr>
          <a:xfrm>
            <a:off x="68732" y="6528816"/>
            <a:ext cx="12191695" cy="329184"/>
          </a:xfrm>
          <a:prstGeom prst="rect">
            <a:avLst/>
          </a:prstGeom>
          <a:solidFill>
            <a:srgbClr val="0B2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7" name="Text 50"/>
          <p:cNvSpPr/>
          <p:nvPr/>
        </p:nvSpPr>
        <p:spPr>
          <a:xfrm>
            <a:off x="388772" y="652881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C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Auto Design Label — Internal. All Rights Reserved.</a:t>
            </a:r>
            <a:endParaRPr lang="en-US" sz="1050" dirty="0"/>
          </a:p>
        </p:txBody>
      </p:sp>
      <p:sp>
        <p:nvSpPr>
          <p:cNvPr id="228" name="Text 51"/>
          <p:cNvSpPr/>
          <p:nvPr/>
        </p:nvSpPr>
        <p:spPr>
          <a:xfrm>
            <a:off x="7749692" y="652881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 PROGRESS</a:t>
            </a:r>
            <a:endParaRPr lang="en-US" sz="950" dirty="0"/>
          </a:p>
        </p:txBody>
      </p:sp>
      <p:sp>
        <p:nvSpPr>
          <p:cNvPr id="229" name="Shape 52"/>
          <p:cNvSpPr/>
          <p:nvPr/>
        </p:nvSpPr>
        <p:spPr>
          <a:xfrm>
            <a:off x="11544452" y="6528816"/>
            <a:ext cx="713232" cy="329184"/>
          </a:xfrm>
          <a:prstGeom prst="rect">
            <a:avLst/>
          </a:prstGeom>
          <a:solidFill>
            <a:srgbClr val="D00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Text 53"/>
          <p:cNvSpPr/>
          <p:nvPr/>
        </p:nvSpPr>
        <p:spPr>
          <a:xfrm>
            <a:off x="11544452" y="6528816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/7</a:t>
            </a:r>
            <a:endParaRPr lang="en-US" sz="1100" dirty="0"/>
          </a:p>
        </p:txBody>
      </p:sp>
      <p:sp>
        <p:nvSpPr>
          <p:cNvPr id="231" name="Shape 2"/>
          <p:cNvSpPr/>
          <p:nvPr/>
        </p:nvSpPr>
        <p:spPr>
          <a:xfrm>
            <a:off x="9818551" y="418863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600F"/>
          </a:solidFill>
          <a:ln/>
        </p:spPr>
      </p:sp>
      <p:sp>
        <p:nvSpPr>
          <p:cNvPr id="232" name="Text 3"/>
          <p:cNvSpPr/>
          <p:nvPr/>
        </p:nvSpPr>
        <p:spPr>
          <a:xfrm>
            <a:off x="9818551" y="40057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233" name="Text 4"/>
          <p:cNvSpPr/>
          <p:nvPr/>
        </p:nvSpPr>
        <p:spPr>
          <a:xfrm>
            <a:off x="9214338" y="674895"/>
            <a:ext cx="1048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66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CNSBG-Billy Su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3935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ccf059-af5d-4b92-932d-3690a1231c55}" enabled="1" method="Standard" siteId="{cb3d8dcd-2ed2-4bad-89a5-e0a7195fb6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1954</TotalTime>
  <Words>1129</Words>
  <Application>Microsoft Office PowerPoint</Application>
  <PresentationFormat>Widescreen</PresentationFormat>
  <Paragraphs>194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Inter Black</vt:lpstr>
      <vt:lpstr>微软雅黑</vt:lpstr>
      <vt:lpstr>SimHei</vt:lpstr>
      <vt:lpstr>思源黑体 CN Heavy</vt:lpstr>
      <vt:lpstr>Arial</vt:lpstr>
      <vt:lpstr>Arial Black</vt:lpstr>
      <vt:lpstr>Calibri</vt:lpstr>
      <vt:lpstr>Courier New</vt:lpstr>
      <vt:lpstr>Times New Roman</vt:lpstr>
      <vt:lpstr>Wingdings</vt:lpstr>
      <vt:lpstr>Office 主题​​</vt:lpstr>
      <vt:lpstr>Office 主题​​</vt:lpstr>
      <vt:lpstr>Office 主题​​</vt:lpstr>
      <vt:lpstr>PowerPoint Presentation</vt:lpstr>
      <vt:lpstr>PowerPoint Presentation</vt:lpstr>
      <vt:lpstr>FORKLIFT TASK DISPATCH</vt:lpstr>
      <vt:lpstr>FORKLIFT TASK DISPATCH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FORKLIFT TASK DISPATCH</dc:title>
  <dc:creator>Chown</dc:creator>
  <cp:lastModifiedBy>Billy (VN CNS IT)</cp:lastModifiedBy>
  <cp:revision>18</cp:revision>
  <dcterms:modified xsi:type="dcterms:W3CDTF">2026-08-25T06:24:13Z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2022-05-19T09:53:00Z</dcterms:created>
  <dc:creator>ZMY</dc:creator>
  <dc:description/>
  <dc:language>en-US</dc:language>
  <cp:lastModifiedBy>FTI IT</cp:lastModifiedBy>
  <dcterms:modified xsi:type="dcterms:W3CDTF">2026-08-20T02:28:22Z</dcterms:modified>
  <cp:revision>520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7B54E248D5E74C45B50FC95368D550F8_12</vt:lpwstr>
  </property>
  <property fmtid="{D5CDD505-2E9C-101B-9397-08002B2CF9AE}" pid="3" name="KSOProductBuildVer">
    <vt:lpwstr>2052-12.1.0.16250</vt:lpwstr>
  </property>
  <property fmtid="{D5CDD505-2E9C-101B-9397-08002B2CF9AE}" pid="4" name="PresentationFormat">
    <vt:lpwstr>Widescreen</vt:lpwstr>
  </property>
  <property fmtid="{D5CDD505-2E9C-101B-9397-08002B2CF9AE}" pid="5" name="Slides">
    <vt:r8>2</vt:r8>
  </property>
</Properties>
</file>