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68" r:id="rId2"/>
    <p:sldId id="265" r:id="rId3"/>
    <p:sldId id="275" r:id="rId4"/>
    <p:sldId id="277" r:id="rId5"/>
    <p:sldId id="278" r:id="rId6"/>
    <p:sldId id="280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58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FA70F2-FFB1-4A77-8169-B4B3A96EA7FA}" type="datetimeFigureOut">
              <a:rPr lang="zh-TW" altLang="en-US" smtClean="0"/>
              <a:pPr/>
              <a:t>2026/8/22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422045-D558-4E33-BE68-5816A24675A4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686334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74DAA-8521-401A-B442-5F827CEBB63B}" type="datetimeFigureOut">
              <a:rPr lang="zh-TW" altLang="en-US" smtClean="0"/>
              <a:pPr/>
              <a:t>2026/8/22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6A725-A372-460E-884A-4864481A9E4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13203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B2EBB-BC46-4219-8E99-314F36A94901}" type="datetime1">
              <a:rPr lang="zh-TW" altLang="en-US" smtClean="0"/>
              <a:pPr/>
              <a:t>2026/8/22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CCD9-AF14-4FD0-8E12-CF82B8F5837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554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CC0F3-B846-4290-B9C4-8F115EE2B84D}" type="datetime1">
              <a:rPr lang="zh-TW" altLang="en-US" smtClean="0"/>
              <a:pPr/>
              <a:t>2026/8/22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CCD9-AF14-4FD0-8E12-CF82B8F5837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8885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D761B-6585-4B1B-A2B9-4CDB597A6ECA}" type="datetime1">
              <a:rPr lang="zh-TW" altLang="en-US" smtClean="0"/>
              <a:pPr/>
              <a:t>2026/8/22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CCD9-AF14-4FD0-8E12-CF82B8F5837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5904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79E8-9818-4963-B672-E7E501E3FB3A}" type="datetime1">
              <a:rPr lang="zh-TW" altLang="en-US" smtClean="0"/>
              <a:pPr/>
              <a:t>2026/8/22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CCD9-AF14-4FD0-8E12-CF82B8F5837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0469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7491D-FC62-475C-9CF3-02865DEF5AF5}" type="datetime1">
              <a:rPr lang="zh-TW" altLang="en-US" smtClean="0"/>
              <a:pPr/>
              <a:t>2026/8/22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CCD9-AF14-4FD0-8E12-CF82B8F5837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7856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5CF08-AE98-4F76-9E5C-9F20DE2A111C}" type="datetime1">
              <a:rPr lang="zh-TW" altLang="en-US" smtClean="0"/>
              <a:pPr/>
              <a:t>2026/8/22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CCD9-AF14-4FD0-8E12-CF82B8F5837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1877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1F89E-FF1C-46AC-B04C-B6464287433B}" type="datetime1">
              <a:rPr lang="zh-TW" altLang="en-US" smtClean="0"/>
              <a:pPr/>
              <a:t>2026/8/22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CCD9-AF14-4FD0-8E12-CF82B8F5837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9925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2D6E8-63C8-4ADC-88CB-84562CB67E64}" type="datetime1">
              <a:rPr lang="zh-TW" altLang="en-US" smtClean="0"/>
              <a:pPr/>
              <a:t>2026/8/22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CCD9-AF14-4FD0-8E12-CF82B8F5837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056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E44BA-7BE3-4C66-8864-489905E8021E}" type="datetime1">
              <a:rPr lang="zh-TW" altLang="en-US" smtClean="0"/>
              <a:pPr/>
              <a:t>2026/8/22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CCD9-AF14-4FD0-8E12-CF82B8F5837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3039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BA1F0-130F-4C1B-8346-D0167DF99193}" type="datetime1">
              <a:rPr lang="zh-TW" altLang="en-US" smtClean="0"/>
              <a:pPr/>
              <a:t>2026/8/22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CCD9-AF14-4FD0-8E12-CF82B8F5837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8995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8524E-FE32-451E-A5A3-4235D58504EB}" type="datetime1">
              <a:rPr lang="zh-TW" altLang="en-US" smtClean="0"/>
              <a:pPr/>
              <a:t>2026/8/22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4CCD9-AF14-4FD0-8E12-CF82B8F5837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75282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AFB5ABDE-8D3F-46E1-B722-11F608116ED1}"/>
              </a:ext>
            </a:extLst>
          </p:cNvPr>
          <p:cNvGrpSpPr/>
          <p:nvPr userDrawn="1"/>
        </p:nvGrpSpPr>
        <p:grpSpPr>
          <a:xfrm>
            <a:off x="-4" y="-1"/>
            <a:ext cx="12192002" cy="6858000"/>
            <a:chOff x="-3" y="551830"/>
            <a:chExt cx="8967244" cy="5044074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BA0724E7-7C9D-4D64-B714-FE94F149548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848" t="8046" r="5049" b="18404"/>
            <a:stretch/>
          </p:blipFill>
          <p:spPr>
            <a:xfrm flipH="1">
              <a:off x="-3" y="551830"/>
              <a:ext cx="8967243" cy="5044074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46295E0-4538-4058-8F1E-5365ADEDFF01}"/>
                </a:ext>
              </a:extLst>
            </p:cNvPr>
            <p:cNvSpPr/>
            <p:nvPr userDrawn="1"/>
          </p:nvSpPr>
          <p:spPr>
            <a:xfrm flipH="1">
              <a:off x="-1" y="551830"/>
              <a:ext cx="8967242" cy="5044074"/>
            </a:xfrm>
            <a:prstGeom prst="rect">
              <a:avLst/>
            </a:prstGeom>
            <a:gradFill>
              <a:gsLst>
                <a:gs pos="49000">
                  <a:schemeClr val="tx1">
                    <a:lumMod val="95000"/>
                    <a:lumOff val="5000"/>
                    <a:alpha val="40000"/>
                  </a:schemeClr>
                </a:gs>
                <a:gs pos="100000">
                  <a:schemeClr val="tx1">
                    <a:lumMod val="95000"/>
                    <a:lumOff val="5000"/>
                    <a:alpha val="12000"/>
                  </a:schemeClr>
                </a:gs>
                <a:gs pos="0">
                  <a:schemeClr val="tx1">
                    <a:lumMod val="95000"/>
                    <a:lumOff val="5000"/>
                    <a:alpha val="12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98217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B7FED-B7B7-4EA8-97CF-7E7FEFD7FC74}" type="datetime1">
              <a:rPr lang="zh-TW" altLang="en-US" smtClean="0"/>
              <a:pPr/>
              <a:t>2026/8/22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44CCD9-AF14-4FD0-8E12-CF82B8F5837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317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15.jp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677576"/>
              </p:ext>
            </p:extLst>
          </p:nvPr>
        </p:nvGraphicFramePr>
        <p:xfrm>
          <a:off x="293767" y="1315676"/>
          <a:ext cx="11535244" cy="4517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76670">
                  <a:extLst>
                    <a:ext uri="{9D8B030D-6E8A-4147-A177-3AD203B41FA5}">
                      <a16:colId xmlns:a16="http://schemas.microsoft.com/office/drawing/2014/main" val="553681097"/>
                    </a:ext>
                  </a:extLst>
                </a:gridCol>
                <a:gridCol w="1315379">
                  <a:extLst>
                    <a:ext uri="{9D8B030D-6E8A-4147-A177-3AD203B41FA5}">
                      <a16:colId xmlns:a16="http://schemas.microsoft.com/office/drawing/2014/main" val="2616838224"/>
                    </a:ext>
                  </a:extLst>
                </a:gridCol>
                <a:gridCol w="1085689">
                  <a:extLst>
                    <a:ext uri="{9D8B030D-6E8A-4147-A177-3AD203B41FA5}">
                      <a16:colId xmlns:a16="http://schemas.microsoft.com/office/drawing/2014/main" val="3391780021"/>
                    </a:ext>
                  </a:extLst>
                </a:gridCol>
                <a:gridCol w="524652">
                  <a:extLst>
                    <a:ext uri="{9D8B030D-6E8A-4147-A177-3AD203B41FA5}">
                      <a16:colId xmlns:a16="http://schemas.microsoft.com/office/drawing/2014/main" val="2874205069"/>
                    </a:ext>
                  </a:extLst>
                </a:gridCol>
                <a:gridCol w="843648">
                  <a:extLst>
                    <a:ext uri="{9D8B030D-6E8A-4147-A177-3AD203B41FA5}">
                      <a16:colId xmlns:a16="http://schemas.microsoft.com/office/drawing/2014/main" val="2573102868"/>
                    </a:ext>
                  </a:extLst>
                </a:gridCol>
                <a:gridCol w="670593">
                  <a:extLst>
                    <a:ext uri="{9D8B030D-6E8A-4147-A177-3AD203B41FA5}">
                      <a16:colId xmlns:a16="http://schemas.microsoft.com/office/drawing/2014/main" val="2658298427"/>
                    </a:ext>
                  </a:extLst>
                </a:gridCol>
                <a:gridCol w="930174">
                  <a:extLst>
                    <a:ext uri="{9D8B030D-6E8A-4147-A177-3AD203B41FA5}">
                      <a16:colId xmlns:a16="http://schemas.microsoft.com/office/drawing/2014/main" val="2842624096"/>
                    </a:ext>
                  </a:extLst>
                </a:gridCol>
                <a:gridCol w="822016">
                  <a:extLst>
                    <a:ext uri="{9D8B030D-6E8A-4147-A177-3AD203B41FA5}">
                      <a16:colId xmlns:a16="http://schemas.microsoft.com/office/drawing/2014/main" val="3710972958"/>
                    </a:ext>
                  </a:extLst>
                </a:gridCol>
                <a:gridCol w="1038332">
                  <a:extLst>
                    <a:ext uri="{9D8B030D-6E8A-4147-A177-3AD203B41FA5}">
                      <a16:colId xmlns:a16="http://schemas.microsoft.com/office/drawing/2014/main" val="687712849"/>
                    </a:ext>
                  </a:extLst>
                </a:gridCol>
                <a:gridCol w="1038332">
                  <a:extLst>
                    <a:ext uri="{9D8B030D-6E8A-4147-A177-3AD203B41FA5}">
                      <a16:colId xmlns:a16="http://schemas.microsoft.com/office/drawing/2014/main" val="194664417"/>
                    </a:ext>
                  </a:extLst>
                </a:gridCol>
                <a:gridCol w="1189759">
                  <a:extLst>
                    <a:ext uri="{9D8B030D-6E8A-4147-A177-3AD203B41FA5}">
                      <a16:colId xmlns:a16="http://schemas.microsoft.com/office/drawing/2014/main" val="3012453526"/>
                    </a:ext>
                  </a:extLst>
                </a:gridCol>
              </a:tblGrid>
              <a:tr h="576140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solidFill>
                            <a:schemeClr val="bg1"/>
                          </a:solidFill>
                          <a:effectLst/>
                        </a:rPr>
                        <a:t>Before</a:t>
                      </a:r>
                      <a:endParaRPr lang="en-US" sz="15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solidFill>
                            <a:schemeClr val="bg1"/>
                          </a:solidFill>
                          <a:effectLst/>
                        </a:rPr>
                        <a:t>After</a:t>
                      </a:r>
                      <a:endParaRPr lang="en-US" sz="15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7448"/>
                  </a:ext>
                </a:extLst>
              </a:tr>
              <a:tr h="9075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Station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STD(sec)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設備需求</a:t>
                      </a:r>
                      <a:br>
                        <a:rPr lang="zh-CN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altLang="zh-CN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zh-CN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套</a:t>
                      </a:r>
                      <a:r>
                        <a:rPr lang="en-US" altLang="zh-CN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US" altLang="zh-CN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單班人力</a:t>
                      </a:r>
                      <a:br>
                        <a:rPr lang="zh-TW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zh-TW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需求</a:t>
                      </a:r>
                      <a:r>
                        <a:rPr lang="en-US" altLang="zh-TW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zh-TW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個</a:t>
                      </a:r>
                      <a:r>
                        <a:rPr lang="en-US" altLang="zh-TW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US" altLang="zh-TW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平均產能</a:t>
                      </a:r>
                      <a:endParaRPr lang="zh-CN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Arial Unicode MS" panose="020B0604020202020204" pitchFamily="34" charset="-128"/>
                        <a:ea typeface="Arial Unicode MS" panose="020B0604020202020204" pitchFamily="34" charset="-128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STD(sec)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設備需求</a:t>
                      </a:r>
                      <a:br>
                        <a:rPr lang="zh-CN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altLang="zh-CN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zh-CN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套</a:t>
                      </a:r>
                      <a:r>
                        <a:rPr lang="en-US" altLang="zh-CN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US" altLang="zh-CN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單班人力</a:t>
                      </a:r>
                      <a:br>
                        <a:rPr lang="zh-TW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zh-TW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需求</a:t>
                      </a:r>
                      <a:r>
                        <a:rPr lang="en-US" altLang="zh-TW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zh-TW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個</a:t>
                      </a:r>
                      <a:r>
                        <a:rPr lang="en-US" altLang="zh-TW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en-US" altLang="zh-TW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平均產能</a:t>
                      </a:r>
                      <a:endParaRPr lang="zh-CN" alt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Arial Unicode MS" panose="020B0604020202020204" pitchFamily="34" charset="-128"/>
                        <a:ea typeface="Arial Unicode MS" panose="020B0604020202020204" pitchFamily="34" charset="-128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Remark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868189"/>
                  </a:ext>
                </a:extLst>
              </a:tr>
              <a:tr h="314566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1" dirty="0"/>
                        <a:t>ME Edit Label PDF</a:t>
                      </a:r>
                    </a:p>
                  </a:txBody>
                  <a:tcPr marL="7940" marR="7940" marT="794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Old model: Need</a:t>
                      </a:r>
                      <a:r>
                        <a:rPr lang="en-US" sz="10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 3 hour</a:t>
                      </a:r>
                    </a:p>
                    <a:p>
                      <a:pPr algn="ctr" fontAlgn="ctr"/>
                      <a:r>
                        <a:rPr lang="en-US" sz="1000" b="0" i="0" u="none" strike="noStrike" baseline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New model: Need 8 hour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000" b="0" i="0" u="none" strike="noStrike" kern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Currently used PDF edit/PDF exchange software</a:t>
                      </a: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3 man</a:t>
                      </a:r>
                    </a:p>
                  </a:txBody>
                  <a:tcPr marL="7940" marR="7940" marT="7940" marB="0" anchor="ctr"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      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 rowSpan="5">
                  <a:txBody>
                    <a:bodyPr/>
                    <a:lstStyle/>
                    <a:p>
                      <a:endParaRPr lang="en-US" dirty="0"/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6910758"/>
                  </a:ext>
                </a:extLst>
              </a:tr>
              <a:tr h="437017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1" dirty="0"/>
                        <a:t>Label Room Design Label as ME Label PDF </a:t>
                      </a:r>
                      <a:endParaRPr lang="en-US" sz="1000" b="1" dirty="0"/>
                    </a:p>
                  </a:txBody>
                  <a:tcPr marL="7940" marR="7940" marT="794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30 min-1</a:t>
                      </a:r>
                      <a:r>
                        <a:rPr lang="en-US" sz="1000" b="0" i="0" u="none" strike="noStrike" baseline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 hour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CodeSoft6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7940" marR="7940" marT="7940" marB="0" anchor="ctr"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940" marR="7940" marT="7940" marB="0" anchor="ctr"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105209"/>
                  </a:ext>
                </a:extLst>
              </a:tr>
              <a:tr h="649977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1" dirty="0"/>
                        <a:t>Use</a:t>
                      </a:r>
                      <a:r>
                        <a:rPr lang="en-US" altLang="zh-CN" sz="1000" b="1" baseline="0" dirty="0"/>
                        <a:t> SFC to c</a:t>
                      </a:r>
                      <a:r>
                        <a:rPr lang="en-US" altLang="zh-CN" sz="1000" b="1" dirty="0"/>
                        <a:t>onnect to Zebra printers and print label</a:t>
                      </a:r>
                    </a:p>
                  </a:txBody>
                  <a:tcPr marL="7940" marR="7940" marT="7940" marB="0" anchor="ctr">
                    <a:solidFill>
                      <a:srgbClr val="92D05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5min</a:t>
                      </a:r>
                    </a:p>
                  </a:txBody>
                  <a:tcPr marL="7940" marR="7940" marT="7940" marB="0" anchor="ctr"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NA</a:t>
                      </a:r>
                    </a:p>
                  </a:txBody>
                  <a:tcPr marL="7940" marR="7940" marT="7940" marB="0" anchor="ctr"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940" marR="7940" marT="7940" marB="0" anchor="ctr"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413358"/>
                  </a:ext>
                </a:extLst>
              </a:tr>
              <a:tr h="437017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1" dirty="0"/>
                        <a:t>Check the Printed label with designed label</a:t>
                      </a:r>
                      <a:endParaRPr lang="en-US" sz="1000" b="1" dirty="0"/>
                    </a:p>
                  </a:txBody>
                  <a:tcPr marL="7940" marR="7940" marT="7940" marB="0" anchor="ctr"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0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940" marR="7940" marT="7940" marB="0" anchor="ctr"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504416"/>
                  </a:ext>
                </a:extLst>
              </a:tr>
              <a:tr h="649977"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1" dirty="0"/>
                        <a:t>Connect to SFC to upload file to the Label Tracking System</a:t>
                      </a:r>
                      <a:endParaRPr lang="en-US" sz="1000" b="1" dirty="0"/>
                    </a:p>
                  </a:txBody>
                  <a:tcPr marL="7940" marR="7940" marT="794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3min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NA</a:t>
                      </a:r>
                      <a:endParaRPr lang="en-US" dirty="0"/>
                    </a:p>
                  </a:txBody>
                  <a:tcPr marL="7940" marR="7940" marT="7940" marB="0" anchor="ctr"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     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940" marR="7940" marT="7940" marB="0" anchor="ctr"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3551243"/>
                  </a:ext>
                </a:extLst>
              </a:tr>
              <a:tr h="394424"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0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Total</a:t>
                      </a:r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7940" marR="7940" marT="794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0" marR="7940" marT="794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7624805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293767" y="236658"/>
            <a:ext cx="713368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icrosoft YaHei" pitchFamily="34" charset="-122"/>
                <a:ea typeface="Microsoft YaHei" pitchFamily="34" charset="-122"/>
                <a:cs typeface="Arial" panose="020B0604020202020204" pitchFamily="34" charset="0"/>
              </a:rPr>
              <a:t>自动打印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icrosoft YaHei" pitchFamily="34" charset="-122"/>
                <a:ea typeface="Microsoft YaHei" pitchFamily="34" charset="-122"/>
                <a:cs typeface="Arial" panose="020B0604020202020204" pitchFamily="34" charset="0"/>
              </a:rPr>
              <a:t>Label</a:t>
            </a:r>
            <a:r>
              <a:rPr kumimoji="0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icrosoft YaHei" pitchFamily="34" charset="-122"/>
                <a:ea typeface="Microsoft YaHei" pitchFamily="34" charset="-122"/>
                <a:cs typeface="Arial" panose="020B0604020202020204" pitchFamily="34" charset="0"/>
              </a:rPr>
              <a:t>效益評估  </a:t>
            </a:r>
            <a:r>
              <a:rPr kumimoji="0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icrosoft YaHei" pitchFamily="34" charset="-122"/>
                <a:ea typeface="Microsoft YaHei" pitchFamily="34" charset="-122"/>
                <a:cs typeface="Arial" panose="020B0604020202020204" pitchFamily="34" charset="0"/>
              </a:rPr>
              <a:t>by process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69955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1">
            <a:extLst>
              <a:ext uri="{FF2B5EF4-FFF2-40B4-BE49-F238E27FC236}">
                <a16:creationId xmlns:a16="http://schemas.microsoft.com/office/drawing/2014/main" id="{2948CD80-2B09-7FE5-C331-83B2CC2186B8}"/>
              </a:ext>
            </a:extLst>
          </p:cNvPr>
          <p:cNvSpPr/>
          <p:nvPr/>
        </p:nvSpPr>
        <p:spPr>
          <a:xfrm>
            <a:off x="227011" y="1569105"/>
            <a:ext cx="11737975" cy="1751891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文本框 107">
            <a:extLst>
              <a:ext uri="{FF2B5EF4-FFF2-40B4-BE49-F238E27FC236}">
                <a16:creationId xmlns:a16="http://schemas.microsoft.com/office/drawing/2014/main" id="{4F62504F-0EC3-056C-F84D-50B59EBBC6E7}"/>
              </a:ext>
            </a:extLst>
          </p:cNvPr>
          <p:cNvSpPr txBox="1"/>
          <p:nvPr/>
        </p:nvSpPr>
        <p:spPr>
          <a:xfrm>
            <a:off x="227013" y="77758"/>
            <a:ext cx="10223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vi-VN" altLang="zh-CN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  <a:sym typeface="+mn-ea"/>
              </a:rPr>
              <a:t>Label Automatic Making (LAM) System Analysis </a:t>
            </a:r>
            <a:endParaRPr lang="en-US" altLang="zh-CN" sz="32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itchFamily="3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Rectangle 65">
            <a:extLst>
              <a:ext uri="{FF2B5EF4-FFF2-40B4-BE49-F238E27FC236}">
                <a16:creationId xmlns:a16="http://schemas.microsoft.com/office/drawing/2014/main" id="{75CA9CCF-8744-05FE-29F1-F3BE844AD9B4}"/>
              </a:ext>
            </a:extLst>
          </p:cNvPr>
          <p:cNvSpPr/>
          <p:nvPr/>
        </p:nvSpPr>
        <p:spPr>
          <a:xfrm>
            <a:off x="224855" y="3495377"/>
            <a:ext cx="11729706" cy="1744757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48">
            <a:extLst>
              <a:ext uri="{FF2B5EF4-FFF2-40B4-BE49-F238E27FC236}">
                <a16:creationId xmlns:a16="http://schemas.microsoft.com/office/drawing/2014/main" id="{259E2774-F39F-DD5C-A46E-11552C64FF6D}"/>
              </a:ext>
            </a:extLst>
          </p:cNvPr>
          <p:cNvSpPr txBox="1"/>
          <p:nvPr/>
        </p:nvSpPr>
        <p:spPr>
          <a:xfrm>
            <a:off x="140464" y="2315336"/>
            <a:ext cx="9373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B</a:t>
            </a:r>
            <a:r>
              <a:rPr lang="en-US" altLang="zh-CN" sz="1600" b="1" dirty="0">
                <a:solidFill>
                  <a:schemeClr val="bg1"/>
                </a:solidFill>
              </a:rPr>
              <a:t>efore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25" name="TextBox 49">
            <a:extLst>
              <a:ext uri="{FF2B5EF4-FFF2-40B4-BE49-F238E27FC236}">
                <a16:creationId xmlns:a16="http://schemas.microsoft.com/office/drawing/2014/main" id="{88DB61E7-0F0E-0A5B-3CF7-0C9A7E75F641}"/>
              </a:ext>
            </a:extLst>
          </p:cNvPr>
          <p:cNvSpPr txBox="1"/>
          <p:nvPr/>
        </p:nvSpPr>
        <p:spPr>
          <a:xfrm>
            <a:off x="183726" y="4306530"/>
            <a:ext cx="9373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</a:rPr>
              <a:t>After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8" name="TextBox 68">
            <a:extLst>
              <a:ext uri="{FF2B5EF4-FFF2-40B4-BE49-F238E27FC236}">
                <a16:creationId xmlns:a16="http://schemas.microsoft.com/office/drawing/2014/main" id="{7CDDFBBA-458C-4422-D482-2ED855589780}"/>
              </a:ext>
            </a:extLst>
          </p:cNvPr>
          <p:cNvSpPr txBox="1"/>
          <p:nvPr/>
        </p:nvSpPr>
        <p:spPr>
          <a:xfrm>
            <a:off x="235282" y="5633107"/>
            <a:ext cx="1098306" cy="954107"/>
          </a:xfrm>
          <a:prstGeom prst="rect">
            <a:avLst/>
          </a:prstGeom>
          <a:solidFill>
            <a:schemeClr val="accent1">
              <a:lumMod val="50000"/>
              <a:alpha val="2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chemeClr val="bg1"/>
                </a:solidFill>
              </a:rPr>
              <a:t>Item</a:t>
            </a:r>
          </a:p>
          <a:p>
            <a:r>
              <a:rPr lang="en-US" altLang="zh-CN" sz="1400" b="1" dirty="0">
                <a:solidFill>
                  <a:schemeClr val="bg1"/>
                </a:solidFill>
              </a:rPr>
              <a:t> </a:t>
            </a:r>
            <a:endParaRPr lang="en-US" altLang="zh-CN" sz="1400" b="1" dirty="0">
              <a:solidFill>
                <a:srgbClr val="FFFFFF"/>
              </a:solidFill>
            </a:endParaRPr>
          </a:p>
          <a:p>
            <a:endParaRPr lang="en-US" altLang="zh-CN" sz="1400" b="1" dirty="0">
              <a:solidFill>
                <a:srgbClr val="FFFFFF"/>
              </a:solidFill>
            </a:endParaRPr>
          </a:p>
          <a:p>
            <a:r>
              <a:rPr lang="en-US" altLang="zh-CN" sz="1400" b="1" dirty="0">
                <a:solidFill>
                  <a:srgbClr val="FFFFFF"/>
                </a:solidFill>
              </a:rPr>
              <a:t>Status</a:t>
            </a:r>
            <a:endParaRPr lang="en-US" sz="1400" b="1" dirty="0">
              <a:solidFill>
                <a:srgbClr val="FFFFFF"/>
              </a:solidFill>
            </a:endParaRPr>
          </a:p>
        </p:txBody>
      </p:sp>
      <p:cxnSp>
        <p:nvCxnSpPr>
          <p:cNvPr id="39" name="Straight Connector 69">
            <a:extLst>
              <a:ext uri="{FF2B5EF4-FFF2-40B4-BE49-F238E27FC236}">
                <a16:creationId xmlns:a16="http://schemas.microsoft.com/office/drawing/2014/main" id="{83323CBD-2394-E1ED-E1C9-6D09F8217E39}"/>
              </a:ext>
            </a:extLst>
          </p:cNvPr>
          <p:cNvCxnSpPr>
            <a:cxnSpLocks/>
          </p:cNvCxnSpPr>
          <p:nvPr/>
        </p:nvCxnSpPr>
        <p:spPr>
          <a:xfrm>
            <a:off x="235282" y="6122226"/>
            <a:ext cx="11729706" cy="4410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70">
            <a:extLst>
              <a:ext uri="{FF2B5EF4-FFF2-40B4-BE49-F238E27FC236}">
                <a16:creationId xmlns:a16="http://schemas.microsoft.com/office/drawing/2014/main" id="{5214ACF6-88E6-1C17-D91B-E0FF12BCB871}"/>
              </a:ext>
            </a:extLst>
          </p:cNvPr>
          <p:cNvCxnSpPr>
            <a:cxnSpLocks/>
          </p:cNvCxnSpPr>
          <p:nvPr/>
        </p:nvCxnSpPr>
        <p:spPr>
          <a:xfrm>
            <a:off x="235282" y="5638847"/>
            <a:ext cx="1172970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71">
            <a:extLst>
              <a:ext uri="{FF2B5EF4-FFF2-40B4-BE49-F238E27FC236}">
                <a16:creationId xmlns:a16="http://schemas.microsoft.com/office/drawing/2014/main" id="{245272C9-9DF9-7F1E-42B7-12F17457639B}"/>
              </a:ext>
            </a:extLst>
          </p:cNvPr>
          <p:cNvCxnSpPr>
            <a:cxnSpLocks/>
          </p:cNvCxnSpPr>
          <p:nvPr/>
        </p:nvCxnSpPr>
        <p:spPr>
          <a:xfrm>
            <a:off x="257774" y="6559303"/>
            <a:ext cx="1173797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群組 20">
            <a:extLst>
              <a:ext uri="{FF2B5EF4-FFF2-40B4-BE49-F238E27FC236}">
                <a16:creationId xmlns:a16="http://schemas.microsoft.com/office/drawing/2014/main" id="{D4F058B2-24EF-6887-62CB-DFAAAEB7C5DE}"/>
              </a:ext>
            </a:extLst>
          </p:cNvPr>
          <p:cNvGrpSpPr>
            <a:grpSpLocks/>
          </p:cNvGrpSpPr>
          <p:nvPr/>
        </p:nvGrpSpPr>
        <p:grpSpPr bwMode="auto">
          <a:xfrm>
            <a:off x="1166117" y="876788"/>
            <a:ext cx="2220532" cy="450445"/>
            <a:chOff x="-48051" y="382621"/>
            <a:chExt cx="1890437" cy="1081146"/>
          </a:xfrm>
          <a:noFill/>
        </p:grpSpPr>
        <p:sp>
          <p:nvSpPr>
            <p:cNvPr id="43" name="＞形箭號 21">
              <a:extLst>
                <a:ext uri="{FF2B5EF4-FFF2-40B4-BE49-F238E27FC236}">
                  <a16:creationId xmlns:a16="http://schemas.microsoft.com/office/drawing/2014/main" id="{A80159AC-3D5C-0D51-62BD-19BF09018AEF}"/>
                </a:ext>
              </a:extLst>
            </p:cNvPr>
            <p:cNvSpPr/>
            <p:nvPr/>
          </p:nvSpPr>
          <p:spPr>
            <a:xfrm>
              <a:off x="4241" y="382621"/>
              <a:ext cx="1838145" cy="987623"/>
            </a:xfrm>
            <a:prstGeom prst="chevron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1600" dirty="0"/>
            </a:p>
          </p:txBody>
        </p:sp>
        <p:sp>
          <p:nvSpPr>
            <p:cNvPr id="44" name="＞形箭號 4">
              <a:extLst>
                <a:ext uri="{FF2B5EF4-FFF2-40B4-BE49-F238E27FC236}">
                  <a16:creationId xmlns:a16="http://schemas.microsoft.com/office/drawing/2014/main" id="{9B89063F-9B16-7BCF-BF76-D774B757704E}"/>
                </a:ext>
              </a:extLst>
            </p:cNvPr>
            <p:cNvSpPr/>
            <p:nvPr/>
          </p:nvSpPr>
          <p:spPr>
            <a:xfrm>
              <a:off x="-48051" y="476144"/>
              <a:ext cx="1798428" cy="98762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0015" tIns="40005" rIns="40005" bIns="40005" spcCol="1270" anchor="ctr"/>
            <a:lstStyle/>
            <a:p>
              <a:pPr algn="ctr"/>
              <a:r>
                <a:rPr lang="vi-VN" altLang="zh-CN" sz="1200" b="1" dirty="0"/>
                <a:t>Step 1: </a:t>
              </a:r>
              <a:r>
                <a:rPr lang="en-US" altLang="zh-CN" sz="1200" b="1" dirty="0"/>
                <a:t>ME Edit Customer Word to Label PDF</a:t>
              </a:r>
            </a:p>
          </p:txBody>
        </p:sp>
      </p:grpSp>
      <p:grpSp>
        <p:nvGrpSpPr>
          <p:cNvPr id="45" name="群組 20">
            <a:extLst>
              <a:ext uri="{FF2B5EF4-FFF2-40B4-BE49-F238E27FC236}">
                <a16:creationId xmlns:a16="http://schemas.microsoft.com/office/drawing/2014/main" id="{ECA0C99A-FEAD-3EEC-C141-1DA40378C7F5}"/>
              </a:ext>
            </a:extLst>
          </p:cNvPr>
          <p:cNvGrpSpPr>
            <a:grpSpLocks/>
          </p:cNvGrpSpPr>
          <p:nvPr/>
        </p:nvGrpSpPr>
        <p:grpSpPr bwMode="auto">
          <a:xfrm>
            <a:off x="3133599" y="873301"/>
            <a:ext cx="4079929" cy="554225"/>
            <a:chOff x="4241" y="382621"/>
            <a:chExt cx="3438038" cy="1330236"/>
          </a:xfrm>
          <a:noFill/>
        </p:grpSpPr>
        <p:sp>
          <p:nvSpPr>
            <p:cNvPr id="46" name="＞形箭號 21">
              <a:extLst>
                <a:ext uri="{FF2B5EF4-FFF2-40B4-BE49-F238E27FC236}">
                  <a16:creationId xmlns:a16="http://schemas.microsoft.com/office/drawing/2014/main" id="{A9B96D62-ECAB-1FB7-4E1F-E69F6FBFBB96}"/>
                </a:ext>
              </a:extLst>
            </p:cNvPr>
            <p:cNvSpPr/>
            <p:nvPr/>
          </p:nvSpPr>
          <p:spPr>
            <a:xfrm>
              <a:off x="4241" y="382621"/>
              <a:ext cx="1838145" cy="987623"/>
            </a:xfrm>
            <a:prstGeom prst="chevron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1600" dirty="0"/>
            </a:p>
          </p:txBody>
        </p:sp>
        <p:sp>
          <p:nvSpPr>
            <p:cNvPr id="47" name="＞形箭號 4">
              <a:extLst>
                <a:ext uri="{FF2B5EF4-FFF2-40B4-BE49-F238E27FC236}">
                  <a16:creationId xmlns:a16="http://schemas.microsoft.com/office/drawing/2014/main" id="{84747D58-B26F-CE2C-9A78-792843E1BBA9}"/>
                </a:ext>
              </a:extLst>
            </p:cNvPr>
            <p:cNvSpPr/>
            <p:nvPr/>
          </p:nvSpPr>
          <p:spPr>
            <a:xfrm>
              <a:off x="7425" y="725234"/>
              <a:ext cx="3434854" cy="98762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0015" tIns="40005" rIns="40005" bIns="40005" spcCol="1270" anchor="ctr"/>
            <a:lstStyle/>
            <a:p>
              <a:pPr algn="ctr"/>
              <a:r>
                <a:rPr lang="vi-VN" altLang="zh-CN" sz="1200" b="1" dirty="0"/>
                <a:t>Step 2: </a:t>
              </a:r>
              <a:r>
                <a:rPr lang="en-US" altLang="zh-CN" sz="1200" b="1" dirty="0"/>
                <a:t>Design Label as ME Label PDF </a:t>
              </a:r>
              <a:endParaRPr lang="vi-VN" altLang="zh-CN" sz="1200" b="1" dirty="0"/>
            </a:p>
            <a:p>
              <a:pPr algn="ctr"/>
              <a:r>
                <a:rPr lang="en-US" altLang="zh-CN" sz="1200" b="1" dirty="0"/>
                <a:t>Connect to Zebra printers and print</a:t>
              </a:r>
            </a:p>
            <a:p>
              <a:pPr algn="ctr"/>
              <a:endParaRPr lang="en-US" sz="1200" b="1" dirty="0"/>
            </a:p>
          </p:txBody>
        </p:sp>
      </p:grpSp>
      <p:grpSp>
        <p:nvGrpSpPr>
          <p:cNvPr id="48" name="群組 20">
            <a:extLst>
              <a:ext uri="{FF2B5EF4-FFF2-40B4-BE49-F238E27FC236}">
                <a16:creationId xmlns:a16="http://schemas.microsoft.com/office/drawing/2014/main" id="{6C94B95C-A0E1-81B6-8736-88CB07B4C670}"/>
              </a:ext>
            </a:extLst>
          </p:cNvPr>
          <p:cNvGrpSpPr>
            <a:grpSpLocks/>
          </p:cNvGrpSpPr>
          <p:nvPr/>
        </p:nvGrpSpPr>
        <p:grpSpPr bwMode="auto">
          <a:xfrm>
            <a:off x="7089307" y="900178"/>
            <a:ext cx="2146110" cy="411480"/>
            <a:chOff x="4241" y="382621"/>
            <a:chExt cx="1838145" cy="987623"/>
          </a:xfrm>
          <a:noFill/>
        </p:grpSpPr>
        <p:sp>
          <p:nvSpPr>
            <p:cNvPr id="49" name="＞形箭號 21">
              <a:extLst>
                <a:ext uri="{FF2B5EF4-FFF2-40B4-BE49-F238E27FC236}">
                  <a16:creationId xmlns:a16="http://schemas.microsoft.com/office/drawing/2014/main" id="{D9805CE1-D0F0-ACF0-026A-038CD04E8BEB}"/>
                </a:ext>
              </a:extLst>
            </p:cNvPr>
            <p:cNvSpPr/>
            <p:nvPr/>
          </p:nvSpPr>
          <p:spPr>
            <a:xfrm>
              <a:off x="4241" y="382621"/>
              <a:ext cx="1838145" cy="987623"/>
            </a:xfrm>
            <a:prstGeom prst="chevron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1600" dirty="0"/>
            </a:p>
          </p:txBody>
        </p:sp>
        <p:sp>
          <p:nvSpPr>
            <p:cNvPr id="50" name="＞形箭號 4">
              <a:extLst>
                <a:ext uri="{FF2B5EF4-FFF2-40B4-BE49-F238E27FC236}">
                  <a16:creationId xmlns:a16="http://schemas.microsoft.com/office/drawing/2014/main" id="{37CDDBF1-216B-8032-8A1F-D49BF25718E7}"/>
                </a:ext>
              </a:extLst>
            </p:cNvPr>
            <p:cNvSpPr/>
            <p:nvPr/>
          </p:nvSpPr>
          <p:spPr>
            <a:xfrm>
              <a:off x="18744" y="382621"/>
              <a:ext cx="1751332" cy="98762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0015" tIns="40005" rIns="40005" bIns="40005" spcCol="1270" anchor="ctr"/>
            <a:lstStyle/>
            <a:p>
              <a:pPr algn="ctr"/>
              <a:r>
                <a:rPr lang="vi-VN" altLang="zh-CN" sz="1200" b="1" dirty="0"/>
                <a:t>Step 3: </a:t>
              </a:r>
              <a:r>
                <a:rPr lang="en-US" altLang="zh-CN" sz="1200" b="1" dirty="0"/>
                <a:t>Check the Printed file with designed file</a:t>
              </a:r>
              <a:endParaRPr lang="en-US" sz="1200" b="1" dirty="0"/>
            </a:p>
          </p:txBody>
        </p:sp>
      </p:grpSp>
      <p:grpSp>
        <p:nvGrpSpPr>
          <p:cNvPr id="51" name="群組 20">
            <a:extLst>
              <a:ext uri="{FF2B5EF4-FFF2-40B4-BE49-F238E27FC236}">
                <a16:creationId xmlns:a16="http://schemas.microsoft.com/office/drawing/2014/main" id="{890762F0-477A-8B82-3F66-4645536D71DF}"/>
              </a:ext>
            </a:extLst>
          </p:cNvPr>
          <p:cNvGrpSpPr>
            <a:grpSpLocks/>
          </p:cNvGrpSpPr>
          <p:nvPr/>
        </p:nvGrpSpPr>
        <p:grpSpPr bwMode="auto">
          <a:xfrm>
            <a:off x="9339826" y="849922"/>
            <a:ext cx="2819359" cy="465212"/>
            <a:chOff x="4045" y="382621"/>
            <a:chExt cx="2019187" cy="1116589"/>
          </a:xfrm>
          <a:noFill/>
        </p:grpSpPr>
        <p:sp>
          <p:nvSpPr>
            <p:cNvPr id="52" name="＞形箭號 21">
              <a:extLst>
                <a:ext uri="{FF2B5EF4-FFF2-40B4-BE49-F238E27FC236}">
                  <a16:creationId xmlns:a16="http://schemas.microsoft.com/office/drawing/2014/main" id="{5141105E-B05F-A3B1-7F64-60E61F0D09E3}"/>
                </a:ext>
              </a:extLst>
            </p:cNvPr>
            <p:cNvSpPr/>
            <p:nvPr/>
          </p:nvSpPr>
          <p:spPr>
            <a:xfrm>
              <a:off x="4241" y="382621"/>
              <a:ext cx="1838145" cy="987623"/>
            </a:xfrm>
            <a:prstGeom prst="chevron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1600" dirty="0"/>
            </a:p>
          </p:txBody>
        </p:sp>
        <p:sp>
          <p:nvSpPr>
            <p:cNvPr id="53" name="＞形箭號 4">
              <a:extLst>
                <a:ext uri="{FF2B5EF4-FFF2-40B4-BE49-F238E27FC236}">
                  <a16:creationId xmlns:a16="http://schemas.microsoft.com/office/drawing/2014/main" id="{F3A1FB70-C449-4388-9A98-3A2D316BEC8C}"/>
                </a:ext>
              </a:extLst>
            </p:cNvPr>
            <p:cNvSpPr/>
            <p:nvPr/>
          </p:nvSpPr>
          <p:spPr>
            <a:xfrm>
              <a:off x="4045" y="511587"/>
              <a:ext cx="2019187" cy="98762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0015" tIns="40005" rIns="40005" bIns="40005" spcCol="1270" anchor="ctr"/>
            <a:lstStyle/>
            <a:p>
              <a:pPr algn="ctr"/>
              <a:r>
                <a:rPr lang="vi-VN" altLang="zh-CN" sz="1200" b="1" dirty="0"/>
                <a:t>Step 4: </a:t>
              </a:r>
              <a:r>
                <a:rPr lang="en-US" altLang="zh-CN" sz="1200" b="1" dirty="0"/>
                <a:t>Connect to SFC to upload file to the Label Tracking System</a:t>
              </a:r>
              <a:endParaRPr lang="en-US" sz="1200" b="1" dirty="0"/>
            </a:p>
          </p:txBody>
        </p:sp>
      </p:grpSp>
      <p:grpSp>
        <p:nvGrpSpPr>
          <p:cNvPr id="57" name="群組 20">
            <a:extLst>
              <a:ext uri="{FF2B5EF4-FFF2-40B4-BE49-F238E27FC236}">
                <a16:creationId xmlns:a16="http://schemas.microsoft.com/office/drawing/2014/main" id="{DB4A969C-4654-C7F7-F97F-B0ECA62DE6E5}"/>
              </a:ext>
            </a:extLst>
          </p:cNvPr>
          <p:cNvGrpSpPr>
            <a:grpSpLocks/>
          </p:cNvGrpSpPr>
          <p:nvPr/>
        </p:nvGrpSpPr>
        <p:grpSpPr bwMode="auto">
          <a:xfrm>
            <a:off x="227011" y="876788"/>
            <a:ext cx="1145331" cy="411480"/>
            <a:chOff x="4241" y="382621"/>
            <a:chExt cx="1838145" cy="987623"/>
          </a:xfrm>
          <a:noFill/>
        </p:grpSpPr>
        <p:sp>
          <p:nvSpPr>
            <p:cNvPr id="58" name="＞形箭號 21">
              <a:extLst>
                <a:ext uri="{FF2B5EF4-FFF2-40B4-BE49-F238E27FC236}">
                  <a16:creationId xmlns:a16="http://schemas.microsoft.com/office/drawing/2014/main" id="{BD5F5510-FAA9-19F7-BDA1-EB7A6D04842F}"/>
                </a:ext>
              </a:extLst>
            </p:cNvPr>
            <p:cNvSpPr/>
            <p:nvPr/>
          </p:nvSpPr>
          <p:spPr>
            <a:xfrm>
              <a:off x="4241" y="382621"/>
              <a:ext cx="1838145" cy="987623"/>
            </a:xfrm>
            <a:prstGeom prst="chevron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 sz="2400" dirty="0"/>
            </a:p>
          </p:txBody>
        </p:sp>
        <p:sp>
          <p:nvSpPr>
            <p:cNvPr id="59" name="＞形箭號 4">
              <a:extLst>
                <a:ext uri="{FF2B5EF4-FFF2-40B4-BE49-F238E27FC236}">
                  <a16:creationId xmlns:a16="http://schemas.microsoft.com/office/drawing/2014/main" id="{14FAD20E-52C6-6B92-DDF8-C61E538E2C19}"/>
                </a:ext>
              </a:extLst>
            </p:cNvPr>
            <p:cNvSpPr/>
            <p:nvPr/>
          </p:nvSpPr>
          <p:spPr>
            <a:xfrm>
              <a:off x="18745" y="382621"/>
              <a:ext cx="1772501" cy="98762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120015" tIns="40005" rIns="40005" bIns="40005" spcCol="1270" anchor="ctr"/>
            <a:lstStyle/>
            <a:p>
              <a:r>
                <a:rPr lang="en-US" sz="1600" b="1" dirty="0"/>
                <a:t>Improve</a:t>
              </a:r>
            </a:p>
          </p:txBody>
        </p:sp>
      </p:grpSp>
      <p:cxnSp>
        <p:nvCxnSpPr>
          <p:cNvPr id="69" name="Straight Connector 71">
            <a:extLst>
              <a:ext uri="{FF2B5EF4-FFF2-40B4-BE49-F238E27FC236}">
                <a16:creationId xmlns:a16="http://schemas.microsoft.com/office/drawing/2014/main" id="{233F949C-E9BF-C2C9-BBB0-F32D836FC326}"/>
              </a:ext>
            </a:extLst>
          </p:cNvPr>
          <p:cNvCxnSpPr>
            <a:cxnSpLocks/>
          </p:cNvCxnSpPr>
          <p:nvPr/>
        </p:nvCxnSpPr>
        <p:spPr>
          <a:xfrm>
            <a:off x="227011" y="880452"/>
            <a:ext cx="1173797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71">
            <a:extLst>
              <a:ext uri="{FF2B5EF4-FFF2-40B4-BE49-F238E27FC236}">
                <a16:creationId xmlns:a16="http://schemas.microsoft.com/office/drawing/2014/main" id="{8290867D-0E45-C134-B878-16D2A48E90F2}"/>
              </a:ext>
            </a:extLst>
          </p:cNvPr>
          <p:cNvCxnSpPr>
            <a:cxnSpLocks/>
          </p:cNvCxnSpPr>
          <p:nvPr/>
        </p:nvCxnSpPr>
        <p:spPr>
          <a:xfrm>
            <a:off x="227011" y="1358999"/>
            <a:ext cx="1173797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圖片 6">
            <a:extLst>
              <a:ext uri="{FF2B5EF4-FFF2-40B4-BE49-F238E27FC236}">
                <a16:creationId xmlns:a16="http://schemas.microsoft.com/office/drawing/2014/main" id="{80FA2DF4-FF46-F781-D362-183CF7B04FE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262" y="160105"/>
            <a:ext cx="2196726" cy="345983"/>
          </a:xfrm>
          <a:prstGeom prst="rect">
            <a:avLst/>
          </a:prstGeom>
        </p:spPr>
      </p:pic>
      <p:sp>
        <p:nvSpPr>
          <p:cNvPr id="60" name="TextBox 39">
            <a:extLst>
              <a:ext uri="{FF2B5EF4-FFF2-40B4-BE49-F238E27FC236}">
                <a16:creationId xmlns:a16="http://schemas.microsoft.com/office/drawing/2014/main" id="{ECD0FABF-819D-239E-3AEE-52C0627CBA08}"/>
              </a:ext>
            </a:extLst>
          </p:cNvPr>
          <p:cNvSpPr txBox="1"/>
          <p:nvPr/>
        </p:nvSpPr>
        <p:spPr>
          <a:xfrm>
            <a:off x="3884321" y="5649424"/>
            <a:ext cx="268748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</a:rPr>
              <a:t>Auto Design Label and send to printers</a:t>
            </a:r>
          </a:p>
          <a:p>
            <a:pPr algn="ctr"/>
            <a:r>
              <a:rPr lang="en-US" altLang="zh-CN" sz="1400" b="1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 sz="1400" b="1" dirty="0">
                <a:solidFill>
                  <a:srgbClr val="00B050"/>
                </a:solidFill>
              </a:rPr>
              <a:t>Evaluating</a:t>
            </a:r>
            <a:endParaRPr lang="vi-VN" sz="1400" b="1" dirty="0">
              <a:solidFill>
                <a:srgbClr val="00B050"/>
              </a:solidFill>
            </a:endParaRPr>
          </a:p>
          <a:p>
            <a:pPr algn="ctr"/>
            <a:r>
              <a:rPr lang="vi-VN" sz="1400" b="1" dirty="0">
                <a:solidFill>
                  <a:srgbClr val="00B050"/>
                </a:solidFill>
              </a:rPr>
              <a:t>Level of difficulty: High</a:t>
            </a:r>
            <a:endParaRPr lang="en-US" sz="1400" b="1" dirty="0">
              <a:solidFill>
                <a:srgbClr val="00B050"/>
              </a:solidFill>
            </a:endParaRPr>
          </a:p>
        </p:txBody>
      </p:sp>
      <p:sp>
        <p:nvSpPr>
          <p:cNvPr id="63" name="TextBox 39">
            <a:extLst>
              <a:ext uri="{FF2B5EF4-FFF2-40B4-BE49-F238E27FC236}">
                <a16:creationId xmlns:a16="http://schemas.microsoft.com/office/drawing/2014/main" id="{ECD0FABF-819D-239E-3AEE-52C0627CBA08}"/>
              </a:ext>
            </a:extLst>
          </p:cNvPr>
          <p:cNvSpPr txBox="1"/>
          <p:nvPr/>
        </p:nvSpPr>
        <p:spPr>
          <a:xfrm>
            <a:off x="9838592" y="5639563"/>
            <a:ext cx="217965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</a:rPr>
              <a:t>Auto connect SFC and check signing status</a:t>
            </a:r>
          </a:p>
          <a:p>
            <a:pPr algn="ctr"/>
            <a:r>
              <a:rPr lang="en-US" altLang="zh-CN" sz="1400" b="1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 sz="1400" b="1" dirty="0">
                <a:solidFill>
                  <a:srgbClr val="00B050"/>
                </a:solidFill>
              </a:rPr>
              <a:t>Evaluating</a:t>
            </a:r>
            <a:endParaRPr lang="vi-VN" sz="1400" b="1" dirty="0">
              <a:solidFill>
                <a:srgbClr val="00B050"/>
              </a:solidFill>
            </a:endParaRPr>
          </a:p>
          <a:p>
            <a:pPr algn="ctr"/>
            <a:r>
              <a:rPr lang="vi-VN" sz="1400" b="1" dirty="0">
                <a:solidFill>
                  <a:srgbClr val="00B050"/>
                </a:solidFill>
              </a:rPr>
              <a:t>Level of difficulty: Low</a:t>
            </a:r>
            <a:endParaRPr lang="en-US" sz="1400" b="1" dirty="0">
              <a:solidFill>
                <a:srgbClr val="00B050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310" y="2548583"/>
            <a:ext cx="958406" cy="683988"/>
          </a:xfrm>
          <a:prstGeom prst="roundRect">
            <a:avLst>
              <a:gd name="adj" fmla="val 8594"/>
            </a:avLst>
          </a:prstGeom>
          <a:solidFill>
            <a:schemeClr val="accent1">
              <a:alpha val="30000"/>
            </a:schemeClr>
          </a:solidFill>
          <a:ln>
            <a:solidFill>
              <a:srgbClr val="0099FF"/>
            </a:solidFill>
          </a:ln>
        </p:spPr>
      </p:pic>
      <p:sp>
        <p:nvSpPr>
          <p:cNvPr id="64" name="＞形箭號 4">
            <a:extLst>
              <a:ext uri="{FF2B5EF4-FFF2-40B4-BE49-F238E27FC236}">
                <a16:creationId xmlns:a16="http://schemas.microsoft.com/office/drawing/2014/main" id="{9B89063F-9B16-7BCF-BF76-D774B757704E}"/>
              </a:ext>
            </a:extLst>
          </p:cNvPr>
          <p:cNvSpPr/>
          <p:nvPr/>
        </p:nvSpPr>
        <p:spPr bwMode="auto">
          <a:xfrm>
            <a:off x="959785" y="520043"/>
            <a:ext cx="2112457" cy="41148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20015" tIns="40005" rIns="40005" bIns="40005" spcCol="127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ME</a:t>
            </a:r>
          </a:p>
        </p:txBody>
      </p:sp>
      <p:sp>
        <p:nvSpPr>
          <p:cNvPr id="65" name="＞形箭號 4">
            <a:extLst>
              <a:ext uri="{FF2B5EF4-FFF2-40B4-BE49-F238E27FC236}">
                <a16:creationId xmlns:a16="http://schemas.microsoft.com/office/drawing/2014/main" id="{9B89063F-9B16-7BCF-BF76-D774B757704E}"/>
              </a:ext>
            </a:extLst>
          </p:cNvPr>
          <p:cNvSpPr/>
          <p:nvPr/>
        </p:nvSpPr>
        <p:spPr bwMode="auto">
          <a:xfrm>
            <a:off x="3815933" y="539952"/>
            <a:ext cx="2130449" cy="41148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20015" tIns="40005" rIns="40005" bIns="40005" spcCol="127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Label Room</a:t>
            </a: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348" y="2579385"/>
            <a:ext cx="782263" cy="632388"/>
          </a:xfrm>
          <a:prstGeom prst="roundRect">
            <a:avLst>
              <a:gd name="adj" fmla="val 8594"/>
            </a:avLst>
          </a:prstGeom>
          <a:solidFill>
            <a:schemeClr val="accent1">
              <a:alpha val="30000"/>
            </a:schemeClr>
          </a:solidFill>
          <a:ln>
            <a:solidFill>
              <a:srgbClr val="0099FF"/>
            </a:solidFill>
          </a:ln>
        </p:spPr>
      </p:pic>
      <p:sp>
        <p:nvSpPr>
          <p:cNvPr id="66" name="＞形箭號 4">
            <a:extLst>
              <a:ext uri="{FF2B5EF4-FFF2-40B4-BE49-F238E27FC236}">
                <a16:creationId xmlns:a16="http://schemas.microsoft.com/office/drawing/2014/main" id="{9B89063F-9B16-7BCF-BF76-D774B757704E}"/>
              </a:ext>
            </a:extLst>
          </p:cNvPr>
          <p:cNvSpPr/>
          <p:nvPr/>
        </p:nvSpPr>
        <p:spPr bwMode="auto">
          <a:xfrm>
            <a:off x="7097137" y="513508"/>
            <a:ext cx="2130449" cy="41148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20015" tIns="40005" rIns="40005" bIns="40005" spcCol="1270" anchor="ctr"/>
          <a:lstStyle/>
          <a:p>
            <a:pPr algn="ctr"/>
            <a:r>
              <a:rPr lang="vi-VN" sz="1200" b="1" dirty="0">
                <a:solidFill>
                  <a:schemeClr val="accent1"/>
                </a:solidFill>
              </a:rPr>
              <a:t>Label Room</a:t>
            </a:r>
            <a:endParaRPr lang="en-US" sz="1200" b="1" dirty="0">
              <a:solidFill>
                <a:schemeClr val="accent1"/>
              </a:solidFill>
            </a:endParaRPr>
          </a:p>
        </p:txBody>
      </p:sp>
      <p:sp>
        <p:nvSpPr>
          <p:cNvPr id="67" name="＞形箭號 4">
            <a:extLst>
              <a:ext uri="{FF2B5EF4-FFF2-40B4-BE49-F238E27FC236}">
                <a16:creationId xmlns:a16="http://schemas.microsoft.com/office/drawing/2014/main" id="{14FAD20E-52C6-6B92-DDF8-C61E538E2C19}"/>
              </a:ext>
            </a:extLst>
          </p:cNvPr>
          <p:cNvSpPr/>
          <p:nvPr/>
        </p:nvSpPr>
        <p:spPr bwMode="auto">
          <a:xfrm>
            <a:off x="216117" y="506088"/>
            <a:ext cx="1104429" cy="41148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20015" tIns="40005" rIns="40005" bIns="40005" spcCol="1270" anchor="ctr"/>
          <a:lstStyle/>
          <a:p>
            <a:r>
              <a:rPr lang="en-US" sz="1600" b="1" dirty="0"/>
              <a:t>Owner</a:t>
            </a:r>
          </a:p>
        </p:txBody>
      </p:sp>
      <p:pic>
        <p:nvPicPr>
          <p:cNvPr id="28" name="圖片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3317" y="2060293"/>
            <a:ext cx="1029081" cy="1010674"/>
          </a:xfrm>
          <a:prstGeom prst="roundRect">
            <a:avLst>
              <a:gd name="adj" fmla="val 8594"/>
            </a:avLst>
          </a:prstGeom>
          <a:solidFill>
            <a:schemeClr val="accent1">
              <a:alpha val="30000"/>
            </a:schemeClr>
          </a:solidFill>
          <a:ln>
            <a:solidFill>
              <a:srgbClr val="0099FF"/>
            </a:solidFill>
          </a:ln>
        </p:spPr>
      </p:pic>
      <p:pic>
        <p:nvPicPr>
          <p:cNvPr id="68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1864" y="1666446"/>
            <a:ext cx="955632" cy="745865"/>
          </a:xfrm>
          <a:prstGeom prst="roundRect">
            <a:avLst>
              <a:gd name="adj" fmla="val 8594"/>
            </a:avLst>
          </a:prstGeom>
          <a:solidFill>
            <a:schemeClr val="accent1">
              <a:alpha val="30000"/>
            </a:schemeClr>
          </a:solidFill>
          <a:ln>
            <a:solidFill>
              <a:srgbClr val="0099FF"/>
            </a:solidFill>
          </a:ln>
        </p:spPr>
      </p:pic>
      <p:pic>
        <p:nvPicPr>
          <p:cNvPr id="29" name="圖片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99795" y="2022582"/>
            <a:ext cx="976404" cy="877981"/>
          </a:xfrm>
          <a:prstGeom prst="roundRect">
            <a:avLst>
              <a:gd name="adj" fmla="val 8594"/>
            </a:avLst>
          </a:prstGeom>
          <a:solidFill>
            <a:schemeClr val="accent1">
              <a:alpha val="30000"/>
            </a:schemeClr>
          </a:solidFill>
          <a:ln>
            <a:solidFill>
              <a:srgbClr val="0099FF"/>
            </a:solidFill>
          </a:ln>
        </p:spPr>
      </p:pic>
      <p:sp>
        <p:nvSpPr>
          <p:cNvPr id="73" name="＞形箭號 4">
            <a:extLst>
              <a:ext uri="{FF2B5EF4-FFF2-40B4-BE49-F238E27FC236}">
                <a16:creationId xmlns:a16="http://schemas.microsoft.com/office/drawing/2014/main" id="{9B89063F-9B16-7BCF-BF76-D774B757704E}"/>
              </a:ext>
            </a:extLst>
          </p:cNvPr>
          <p:cNvSpPr/>
          <p:nvPr/>
        </p:nvSpPr>
        <p:spPr bwMode="auto">
          <a:xfrm>
            <a:off x="9758933" y="498013"/>
            <a:ext cx="2130449" cy="411480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20015" tIns="40005" rIns="40005" bIns="40005" spcCol="1270" anchor="ctr"/>
          <a:lstStyle/>
          <a:p>
            <a:pPr algn="ctr"/>
            <a:r>
              <a:rPr lang="en-US" sz="1200" b="1" dirty="0">
                <a:solidFill>
                  <a:schemeClr val="accent1"/>
                </a:solidFill>
              </a:rPr>
              <a:t>Label Room</a:t>
            </a:r>
          </a:p>
        </p:txBody>
      </p:sp>
      <p:sp>
        <p:nvSpPr>
          <p:cNvPr id="15" name="TextBox 39">
            <a:extLst>
              <a:ext uri="{FF2B5EF4-FFF2-40B4-BE49-F238E27FC236}">
                <a16:creationId xmlns:a16="http://schemas.microsoft.com/office/drawing/2014/main" id="{ECD0FABF-819D-239E-3AEE-52C0627CBA08}"/>
              </a:ext>
            </a:extLst>
          </p:cNvPr>
          <p:cNvSpPr txBox="1"/>
          <p:nvPr/>
        </p:nvSpPr>
        <p:spPr>
          <a:xfrm>
            <a:off x="850947" y="5631376"/>
            <a:ext cx="235507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</a:rPr>
              <a:t>Auto read Word file and collect label info)</a:t>
            </a:r>
          </a:p>
          <a:p>
            <a:pPr algn="ctr"/>
            <a:endParaRPr lang="en-US" altLang="zh-CN" sz="1400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1400" b="1" dirty="0">
                <a:solidFill>
                  <a:schemeClr val="bg1"/>
                </a:solidFill>
              </a:rPr>
              <a:t>   </a:t>
            </a:r>
            <a:r>
              <a:rPr lang="en-US" altLang="zh-CN" sz="1400" b="1" dirty="0">
                <a:solidFill>
                  <a:srgbClr val="00B050"/>
                </a:solidFill>
              </a:rPr>
              <a:t>On progress</a:t>
            </a:r>
          </a:p>
          <a:p>
            <a:pPr algn="ctr"/>
            <a:r>
              <a:rPr lang="vi-VN" sz="1400" b="1" dirty="0">
                <a:solidFill>
                  <a:srgbClr val="00B050"/>
                </a:solidFill>
              </a:rPr>
              <a:t>Level of difficulty: High</a:t>
            </a:r>
            <a:endParaRPr lang="en-US" sz="1400" b="1" dirty="0">
              <a:solidFill>
                <a:srgbClr val="00B050"/>
              </a:solidFill>
            </a:endParaRPr>
          </a:p>
        </p:txBody>
      </p:sp>
      <p:sp>
        <p:nvSpPr>
          <p:cNvPr id="62" name="TextBox 39">
            <a:extLst>
              <a:ext uri="{FF2B5EF4-FFF2-40B4-BE49-F238E27FC236}">
                <a16:creationId xmlns:a16="http://schemas.microsoft.com/office/drawing/2014/main" id="{ECD0FABF-819D-239E-3AEE-52C0627CBA08}"/>
              </a:ext>
            </a:extLst>
          </p:cNvPr>
          <p:cNvSpPr txBox="1"/>
          <p:nvPr/>
        </p:nvSpPr>
        <p:spPr>
          <a:xfrm>
            <a:off x="6974244" y="5315580"/>
            <a:ext cx="25663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Auto CCD Checking: Compare printed label and designed label</a:t>
            </a:r>
          </a:p>
          <a:p>
            <a:r>
              <a:rPr lang="en-US" altLang="zh-CN" sz="1200" b="1" dirty="0">
                <a:solidFill>
                  <a:schemeClr val="bg1"/>
                </a:solidFill>
              </a:rPr>
              <a:t>Reason not to implement: Auto design so won’t have the errors between printed one and designed one. Label room has already have barcode verifier</a:t>
            </a:r>
          </a:p>
        </p:txBody>
      </p:sp>
      <p:sp>
        <p:nvSpPr>
          <p:cNvPr id="54" name="TextBox 46"/>
          <p:cNvSpPr txBox="1"/>
          <p:nvPr/>
        </p:nvSpPr>
        <p:spPr>
          <a:xfrm>
            <a:off x="1343555" y="4044580"/>
            <a:ext cx="1436804" cy="769441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prstClr val="white"/>
                </a:solidFill>
                <a:latin typeface="微软雅黑" panose="020F0502020204030204"/>
                <a:ea typeface="微软雅黑"/>
              </a:rPr>
              <a:t>1. </a:t>
            </a:r>
            <a:r>
              <a:rPr lang="vi-VN" sz="1100" dirty="0">
                <a:solidFill>
                  <a:prstClr val="white"/>
                </a:solidFill>
                <a:latin typeface="微软雅黑" panose="020F0502020204030204"/>
                <a:ea typeface="微软雅黑"/>
              </a:rPr>
              <a:t>ME</a:t>
            </a:r>
            <a:r>
              <a:rPr lang="en-US" sz="1100" dirty="0">
                <a:solidFill>
                  <a:prstClr val="white"/>
                </a:solidFill>
                <a:latin typeface="微软雅黑" panose="020F0502020204030204"/>
                <a:ea typeface="微软雅黑"/>
              </a:rPr>
              <a:t> Upload</a:t>
            </a:r>
          </a:p>
          <a:p>
            <a:r>
              <a:rPr lang="en-US" sz="1100" dirty="0">
                <a:solidFill>
                  <a:prstClr val="white"/>
                </a:solidFill>
                <a:latin typeface="微软雅黑" panose="020F0502020204030204"/>
                <a:ea typeface="微软雅黑"/>
              </a:rPr>
              <a:t>2. Sys Analysis</a:t>
            </a:r>
            <a:endParaRPr lang="vi-VN" sz="1100" dirty="0">
              <a:solidFill>
                <a:prstClr val="white"/>
              </a:solidFill>
              <a:latin typeface="微软雅黑" panose="020F0502020204030204"/>
              <a:ea typeface="微软雅黑"/>
            </a:endParaRPr>
          </a:p>
          <a:p>
            <a:r>
              <a:rPr lang="vi-VN" sz="1100" dirty="0">
                <a:solidFill>
                  <a:prstClr val="white"/>
                </a:solidFill>
                <a:latin typeface="微软雅黑" panose="020F0502020204030204"/>
                <a:ea typeface="微软雅黑"/>
              </a:rPr>
              <a:t>3. ME cfm</a:t>
            </a:r>
            <a:endParaRPr lang="en-US" sz="1100" dirty="0">
              <a:solidFill>
                <a:prstClr val="white"/>
              </a:solidFill>
              <a:latin typeface="微软雅黑" panose="020F0502020204030204"/>
              <a:ea typeface="微软雅黑"/>
            </a:endParaRPr>
          </a:p>
          <a:p>
            <a:r>
              <a:rPr lang="vi-VN" sz="1100" dirty="0">
                <a:solidFill>
                  <a:prstClr val="white"/>
                </a:solidFill>
                <a:latin typeface="微软雅黑" panose="020F0502020204030204"/>
                <a:ea typeface="微软雅黑"/>
              </a:rPr>
              <a:t>4</a:t>
            </a:r>
            <a:r>
              <a:rPr lang="en-US" sz="1100" dirty="0">
                <a:solidFill>
                  <a:prstClr val="white"/>
                </a:solidFill>
                <a:latin typeface="微软雅黑" panose="020F0502020204030204"/>
                <a:ea typeface="微软雅黑"/>
              </a:rPr>
              <a:t>. Upload DB</a:t>
            </a:r>
          </a:p>
        </p:txBody>
      </p:sp>
      <p:sp>
        <p:nvSpPr>
          <p:cNvPr id="55" name="TextBox 49"/>
          <p:cNvSpPr txBox="1"/>
          <p:nvPr/>
        </p:nvSpPr>
        <p:spPr>
          <a:xfrm>
            <a:off x="4492464" y="4044580"/>
            <a:ext cx="1497626" cy="738664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vi-VN" sz="1050" dirty="0">
                <a:solidFill>
                  <a:schemeClr val="bg1"/>
                </a:solidFill>
              </a:rPr>
              <a:t>1</a:t>
            </a:r>
            <a:r>
              <a:rPr lang="en-US" sz="1050" dirty="0">
                <a:solidFill>
                  <a:schemeClr val="bg1"/>
                </a:solidFill>
              </a:rPr>
              <a:t>. Sys Auto </a:t>
            </a:r>
            <a:r>
              <a:rPr lang="vi-VN" sz="1050" dirty="0">
                <a:solidFill>
                  <a:schemeClr val="bg1"/>
                </a:solidFill>
              </a:rPr>
              <a:t>Design Label</a:t>
            </a:r>
            <a:endParaRPr lang="en-US" sz="1050" dirty="0">
              <a:solidFill>
                <a:schemeClr val="bg1"/>
              </a:solidFill>
            </a:endParaRPr>
          </a:p>
          <a:p>
            <a:r>
              <a:rPr lang="vi-VN" sz="1050" dirty="0">
                <a:solidFill>
                  <a:schemeClr val="bg1"/>
                </a:solidFill>
              </a:rPr>
              <a:t>2</a:t>
            </a:r>
            <a:r>
              <a:rPr lang="en-US" sz="1050" dirty="0">
                <a:solidFill>
                  <a:schemeClr val="bg1"/>
                </a:solidFill>
              </a:rPr>
              <a:t>. </a:t>
            </a:r>
            <a:r>
              <a:rPr lang="vi-VN" sz="1050" dirty="0">
                <a:solidFill>
                  <a:schemeClr val="bg1"/>
                </a:solidFill>
              </a:rPr>
              <a:t>Label Room cfm</a:t>
            </a:r>
          </a:p>
          <a:p>
            <a:r>
              <a:rPr lang="vi-VN" sz="1050" dirty="0">
                <a:solidFill>
                  <a:schemeClr val="bg1"/>
                </a:solidFill>
              </a:rPr>
              <a:t>3. Print Label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56" name="Rounded Rectangle 3">
            <a:extLst>
              <a:ext uri="{FF2B5EF4-FFF2-40B4-BE49-F238E27FC236}">
                <a16:creationId xmlns:a16="http://schemas.microsoft.com/office/drawing/2014/main" id="{39CA9354-DA4B-FB5A-0127-CEEE3B7377AA}"/>
              </a:ext>
            </a:extLst>
          </p:cNvPr>
          <p:cNvSpPr/>
          <p:nvPr/>
        </p:nvSpPr>
        <p:spPr>
          <a:xfrm>
            <a:off x="7314385" y="3701302"/>
            <a:ext cx="1761295" cy="1345679"/>
          </a:xfrm>
          <a:prstGeom prst="roundRect">
            <a:avLst/>
          </a:prstGeom>
          <a:solidFill>
            <a:schemeClr val="accent1">
              <a:alpha val="30000"/>
            </a:schemeClr>
          </a:solidFill>
          <a:ln>
            <a:solidFill>
              <a:srgbClr val="00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Not to implement</a:t>
            </a:r>
            <a:endParaRPr lang="en-US" dirty="0"/>
          </a:p>
        </p:txBody>
      </p:sp>
      <p:sp>
        <p:nvSpPr>
          <p:cNvPr id="61" name="TextBox 49"/>
          <p:cNvSpPr txBox="1"/>
          <p:nvPr/>
        </p:nvSpPr>
        <p:spPr>
          <a:xfrm>
            <a:off x="10085385" y="4183089"/>
            <a:ext cx="1497626" cy="36933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vi-VN" sz="900" dirty="0">
                <a:solidFill>
                  <a:schemeClr val="bg1"/>
                </a:solidFill>
              </a:rPr>
              <a:t>1. </a:t>
            </a:r>
            <a:r>
              <a:rPr lang="en-US" sz="900" dirty="0">
                <a:solidFill>
                  <a:schemeClr val="bg1"/>
                </a:solidFill>
              </a:rPr>
              <a:t>Sys </a:t>
            </a:r>
            <a:r>
              <a:rPr lang="vi-VN" sz="900" dirty="0">
                <a:solidFill>
                  <a:schemeClr val="bg1"/>
                </a:solidFill>
              </a:rPr>
              <a:t>Link with SFC</a:t>
            </a:r>
          </a:p>
          <a:p>
            <a:r>
              <a:rPr lang="vi-VN" sz="900" dirty="0">
                <a:solidFill>
                  <a:schemeClr val="bg1"/>
                </a:solidFill>
              </a:rPr>
              <a:t>2. Upload Label to LTS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290867D-0E45-C134-B878-16D2A48E90F2}"/>
              </a:ext>
            </a:extLst>
          </p:cNvPr>
          <p:cNvCxnSpPr>
            <a:cxnSpLocks/>
          </p:cNvCxnSpPr>
          <p:nvPr/>
        </p:nvCxnSpPr>
        <p:spPr>
          <a:xfrm>
            <a:off x="3474729" y="1573728"/>
            <a:ext cx="36518" cy="369265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1">
            <a:extLst>
              <a:ext uri="{FF2B5EF4-FFF2-40B4-BE49-F238E27FC236}">
                <a16:creationId xmlns:a16="http://schemas.microsoft.com/office/drawing/2014/main" id="{8290867D-0E45-C134-B878-16D2A48E90F2}"/>
              </a:ext>
            </a:extLst>
          </p:cNvPr>
          <p:cNvCxnSpPr>
            <a:cxnSpLocks/>
          </p:cNvCxnSpPr>
          <p:nvPr/>
        </p:nvCxnSpPr>
        <p:spPr>
          <a:xfrm>
            <a:off x="6919305" y="1521082"/>
            <a:ext cx="36518" cy="369265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71">
            <a:extLst>
              <a:ext uri="{FF2B5EF4-FFF2-40B4-BE49-F238E27FC236}">
                <a16:creationId xmlns:a16="http://schemas.microsoft.com/office/drawing/2014/main" id="{8290867D-0E45-C134-B878-16D2A48E90F2}"/>
              </a:ext>
            </a:extLst>
          </p:cNvPr>
          <p:cNvCxnSpPr>
            <a:cxnSpLocks/>
          </p:cNvCxnSpPr>
          <p:nvPr/>
        </p:nvCxnSpPr>
        <p:spPr>
          <a:xfrm>
            <a:off x="9439623" y="1547482"/>
            <a:ext cx="36518" cy="369265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圖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4303" y="1658780"/>
            <a:ext cx="791603" cy="677671"/>
          </a:xfrm>
          <a:prstGeom prst="roundRect">
            <a:avLst>
              <a:gd name="adj" fmla="val 8594"/>
            </a:avLst>
          </a:prstGeom>
          <a:solidFill>
            <a:schemeClr val="accent1">
              <a:alpha val="30000"/>
            </a:schemeClr>
          </a:solidFill>
          <a:ln>
            <a:solidFill>
              <a:srgbClr val="0099FF"/>
            </a:solidFill>
          </a:ln>
        </p:spPr>
      </p:pic>
      <p:cxnSp>
        <p:nvCxnSpPr>
          <p:cNvPr id="10" name="直線單箭頭接點 9"/>
          <p:cNvCxnSpPr>
            <a:stCxn id="8" idx="2"/>
            <a:endCxn id="9" idx="0"/>
          </p:cNvCxnSpPr>
          <p:nvPr/>
        </p:nvCxnSpPr>
        <p:spPr>
          <a:xfrm flipH="1">
            <a:off x="1398480" y="2336451"/>
            <a:ext cx="1625" cy="242934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46"/>
          <p:cNvSpPr txBox="1"/>
          <p:nvPr/>
        </p:nvSpPr>
        <p:spPr>
          <a:xfrm>
            <a:off x="2082626" y="1808557"/>
            <a:ext cx="1142511" cy="127727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prstClr val="white"/>
                </a:solidFill>
                <a:latin typeface="微软雅黑" panose="020F0502020204030204"/>
                <a:ea typeface="微软雅黑"/>
              </a:rPr>
              <a:t>1. </a:t>
            </a:r>
            <a:r>
              <a:rPr lang="vi-VN" sz="1100" dirty="0">
                <a:solidFill>
                  <a:prstClr val="white"/>
                </a:solidFill>
                <a:latin typeface="微软雅黑" panose="020F0502020204030204"/>
                <a:ea typeface="微软雅黑"/>
              </a:rPr>
              <a:t>ME</a:t>
            </a:r>
            <a:r>
              <a:rPr lang="en-US" sz="1100" dirty="0">
                <a:solidFill>
                  <a:prstClr val="white"/>
                </a:solidFill>
                <a:latin typeface="微软雅黑" panose="020F0502020204030204"/>
                <a:ea typeface="微软雅黑"/>
              </a:rPr>
              <a:t> Read Word</a:t>
            </a:r>
          </a:p>
          <a:p>
            <a:r>
              <a:rPr lang="en-US" sz="1100" dirty="0">
                <a:solidFill>
                  <a:prstClr val="white"/>
                </a:solidFill>
                <a:latin typeface="微软雅黑" panose="020F0502020204030204"/>
                <a:ea typeface="微软雅黑"/>
              </a:rPr>
              <a:t>2. ME edit to PDF Label </a:t>
            </a:r>
            <a:endParaRPr lang="vi-VN" sz="1100" dirty="0">
              <a:solidFill>
                <a:prstClr val="white"/>
              </a:solidFill>
              <a:latin typeface="微软雅黑" panose="020F0502020204030204"/>
              <a:ea typeface="微软雅黑"/>
            </a:endParaRPr>
          </a:p>
          <a:p>
            <a:r>
              <a:rPr lang="vi-VN" sz="1100" dirty="0">
                <a:solidFill>
                  <a:prstClr val="white"/>
                </a:solidFill>
                <a:latin typeface="微软雅黑" panose="020F0502020204030204"/>
                <a:ea typeface="微软雅黑"/>
              </a:rPr>
              <a:t>3. </a:t>
            </a:r>
            <a:r>
              <a:rPr lang="en-US" sz="1100" dirty="0">
                <a:solidFill>
                  <a:prstClr val="white"/>
                </a:solidFill>
                <a:latin typeface="微软雅黑" panose="020F0502020204030204"/>
                <a:ea typeface="微软雅黑"/>
              </a:rPr>
              <a:t>ME send to PDF to Label Room</a:t>
            </a:r>
          </a:p>
        </p:txBody>
      </p:sp>
      <p:sp>
        <p:nvSpPr>
          <p:cNvPr id="75" name="TextBox 46"/>
          <p:cNvSpPr txBox="1"/>
          <p:nvPr/>
        </p:nvSpPr>
        <p:spPr>
          <a:xfrm>
            <a:off x="5336726" y="1731467"/>
            <a:ext cx="1323861" cy="1446550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1100">
                <a:solidFill>
                  <a:prstClr val="white"/>
                </a:solidFill>
                <a:latin typeface="微软雅黑" panose="020F0502020204030204"/>
                <a:ea typeface="微软雅黑"/>
              </a:defRPr>
            </a:lvl1pPr>
          </a:lstStyle>
          <a:p>
            <a:r>
              <a:rPr lang="en-US" dirty="0"/>
              <a:t>1. Label Room Read PDF Label</a:t>
            </a:r>
          </a:p>
          <a:p>
            <a:r>
              <a:rPr lang="en-US" dirty="0"/>
              <a:t>2. Label Room use </a:t>
            </a:r>
            <a:r>
              <a:rPr lang="en-US" dirty="0" err="1"/>
              <a:t>Codesoft</a:t>
            </a:r>
            <a:r>
              <a:rPr lang="en-US" dirty="0"/>
              <a:t> 6 to design Label </a:t>
            </a:r>
            <a:endParaRPr lang="vi-VN" dirty="0"/>
          </a:p>
          <a:p>
            <a:r>
              <a:rPr lang="vi-VN" dirty="0"/>
              <a:t>3. </a:t>
            </a:r>
            <a:r>
              <a:rPr lang="en-US" dirty="0"/>
              <a:t>Label Room send .lab file to printers to print</a:t>
            </a:r>
          </a:p>
        </p:txBody>
      </p:sp>
      <p:sp>
        <p:nvSpPr>
          <p:cNvPr id="76" name="TextBox 46"/>
          <p:cNvSpPr txBox="1"/>
          <p:nvPr/>
        </p:nvSpPr>
        <p:spPr>
          <a:xfrm>
            <a:off x="8155453" y="1822937"/>
            <a:ext cx="1198606" cy="1277273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1100">
                <a:solidFill>
                  <a:prstClr val="white"/>
                </a:solidFill>
                <a:latin typeface="微软雅黑" panose="020F0502020204030204"/>
                <a:ea typeface="微软雅黑"/>
              </a:defRPr>
            </a:lvl1pPr>
          </a:lstStyle>
          <a:p>
            <a:r>
              <a:rPr lang="en-US" dirty="0"/>
              <a:t>1. Label Room Check the printed file (font, size, clearance, barcode accuracy…)</a:t>
            </a:r>
          </a:p>
        </p:txBody>
      </p:sp>
      <p:sp>
        <p:nvSpPr>
          <p:cNvPr id="77" name="TextBox 46"/>
          <p:cNvSpPr txBox="1"/>
          <p:nvPr/>
        </p:nvSpPr>
        <p:spPr>
          <a:xfrm>
            <a:off x="10749505" y="1985382"/>
            <a:ext cx="1111737" cy="938719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1100">
                <a:solidFill>
                  <a:prstClr val="white"/>
                </a:solidFill>
                <a:latin typeface="微软雅黑" panose="020F0502020204030204"/>
                <a:ea typeface="微软雅黑"/>
              </a:defRPr>
            </a:lvl1pPr>
          </a:lstStyle>
          <a:p>
            <a:r>
              <a:rPr lang="en-US" dirty="0"/>
              <a:t>1. Label Room sign in SFC to upload label to LTS</a:t>
            </a:r>
          </a:p>
        </p:txBody>
      </p:sp>
    </p:spTree>
    <p:extLst>
      <p:ext uri="{BB962C8B-B14F-4D97-AF65-F5344CB8AC3E}">
        <p14:creationId xmlns:p14="http://schemas.microsoft.com/office/powerpoint/2010/main" val="1237960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文本框 107">
            <a:extLst>
              <a:ext uri="{FF2B5EF4-FFF2-40B4-BE49-F238E27FC236}">
                <a16:creationId xmlns:a16="http://schemas.microsoft.com/office/drawing/2014/main" id="{4F62504F-0EC3-056C-F84D-50B59EBBC6E7}"/>
              </a:ext>
            </a:extLst>
          </p:cNvPr>
          <p:cNvSpPr txBox="1"/>
          <p:nvPr/>
        </p:nvSpPr>
        <p:spPr>
          <a:xfrm>
            <a:off x="227013" y="77758"/>
            <a:ext cx="100665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vi-VN" altLang="zh-CN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  <a:sym typeface="+mn-ea"/>
              </a:rPr>
              <a:t>Label Automatic Making (LAM) System Analysis </a:t>
            </a:r>
            <a:endParaRPr lang="en-US" altLang="zh-CN" sz="32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itchFamily="34" charset="-122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129" name="群組 128"/>
          <p:cNvGrpSpPr/>
          <p:nvPr/>
        </p:nvGrpSpPr>
        <p:grpSpPr>
          <a:xfrm>
            <a:off x="143691" y="3683726"/>
            <a:ext cx="11907993" cy="2862885"/>
            <a:chOff x="143691" y="4088674"/>
            <a:chExt cx="11907993" cy="2862885"/>
          </a:xfrm>
        </p:grpSpPr>
        <p:grpSp>
          <p:nvGrpSpPr>
            <p:cNvPr id="27" name="群組 20">
              <a:extLst>
                <a:ext uri="{FF2B5EF4-FFF2-40B4-BE49-F238E27FC236}">
                  <a16:creationId xmlns:a16="http://schemas.microsoft.com/office/drawing/2014/main" id="{D4F058B2-24EF-6887-62CB-DFAAAEB7C5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4498" y="4470977"/>
              <a:ext cx="2618966" cy="475396"/>
              <a:chOff x="-92062" y="229212"/>
              <a:chExt cx="2229641" cy="1141032"/>
            </a:xfrm>
            <a:noFill/>
          </p:grpSpPr>
          <p:sp>
            <p:nvSpPr>
              <p:cNvPr id="28" name="＞形箭號 21">
                <a:extLst>
                  <a:ext uri="{FF2B5EF4-FFF2-40B4-BE49-F238E27FC236}">
                    <a16:creationId xmlns:a16="http://schemas.microsoft.com/office/drawing/2014/main" id="{A80159AC-3D5C-0D51-62BD-19BF09018AEF}"/>
                  </a:ext>
                </a:extLst>
              </p:cNvPr>
              <p:cNvSpPr/>
              <p:nvPr/>
            </p:nvSpPr>
            <p:spPr>
              <a:xfrm>
                <a:off x="4241" y="382621"/>
                <a:ext cx="1838145" cy="987623"/>
              </a:xfrm>
              <a:prstGeom prst="chevron">
                <a:avLst/>
              </a:prstGeom>
              <a:grpFill/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0">
                <a:scrgbClr r="0" g="0" b="0"/>
              </a:lnRef>
              <a:fillRef idx="3">
                <a:scrgbClr r="0" g="0" b="0"/>
              </a:fillRef>
              <a:effectRef idx="2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 sz="1600" dirty="0"/>
              </a:p>
            </p:txBody>
          </p:sp>
          <p:sp>
            <p:nvSpPr>
              <p:cNvPr id="29" name="＞形箭號 4">
                <a:extLst>
                  <a:ext uri="{FF2B5EF4-FFF2-40B4-BE49-F238E27FC236}">
                    <a16:creationId xmlns:a16="http://schemas.microsoft.com/office/drawing/2014/main" id="{9B89063F-9B16-7BCF-BF76-D774B757704E}"/>
                  </a:ext>
                </a:extLst>
              </p:cNvPr>
              <p:cNvSpPr/>
              <p:nvPr/>
            </p:nvSpPr>
            <p:spPr>
              <a:xfrm>
                <a:off x="-92062" y="229212"/>
                <a:ext cx="2229641" cy="987623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20015" tIns="40005" rIns="40005" bIns="40005" spcCol="1270" anchor="ctr"/>
              <a:lstStyle/>
              <a:p>
                <a:pPr algn="ctr"/>
                <a:r>
                  <a:rPr lang="vi-VN" altLang="zh-CN" sz="1200" b="1" dirty="0"/>
                  <a:t>Step 1: </a:t>
                </a:r>
              </a:p>
              <a:p>
                <a:pPr algn="just"/>
                <a:r>
                  <a:rPr lang="en-US" altLang="zh-CN" sz="1200" b="1" dirty="0"/>
                  <a:t>ME </a:t>
                </a:r>
                <a:r>
                  <a:rPr lang="vi-VN" altLang="zh-CN" sz="1200" b="1" dirty="0"/>
                  <a:t>Upload Customer’s Word file</a:t>
                </a:r>
              </a:p>
              <a:p>
                <a:pPr algn="just"/>
                <a:r>
                  <a:rPr lang="vi-VN" altLang="zh-CN" sz="1200" b="1" dirty="0"/>
                  <a:t>System gets the necessary information and exports Excel file</a:t>
                </a:r>
                <a:endParaRPr lang="en-US" sz="1200" b="1" dirty="0"/>
              </a:p>
            </p:txBody>
          </p:sp>
        </p:grpSp>
        <p:grpSp>
          <p:nvGrpSpPr>
            <p:cNvPr id="33" name="群組 20">
              <a:extLst>
                <a:ext uri="{FF2B5EF4-FFF2-40B4-BE49-F238E27FC236}">
                  <a16:creationId xmlns:a16="http://schemas.microsoft.com/office/drawing/2014/main" id="{6C94B95C-A0E1-81B6-8736-88CB07B4C6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42914" y="4444644"/>
              <a:ext cx="2303468" cy="426553"/>
              <a:chOff x="4241" y="346443"/>
              <a:chExt cx="1961043" cy="1023801"/>
            </a:xfrm>
            <a:noFill/>
          </p:grpSpPr>
          <p:sp>
            <p:nvSpPr>
              <p:cNvPr id="34" name="＞形箭號 21">
                <a:extLst>
                  <a:ext uri="{FF2B5EF4-FFF2-40B4-BE49-F238E27FC236}">
                    <a16:creationId xmlns:a16="http://schemas.microsoft.com/office/drawing/2014/main" id="{D9805CE1-D0F0-ACF0-026A-038CD04E8BEB}"/>
                  </a:ext>
                </a:extLst>
              </p:cNvPr>
              <p:cNvSpPr/>
              <p:nvPr/>
            </p:nvSpPr>
            <p:spPr>
              <a:xfrm>
                <a:off x="4241" y="382621"/>
                <a:ext cx="1838145" cy="987623"/>
              </a:xfrm>
              <a:prstGeom prst="chevron">
                <a:avLst/>
              </a:prstGeom>
              <a:grpFill/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0">
                <a:scrgbClr r="0" g="0" b="0"/>
              </a:lnRef>
              <a:fillRef idx="3">
                <a:scrgbClr r="0" g="0" b="0"/>
              </a:fillRef>
              <a:effectRef idx="2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 sz="1600" dirty="0"/>
              </a:p>
            </p:txBody>
          </p:sp>
          <p:sp>
            <p:nvSpPr>
              <p:cNvPr id="35" name="＞形箭號 4">
                <a:extLst>
                  <a:ext uri="{FF2B5EF4-FFF2-40B4-BE49-F238E27FC236}">
                    <a16:creationId xmlns:a16="http://schemas.microsoft.com/office/drawing/2014/main" id="{37CDDBF1-216B-8032-8A1F-D49BF25718E7}"/>
                  </a:ext>
                </a:extLst>
              </p:cNvPr>
              <p:cNvSpPr/>
              <p:nvPr/>
            </p:nvSpPr>
            <p:spPr>
              <a:xfrm>
                <a:off x="457573" y="346443"/>
                <a:ext cx="1507711" cy="987623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20015" tIns="40005" rIns="40005" bIns="40005" spcCol="1270" anchor="ctr"/>
              <a:lstStyle/>
              <a:p>
                <a:pPr algn="ctr"/>
                <a:r>
                  <a:rPr lang="vi-VN" altLang="zh-CN" sz="1200" b="1" dirty="0"/>
                  <a:t>Step 3: </a:t>
                </a:r>
              </a:p>
              <a:p>
                <a:pPr algn="just"/>
                <a:r>
                  <a:rPr lang="vi-VN" altLang="zh-CN" sz="1200" b="1" dirty="0"/>
                  <a:t>After ME’s Checking, system automatically exports Label image</a:t>
                </a:r>
                <a:endParaRPr lang="en-US" sz="1200" b="1" dirty="0"/>
              </a:p>
            </p:txBody>
          </p:sp>
        </p:grpSp>
        <p:grpSp>
          <p:nvGrpSpPr>
            <p:cNvPr id="36" name="群組 20">
              <a:extLst>
                <a:ext uri="{FF2B5EF4-FFF2-40B4-BE49-F238E27FC236}">
                  <a16:creationId xmlns:a16="http://schemas.microsoft.com/office/drawing/2014/main" id="{DB4A969C-4654-C7F7-F97F-B0ECA62DE6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3691" y="4495464"/>
              <a:ext cx="1145331" cy="411480"/>
              <a:chOff x="4241" y="382621"/>
              <a:chExt cx="1838145" cy="987623"/>
            </a:xfrm>
            <a:noFill/>
          </p:grpSpPr>
          <p:sp>
            <p:nvSpPr>
              <p:cNvPr id="37" name="＞形箭號 21">
                <a:extLst>
                  <a:ext uri="{FF2B5EF4-FFF2-40B4-BE49-F238E27FC236}">
                    <a16:creationId xmlns:a16="http://schemas.microsoft.com/office/drawing/2014/main" id="{BD5F5510-FAA9-19F7-BDA1-EB7A6D04842F}"/>
                  </a:ext>
                </a:extLst>
              </p:cNvPr>
              <p:cNvSpPr/>
              <p:nvPr/>
            </p:nvSpPr>
            <p:spPr>
              <a:xfrm>
                <a:off x="4241" y="382621"/>
                <a:ext cx="1838145" cy="987623"/>
              </a:xfrm>
              <a:prstGeom prst="chevron">
                <a:avLst/>
              </a:prstGeom>
              <a:grpFill/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0">
                <a:scrgbClr r="0" g="0" b="0"/>
              </a:lnRef>
              <a:fillRef idx="3">
                <a:scrgbClr r="0" g="0" b="0"/>
              </a:fillRef>
              <a:effectRef idx="2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 sz="2400" dirty="0"/>
              </a:p>
            </p:txBody>
          </p:sp>
          <p:sp>
            <p:nvSpPr>
              <p:cNvPr id="38" name="＞形箭號 4">
                <a:extLst>
                  <a:ext uri="{FF2B5EF4-FFF2-40B4-BE49-F238E27FC236}">
                    <a16:creationId xmlns:a16="http://schemas.microsoft.com/office/drawing/2014/main" id="{14FAD20E-52C6-6B92-DDF8-C61E538E2C19}"/>
                  </a:ext>
                </a:extLst>
              </p:cNvPr>
              <p:cNvSpPr/>
              <p:nvPr/>
            </p:nvSpPr>
            <p:spPr>
              <a:xfrm>
                <a:off x="18745" y="382621"/>
                <a:ext cx="1772501" cy="987623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20015" tIns="40005" rIns="40005" bIns="40005" spcCol="1270" anchor="ctr"/>
              <a:lstStyle/>
              <a:p>
                <a:r>
                  <a:rPr lang="vi-VN" sz="1600" b="1" dirty="0"/>
                  <a:t>New Workflow</a:t>
                </a:r>
                <a:endParaRPr lang="en-US" sz="1600" b="1" dirty="0"/>
              </a:p>
            </p:txBody>
          </p:sp>
        </p:grpSp>
        <p:grpSp>
          <p:nvGrpSpPr>
            <p:cNvPr id="39" name="群組 20">
              <a:extLst>
                <a:ext uri="{FF2B5EF4-FFF2-40B4-BE49-F238E27FC236}">
                  <a16:creationId xmlns:a16="http://schemas.microsoft.com/office/drawing/2014/main" id="{6C94B95C-A0E1-81B6-8736-88CB07B4C6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5160" y="4385127"/>
              <a:ext cx="2159110" cy="421777"/>
              <a:chOff x="4241" y="357906"/>
              <a:chExt cx="1838145" cy="1012338"/>
            </a:xfrm>
            <a:noFill/>
          </p:grpSpPr>
          <p:sp>
            <p:nvSpPr>
              <p:cNvPr id="40" name="＞形箭號 21">
                <a:extLst>
                  <a:ext uri="{FF2B5EF4-FFF2-40B4-BE49-F238E27FC236}">
                    <a16:creationId xmlns:a16="http://schemas.microsoft.com/office/drawing/2014/main" id="{D9805CE1-D0F0-ACF0-026A-038CD04E8BEB}"/>
                  </a:ext>
                </a:extLst>
              </p:cNvPr>
              <p:cNvSpPr/>
              <p:nvPr/>
            </p:nvSpPr>
            <p:spPr>
              <a:xfrm>
                <a:off x="4241" y="382621"/>
                <a:ext cx="1838145" cy="987623"/>
              </a:xfrm>
              <a:prstGeom prst="chevron">
                <a:avLst/>
              </a:prstGeom>
              <a:grpFill/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0">
                <a:scrgbClr r="0" g="0" b="0"/>
              </a:lnRef>
              <a:fillRef idx="3">
                <a:scrgbClr r="0" g="0" b="0"/>
              </a:fillRef>
              <a:effectRef idx="2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 sz="1600" dirty="0"/>
              </a:p>
            </p:txBody>
          </p:sp>
          <p:sp>
            <p:nvSpPr>
              <p:cNvPr id="41" name="＞形箭號 4">
                <a:extLst>
                  <a:ext uri="{FF2B5EF4-FFF2-40B4-BE49-F238E27FC236}">
                    <a16:creationId xmlns:a16="http://schemas.microsoft.com/office/drawing/2014/main" id="{37CDDBF1-216B-8032-8A1F-D49BF25718E7}"/>
                  </a:ext>
                </a:extLst>
              </p:cNvPr>
              <p:cNvSpPr/>
              <p:nvPr/>
            </p:nvSpPr>
            <p:spPr>
              <a:xfrm>
                <a:off x="151619" y="357906"/>
                <a:ext cx="1660982" cy="987623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20015" tIns="40005" rIns="40005" bIns="40005" spcCol="1270" anchor="ctr"/>
              <a:lstStyle/>
              <a:p>
                <a:pPr algn="ctr"/>
                <a:r>
                  <a:rPr lang="vi-VN" altLang="zh-CN" sz="1200" b="1" dirty="0"/>
                  <a:t>Step 2: </a:t>
                </a:r>
              </a:p>
              <a:p>
                <a:pPr algn="just"/>
                <a:r>
                  <a:rPr lang="vi-VN" altLang="zh-CN" sz="1200" b="1" dirty="0"/>
                  <a:t>ME Check the Excel and Word Information</a:t>
                </a:r>
                <a:endParaRPr lang="en-US" altLang="zh-CN" sz="1200" b="1" dirty="0"/>
              </a:p>
            </p:txBody>
          </p:sp>
        </p:grpSp>
        <p:cxnSp>
          <p:nvCxnSpPr>
            <p:cNvPr id="42" name="直線單箭頭接點 41"/>
            <p:cNvCxnSpPr/>
            <p:nvPr/>
          </p:nvCxnSpPr>
          <p:spPr>
            <a:xfrm flipV="1">
              <a:off x="205173" y="5168536"/>
              <a:ext cx="11678195" cy="3918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群組 20">
              <a:extLst>
                <a:ext uri="{FF2B5EF4-FFF2-40B4-BE49-F238E27FC236}">
                  <a16:creationId xmlns:a16="http://schemas.microsoft.com/office/drawing/2014/main" id="{890762F0-477A-8B82-3F66-4645536D71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73713" y="4404562"/>
              <a:ext cx="2148528" cy="466635"/>
              <a:chOff x="4241" y="382621"/>
              <a:chExt cx="1838145" cy="1120005"/>
            </a:xfrm>
            <a:noFill/>
          </p:grpSpPr>
          <p:sp>
            <p:nvSpPr>
              <p:cNvPr id="44" name="＞形箭號 21">
                <a:extLst>
                  <a:ext uri="{FF2B5EF4-FFF2-40B4-BE49-F238E27FC236}">
                    <a16:creationId xmlns:a16="http://schemas.microsoft.com/office/drawing/2014/main" id="{5141105E-B05F-A3B1-7F64-60E61F0D09E3}"/>
                  </a:ext>
                </a:extLst>
              </p:cNvPr>
              <p:cNvSpPr/>
              <p:nvPr/>
            </p:nvSpPr>
            <p:spPr>
              <a:xfrm>
                <a:off x="4241" y="382621"/>
                <a:ext cx="1838145" cy="987623"/>
              </a:xfrm>
              <a:prstGeom prst="chevron">
                <a:avLst/>
              </a:prstGeom>
              <a:grpFill/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0">
                <a:scrgbClr r="0" g="0" b="0"/>
              </a:lnRef>
              <a:fillRef idx="3">
                <a:scrgbClr r="0" g="0" b="0"/>
              </a:fillRef>
              <a:effectRef idx="2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 sz="1600" dirty="0"/>
              </a:p>
            </p:txBody>
          </p:sp>
          <p:sp>
            <p:nvSpPr>
              <p:cNvPr id="45" name="＞形箭號 4">
                <a:extLst>
                  <a:ext uri="{FF2B5EF4-FFF2-40B4-BE49-F238E27FC236}">
                    <a16:creationId xmlns:a16="http://schemas.microsoft.com/office/drawing/2014/main" id="{F3A1FB70-C449-4388-9A98-3A2D316BEC8C}"/>
                  </a:ext>
                </a:extLst>
              </p:cNvPr>
              <p:cNvSpPr/>
              <p:nvPr/>
            </p:nvSpPr>
            <p:spPr>
              <a:xfrm>
                <a:off x="317703" y="515003"/>
                <a:ext cx="1440772" cy="987623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20015" tIns="40005" rIns="40005" bIns="40005" spcCol="1270" anchor="ctr"/>
              <a:lstStyle/>
              <a:p>
                <a:pPr algn="ctr"/>
                <a:r>
                  <a:rPr lang="vi-VN" altLang="zh-CN" sz="1200" b="1" dirty="0"/>
                  <a:t>Step 4: </a:t>
                </a:r>
              </a:p>
              <a:p>
                <a:pPr algn="just"/>
                <a:r>
                  <a:rPr lang="vi-VN" altLang="zh-CN" sz="1200" b="1" dirty="0"/>
                  <a:t>Label Room check the design with Barcode Verifier  </a:t>
                </a:r>
                <a:endParaRPr lang="en-US" sz="1200" b="1" dirty="0"/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302226" y="5351121"/>
              <a:ext cx="2267047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400" dirty="0">
                  <a:solidFill>
                    <a:schemeClr val="bg1"/>
                  </a:solidFill>
                </a:rPr>
                <a:t>Input: Word file</a:t>
              </a:r>
            </a:p>
            <a:p>
              <a:r>
                <a:rPr lang="vi-VN" sz="1400" dirty="0">
                  <a:solidFill>
                    <a:schemeClr val="bg1"/>
                  </a:solidFill>
                </a:rPr>
                <a:t>Output: Excel file, Data on server-&gt; DB</a:t>
              </a:r>
            </a:p>
            <a:p>
              <a:r>
                <a:rPr lang="vi-VN" sz="1400" dirty="0">
                  <a:solidFill>
                    <a:schemeClr val="bg1"/>
                  </a:solidFill>
                </a:rPr>
                <a:t>Advantage: No need of people reading and convert infor into pdf</a:t>
              </a:r>
            </a:p>
            <a:p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50" name="文字方塊 49"/>
            <p:cNvSpPr txBox="1"/>
            <p:nvPr/>
          </p:nvSpPr>
          <p:spPr>
            <a:xfrm>
              <a:off x="6265306" y="5367510"/>
              <a:ext cx="214560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>
                <a:defRPr sz="1400">
                  <a:solidFill>
                    <a:schemeClr val="bg1"/>
                  </a:solidFill>
                </a:defRPr>
              </a:lvl1pPr>
            </a:lstStyle>
            <a:p>
              <a:r>
                <a:rPr lang="vi-VN" dirty="0"/>
                <a:t>Input: Information on DB</a:t>
              </a:r>
            </a:p>
            <a:p>
              <a:r>
                <a:rPr lang="vi-VN" dirty="0"/>
                <a:t>Output: Image</a:t>
              </a:r>
            </a:p>
            <a:p>
              <a:r>
                <a:rPr lang="vi-VN" dirty="0"/>
                <a:t>Advantage: No need of people design</a:t>
              </a:r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4000922" y="5361435"/>
              <a:ext cx="228051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400" dirty="0">
                  <a:solidFill>
                    <a:schemeClr val="bg1"/>
                  </a:solidFill>
                </a:rPr>
                <a:t>Input: Word from customer and Excel from system. Engineer checking</a:t>
              </a:r>
            </a:p>
            <a:p>
              <a:r>
                <a:rPr lang="vi-VN" sz="1400" dirty="0">
                  <a:solidFill>
                    <a:schemeClr val="bg1"/>
                  </a:solidFill>
                </a:rPr>
                <a:t>-&gt; On trial stage need this to preserve the accuracy of the system. </a:t>
              </a:r>
            </a:p>
          </p:txBody>
        </p:sp>
        <p:grpSp>
          <p:nvGrpSpPr>
            <p:cNvPr id="83" name="群組 20">
              <a:extLst>
                <a:ext uri="{FF2B5EF4-FFF2-40B4-BE49-F238E27FC236}">
                  <a16:creationId xmlns:a16="http://schemas.microsoft.com/office/drawing/2014/main" id="{6C94B95C-A0E1-81B6-8736-88CB07B4C6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92574" y="4444644"/>
              <a:ext cx="2159110" cy="411480"/>
              <a:chOff x="4241" y="382621"/>
              <a:chExt cx="1838145" cy="987623"/>
            </a:xfrm>
            <a:noFill/>
          </p:grpSpPr>
          <p:sp>
            <p:nvSpPr>
              <p:cNvPr id="84" name="＞形箭號 21">
                <a:extLst>
                  <a:ext uri="{FF2B5EF4-FFF2-40B4-BE49-F238E27FC236}">
                    <a16:creationId xmlns:a16="http://schemas.microsoft.com/office/drawing/2014/main" id="{D9805CE1-D0F0-ACF0-026A-038CD04E8BEB}"/>
                  </a:ext>
                </a:extLst>
              </p:cNvPr>
              <p:cNvSpPr/>
              <p:nvPr/>
            </p:nvSpPr>
            <p:spPr>
              <a:xfrm>
                <a:off x="4241" y="382621"/>
                <a:ext cx="1838145" cy="987623"/>
              </a:xfrm>
              <a:prstGeom prst="chevron">
                <a:avLst/>
              </a:prstGeom>
              <a:grpFill/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0">
                <a:scrgbClr r="0" g="0" b="0"/>
              </a:lnRef>
              <a:fillRef idx="3">
                <a:scrgbClr r="0" g="0" b="0"/>
              </a:fillRef>
              <a:effectRef idx="2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 sz="1600" dirty="0"/>
              </a:p>
            </p:txBody>
          </p:sp>
          <p:sp>
            <p:nvSpPr>
              <p:cNvPr id="85" name="＞形箭號 4">
                <a:extLst>
                  <a:ext uri="{FF2B5EF4-FFF2-40B4-BE49-F238E27FC236}">
                    <a16:creationId xmlns:a16="http://schemas.microsoft.com/office/drawing/2014/main" id="{37CDDBF1-216B-8032-8A1F-D49BF25718E7}"/>
                  </a:ext>
                </a:extLst>
              </p:cNvPr>
              <p:cNvSpPr/>
              <p:nvPr/>
            </p:nvSpPr>
            <p:spPr>
              <a:xfrm>
                <a:off x="145544" y="382621"/>
                <a:ext cx="1574342" cy="987623"/>
              </a:xfrm>
              <a:prstGeom prst="rect">
                <a:avLst/>
              </a:prstGeom>
              <a:grp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120015" tIns="40005" rIns="40005" bIns="40005" spcCol="1270" anchor="ctr"/>
              <a:lstStyle/>
              <a:p>
                <a:pPr algn="ctr"/>
                <a:r>
                  <a:rPr lang="vi-VN" altLang="zh-CN" sz="1200" b="1" dirty="0"/>
                  <a:t>Step 5: </a:t>
                </a:r>
              </a:p>
              <a:p>
                <a:pPr algn="just"/>
                <a:r>
                  <a:rPr lang="en-US" altLang="zh-CN" sz="1200" b="1" dirty="0"/>
                  <a:t>Connect to SFC to upload file to the Label Tracking System</a:t>
                </a:r>
              </a:p>
            </p:txBody>
          </p:sp>
        </p:grpSp>
        <p:sp>
          <p:nvSpPr>
            <p:cNvPr id="106" name="矩形 105"/>
            <p:cNvSpPr/>
            <p:nvPr/>
          </p:nvSpPr>
          <p:spPr>
            <a:xfrm>
              <a:off x="143692" y="4088674"/>
              <a:ext cx="11907992" cy="2743200"/>
            </a:xfrm>
            <a:prstGeom prst="rect">
              <a:avLst/>
            </a:prstGeom>
            <a:noFill/>
            <a:ln w="38100"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群組 2"/>
          <p:cNvGrpSpPr/>
          <p:nvPr/>
        </p:nvGrpSpPr>
        <p:grpSpPr>
          <a:xfrm>
            <a:off x="66724" y="1108240"/>
            <a:ext cx="12061928" cy="2081619"/>
            <a:chOff x="108335" y="1304986"/>
            <a:chExt cx="12061928" cy="2081619"/>
          </a:xfrm>
        </p:grpSpPr>
        <p:grpSp>
          <p:nvGrpSpPr>
            <p:cNvPr id="86" name="群組 85"/>
            <p:cNvGrpSpPr/>
            <p:nvPr/>
          </p:nvGrpSpPr>
          <p:grpSpPr>
            <a:xfrm>
              <a:off x="108335" y="1304986"/>
              <a:ext cx="12061928" cy="837323"/>
              <a:chOff x="82209" y="769408"/>
              <a:chExt cx="12061928" cy="837323"/>
            </a:xfrm>
          </p:grpSpPr>
          <p:grpSp>
            <p:nvGrpSpPr>
              <p:cNvPr id="87" name="群組 20">
                <a:extLst>
                  <a:ext uri="{FF2B5EF4-FFF2-40B4-BE49-F238E27FC236}">
                    <a16:creationId xmlns:a16="http://schemas.microsoft.com/office/drawing/2014/main" id="{D4F058B2-24EF-6887-62CB-DFAAAEB7C5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66117" y="876788"/>
                <a:ext cx="2220532" cy="450445"/>
                <a:chOff x="-48051" y="382621"/>
                <a:chExt cx="1890437" cy="1081146"/>
              </a:xfrm>
              <a:noFill/>
            </p:grpSpPr>
            <p:sp>
              <p:nvSpPr>
                <p:cNvPr id="102" name="＞形箭號 21">
                  <a:extLst>
                    <a:ext uri="{FF2B5EF4-FFF2-40B4-BE49-F238E27FC236}">
                      <a16:creationId xmlns:a16="http://schemas.microsoft.com/office/drawing/2014/main" id="{A80159AC-3D5C-0D51-62BD-19BF09018AEF}"/>
                    </a:ext>
                  </a:extLst>
                </p:cNvPr>
                <p:cNvSpPr/>
                <p:nvPr/>
              </p:nvSpPr>
              <p:spPr>
                <a:xfrm>
                  <a:off x="4241" y="382621"/>
                  <a:ext cx="1838145" cy="987623"/>
                </a:xfrm>
                <a:prstGeom prst="chevron">
                  <a:avLst/>
                </a:prstGeom>
                <a:grpFill/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>
                  <a:scrgbClr r="0" g="0" b="0"/>
                </a:lnRef>
                <a:fillRef idx="3">
                  <a:scrgbClr r="0" g="0" b="0"/>
                </a:fillRef>
                <a:effectRef idx="2">
                  <a:scrgbClr r="0" g="0" b="0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zh-CN" altLang="en-US" sz="1600" dirty="0"/>
                </a:p>
              </p:txBody>
            </p:sp>
            <p:sp>
              <p:nvSpPr>
                <p:cNvPr id="103" name="＞形箭號 4">
                  <a:extLst>
                    <a:ext uri="{FF2B5EF4-FFF2-40B4-BE49-F238E27FC236}">
                      <a16:creationId xmlns:a16="http://schemas.microsoft.com/office/drawing/2014/main" id="{9B89063F-9B16-7BCF-BF76-D774B757704E}"/>
                    </a:ext>
                  </a:extLst>
                </p:cNvPr>
                <p:cNvSpPr/>
                <p:nvPr/>
              </p:nvSpPr>
              <p:spPr>
                <a:xfrm>
                  <a:off x="-48051" y="476144"/>
                  <a:ext cx="1798428" cy="987623"/>
                </a:xfrm>
                <a:prstGeom prst="rect">
                  <a:avLst/>
                </a:prstGeom>
                <a:grpFill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120015" tIns="40005" rIns="40005" bIns="40005" spcCol="1270" anchor="ctr"/>
                <a:lstStyle/>
                <a:p>
                  <a:pPr algn="ctr"/>
                  <a:r>
                    <a:rPr lang="vi-VN" altLang="zh-CN" sz="1200" b="1" dirty="0"/>
                    <a:t>Step 1:</a:t>
                  </a:r>
                </a:p>
                <a:p>
                  <a:pPr algn="ctr"/>
                  <a:r>
                    <a:rPr lang="vi-VN" altLang="zh-CN" sz="1200" b="1" dirty="0"/>
                    <a:t> </a:t>
                  </a:r>
                  <a:r>
                    <a:rPr lang="en-US" altLang="zh-CN" sz="1200" b="1" dirty="0"/>
                    <a:t>ME</a:t>
                  </a:r>
                  <a:r>
                    <a:rPr lang="vi-VN" altLang="zh-CN" sz="1200" b="1" dirty="0"/>
                    <a:t> Read Word and </a:t>
                  </a:r>
                  <a:r>
                    <a:rPr lang="en-US" altLang="zh-CN" sz="1200" b="1" dirty="0"/>
                    <a:t>Edit Label </a:t>
                  </a:r>
                  <a:r>
                    <a:rPr lang="vi-VN" altLang="zh-CN" sz="1200" b="1" dirty="0"/>
                    <a:t>Information to </a:t>
                  </a:r>
                  <a:r>
                    <a:rPr lang="en-US" altLang="zh-CN" sz="1200" b="1" dirty="0"/>
                    <a:t>PDF</a:t>
                  </a:r>
                  <a:r>
                    <a:rPr lang="vi-VN" altLang="zh-CN" sz="1200" b="1" dirty="0"/>
                    <a:t> file</a:t>
                  </a:r>
                  <a:endParaRPr lang="en-US" altLang="zh-CN" sz="1200" b="1" dirty="0"/>
                </a:p>
              </p:txBody>
            </p:sp>
          </p:grpSp>
          <p:grpSp>
            <p:nvGrpSpPr>
              <p:cNvPr id="88" name="群組 20">
                <a:extLst>
                  <a:ext uri="{FF2B5EF4-FFF2-40B4-BE49-F238E27FC236}">
                    <a16:creationId xmlns:a16="http://schemas.microsoft.com/office/drawing/2014/main" id="{ECA0C99A-FEAD-3EEC-C141-1DA40378C7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91216" y="769408"/>
                <a:ext cx="2947964" cy="632619"/>
                <a:chOff x="-36811" y="382621"/>
                <a:chExt cx="2484165" cy="1518395"/>
              </a:xfrm>
              <a:noFill/>
            </p:grpSpPr>
            <p:sp>
              <p:nvSpPr>
                <p:cNvPr id="100" name="＞形箭號 21">
                  <a:extLst>
                    <a:ext uri="{FF2B5EF4-FFF2-40B4-BE49-F238E27FC236}">
                      <a16:creationId xmlns:a16="http://schemas.microsoft.com/office/drawing/2014/main" id="{A9B96D62-ECAB-1FB7-4E1F-E69F6FBFBB96}"/>
                    </a:ext>
                  </a:extLst>
                </p:cNvPr>
                <p:cNvSpPr/>
                <p:nvPr/>
              </p:nvSpPr>
              <p:spPr>
                <a:xfrm>
                  <a:off x="4241" y="382621"/>
                  <a:ext cx="1838145" cy="987623"/>
                </a:xfrm>
                <a:prstGeom prst="chevron">
                  <a:avLst/>
                </a:prstGeom>
                <a:grpFill/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>
                  <a:scrgbClr r="0" g="0" b="0"/>
                </a:lnRef>
                <a:fillRef idx="3">
                  <a:scrgbClr r="0" g="0" b="0"/>
                </a:fillRef>
                <a:effectRef idx="2">
                  <a:scrgbClr r="0" g="0" b="0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zh-CN" altLang="en-US" sz="1600" dirty="0"/>
                </a:p>
              </p:txBody>
            </p:sp>
            <p:sp>
              <p:nvSpPr>
                <p:cNvPr id="101" name="＞形箭號 4">
                  <a:extLst>
                    <a:ext uri="{FF2B5EF4-FFF2-40B4-BE49-F238E27FC236}">
                      <a16:creationId xmlns:a16="http://schemas.microsoft.com/office/drawing/2014/main" id="{84747D58-B26F-CE2C-9A78-792843E1BBA9}"/>
                    </a:ext>
                  </a:extLst>
                </p:cNvPr>
                <p:cNvSpPr/>
                <p:nvPr/>
              </p:nvSpPr>
              <p:spPr>
                <a:xfrm>
                  <a:off x="-36811" y="913393"/>
                  <a:ext cx="2484165" cy="987623"/>
                </a:xfrm>
                <a:prstGeom prst="rect">
                  <a:avLst/>
                </a:prstGeom>
                <a:grpFill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120015" tIns="40005" rIns="40005" bIns="40005" spcCol="1270" anchor="ctr"/>
                <a:lstStyle/>
                <a:p>
                  <a:pPr algn="ctr"/>
                  <a:r>
                    <a:rPr lang="vi-VN" altLang="zh-CN" sz="1200" b="1" dirty="0"/>
                    <a:t>Step 2: </a:t>
                  </a:r>
                </a:p>
                <a:p>
                  <a:pPr algn="ctr"/>
                  <a:r>
                    <a:rPr lang="vi-VN" altLang="zh-CN" sz="1200" b="1" dirty="0"/>
                    <a:t>Label Room </a:t>
                  </a:r>
                  <a:r>
                    <a:rPr lang="en-US" altLang="zh-CN" sz="1200" b="1" dirty="0"/>
                    <a:t>Design Label as ME Label PDF</a:t>
                  </a:r>
                  <a:endParaRPr lang="vi-VN" altLang="zh-CN" sz="1200" b="1" dirty="0"/>
                </a:p>
                <a:p>
                  <a:pPr algn="ctr"/>
                  <a:r>
                    <a:rPr lang="en-US" altLang="zh-CN" sz="1200" b="1" dirty="0"/>
                    <a:t>Connect to Zebra printers and print</a:t>
                  </a:r>
                </a:p>
                <a:p>
                  <a:pPr algn="ctr"/>
                  <a:r>
                    <a:rPr lang="en-US" altLang="zh-CN" sz="1200" b="1" dirty="0"/>
                    <a:t> </a:t>
                  </a:r>
                  <a:endParaRPr lang="en-US" sz="1200" b="1" dirty="0"/>
                </a:p>
              </p:txBody>
            </p:sp>
          </p:grpSp>
          <p:grpSp>
            <p:nvGrpSpPr>
              <p:cNvPr id="89" name="群組 20">
                <a:extLst>
                  <a:ext uri="{FF2B5EF4-FFF2-40B4-BE49-F238E27FC236}">
                    <a16:creationId xmlns:a16="http://schemas.microsoft.com/office/drawing/2014/main" id="{6C94B95C-A0E1-81B6-8736-88CB07B4C6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330758" y="833759"/>
                <a:ext cx="3356287" cy="478306"/>
                <a:chOff x="-1014969" y="222227"/>
                <a:chExt cx="2857355" cy="1148017"/>
              </a:xfrm>
              <a:noFill/>
            </p:grpSpPr>
            <p:sp>
              <p:nvSpPr>
                <p:cNvPr id="98" name="＞形箭號 21">
                  <a:extLst>
                    <a:ext uri="{FF2B5EF4-FFF2-40B4-BE49-F238E27FC236}">
                      <a16:creationId xmlns:a16="http://schemas.microsoft.com/office/drawing/2014/main" id="{D9805CE1-D0F0-ACF0-026A-038CD04E8BEB}"/>
                    </a:ext>
                  </a:extLst>
                </p:cNvPr>
                <p:cNvSpPr/>
                <p:nvPr/>
              </p:nvSpPr>
              <p:spPr>
                <a:xfrm>
                  <a:off x="4241" y="382621"/>
                  <a:ext cx="1838145" cy="987623"/>
                </a:xfrm>
                <a:prstGeom prst="chevron">
                  <a:avLst/>
                </a:prstGeom>
                <a:grpFill/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>
                  <a:scrgbClr r="0" g="0" b="0"/>
                </a:lnRef>
                <a:fillRef idx="3">
                  <a:scrgbClr r="0" g="0" b="0"/>
                </a:fillRef>
                <a:effectRef idx="2">
                  <a:scrgbClr r="0" g="0" b="0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zh-CN" altLang="en-US" sz="1600" dirty="0"/>
                </a:p>
              </p:txBody>
            </p:sp>
            <p:sp>
              <p:nvSpPr>
                <p:cNvPr id="99" name="＞形箭號 4">
                  <a:extLst>
                    <a:ext uri="{FF2B5EF4-FFF2-40B4-BE49-F238E27FC236}">
                      <a16:creationId xmlns:a16="http://schemas.microsoft.com/office/drawing/2014/main" id="{37CDDBF1-216B-8032-8A1F-D49BF25718E7}"/>
                    </a:ext>
                  </a:extLst>
                </p:cNvPr>
                <p:cNvSpPr/>
                <p:nvPr/>
              </p:nvSpPr>
              <p:spPr>
                <a:xfrm>
                  <a:off x="-1014969" y="222227"/>
                  <a:ext cx="1981177" cy="987623"/>
                </a:xfrm>
                <a:prstGeom prst="rect">
                  <a:avLst/>
                </a:prstGeom>
                <a:grpFill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120015" tIns="40005" rIns="40005" bIns="40005" spcCol="1270" anchor="ctr"/>
                <a:lstStyle/>
                <a:p>
                  <a:pPr algn="ctr"/>
                  <a:r>
                    <a:rPr lang="vi-VN" altLang="zh-CN" sz="1200" b="1" dirty="0"/>
                    <a:t>Step 3: </a:t>
                  </a:r>
                </a:p>
                <a:p>
                  <a:pPr algn="ctr"/>
                  <a:r>
                    <a:rPr lang="vi-VN" altLang="zh-CN" sz="1200" b="1" dirty="0"/>
                    <a:t>Label Room </a:t>
                  </a:r>
                  <a:r>
                    <a:rPr lang="en-US" altLang="zh-CN" sz="1200" b="1" dirty="0"/>
                    <a:t>Check the Printed file with designed file</a:t>
                  </a:r>
                  <a:endParaRPr lang="en-US" sz="1200" b="1" dirty="0"/>
                </a:p>
              </p:txBody>
            </p:sp>
          </p:grpSp>
          <p:grpSp>
            <p:nvGrpSpPr>
              <p:cNvPr id="90" name="群組 20">
                <a:extLst>
                  <a:ext uri="{FF2B5EF4-FFF2-40B4-BE49-F238E27FC236}">
                    <a16:creationId xmlns:a16="http://schemas.microsoft.com/office/drawing/2014/main" id="{890762F0-477A-8B82-3F66-4645536D71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46004" y="782293"/>
                <a:ext cx="2998133" cy="479722"/>
                <a:chOff x="-304837" y="218829"/>
                <a:chExt cx="2147223" cy="1151415"/>
              </a:xfrm>
              <a:noFill/>
            </p:grpSpPr>
            <p:sp>
              <p:nvSpPr>
                <p:cNvPr id="96" name="＞形箭號 21">
                  <a:extLst>
                    <a:ext uri="{FF2B5EF4-FFF2-40B4-BE49-F238E27FC236}">
                      <a16:creationId xmlns:a16="http://schemas.microsoft.com/office/drawing/2014/main" id="{5141105E-B05F-A3B1-7F64-60E61F0D09E3}"/>
                    </a:ext>
                  </a:extLst>
                </p:cNvPr>
                <p:cNvSpPr/>
                <p:nvPr/>
              </p:nvSpPr>
              <p:spPr>
                <a:xfrm>
                  <a:off x="4241" y="382621"/>
                  <a:ext cx="1838145" cy="987623"/>
                </a:xfrm>
                <a:prstGeom prst="chevron">
                  <a:avLst/>
                </a:prstGeom>
                <a:grpFill/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>
                  <a:scrgbClr r="0" g="0" b="0"/>
                </a:lnRef>
                <a:fillRef idx="3">
                  <a:scrgbClr r="0" g="0" b="0"/>
                </a:fillRef>
                <a:effectRef idx="2">
                  <a:scrgbClr r="0" g="0" b="0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zh-CN" altLang="en-US" sz="1600" dirty="0"/>
                </a:p>
              </p:txBody>
            </p:sp>
            <p:sp>
              <p:nvSpPr>
                <p:cNvPr id="97" name="＞形箭號 4">
                  <a:extLst>
                    <a:ext uri="{FF2B5EF4-FFF2-40B4-BE49-F238E27FC236}">
                      <a16:creationId xmlns:a16="http://schemas.microsoft.com/office/drawing/2014/main" id="{F3A1FB70-C449-4388-9A98-3A2D316BEC8C}"/>
                    </a:ext>
                  </a:extLst>
                </p:cNvPr>
                <p:cNvSpPr/>
                <p:nvPr/>
              </p:nvSpPr>
              <p:spPr>
                <a:xfrm>
                  <a:off x="-304837" y="218829"/>
                  <a:ext cx="1783233" cy="987623"/>
                </a:xfrm>
                <a:prstGeom prst="rect">
                  <a:avLst/>
                </a:prstGeom>
                <a:grpFill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120015" tIns="40005" rIns="40005" bIns="40005" spcCol="1270" anchor="ctr"/>
                <a:lstStyle/>
                <a:p>
                  <a:pPr algn="ctr"/>
                  <a:r>
                    <a:rPr lang="vi-VN" altLang="zh-CN" sz="1200" b="1" dirty="0"/>
                    <a:t>Step 4: </a:t>
                  </a:r>
                </a:p>
                <a:p>
                  <a:pPr algn="ctr"/>
                  <a:r>
                    <a:rPr lang="en-US" altLang="zh-CN" sz="1200" b="1" dirty="0"/>
                    <a:t>Connect to SFC to upload file to the Label Tracking System</a:t>
                  </a:r>
                  <a:endParaRPr lang="en-US" sz="1200" b="1" dirty="0"/>
                </a:p>
              </p:txBody>
            </p:sp>
          </p:grpSp>
          <p:grpSp>
            <p:nvGrpSpPr>
              <p:cNvPr id="91" name="群組 20">
                <a:extLst>
                  <a:ext uri="{FF2B5EF4-FFF2-40B4-BE49-F238E27FC236}">
                    <a16:creationId xmlns:a16="http://schemas.microsoft.com/office/drawing/2014/main" id="{DB4A969C-4654-C7F7-F97F-B0ECA62DE6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2209" y="894471"/>
                <a:ext cx="1145331" cy="411480"/>
                <a:chOff x="4241" y="382621"/>
                <a:chExt cx="1838145" cy="987623"/>
              </a:xfrm>
              <a:noFill/>
            </p:grpSpPr>
            <p:sp>
              <p:nvSpPr>
                <p:cNvPr id="94" name="＞形箭號 21">
                  <a:extLst>
                    <a:ext uri="{FF2B5EF4-FFF2-40B4-BE49-F238E27FC236}">
                      <a16:creationId xmlns:a16="http://schemas.microsoft.com/office/drawing/2014/main" id="{BD5F5510-FAA9-19F7-BDA1-EB7A6D04842F}"/>
                    </a:ext>
                  </a:extLst>
                </p:cNvPr>
                <p:cNvSpPr/>
                <p:nvPr/>
              </p:nvSpPr>
              <p:spPr>
                <a:xfrm>
                  <a:off x="4241" y="382621"/>
                  <a:ext cx="1838145" cy="987623"/>
                </a:xfrm>
                <a:prstGeom prst="chevron">
                  <a:avLst/>
                </a:prstGeom>
                <a:grpFill/>
                <a:ln>
                  <a:noFill/>
                </a:ln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p:spPr>
              <p:style>
                <a:lnRef idx="0">
                  <a:scrgbClr r="0" g="0" b="0"/>
                </a:lnRef>
                <a:fillRef idx="3">
                  <a:scrgbClr r="0" g="0" b="0"/>
                </a:fillRef>
                <a:effectRef idx="2">
                  <a:scrgbClr r="0" g="0" b="0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endParaRPr lang="zh-CN" altLang="en-US" sz="2400" dirty="0"/>
                </a:p>
              </p:txBody>
            </p:sp>
            <p:sp>
              <p:nvSpPr>
                <p:cNvPr id="95" name="＞形箭號 4">
                  <a:extLst>
                    <a:ext uri="{FF2B5EF4-FFF2-40B4-BE49-F238E27FC236}">
                      <a16:creationId xmlns:a16="http://schemas.microsoft.com/office/drawing/2014/main" id="{14FAD20E-52C6-6B92-DDF8-C61E538E2C19}"/>
                    </a:ext>
                  </a:extLst>
                </p:cNvPr>
                <p:cNvSpPr/>
                <p:nvPr/>
              </p:nvSpPr>
              <p:spPr>
                <a:xfrm>
                  <a:off x="18745" y="382621"/>
                  <a:ext cx="1772501" cy="987623"/>
                </a:xfrm>
                <a:prstGeom prst="rect">
                  <a:avLst/>
                </a:prstGeom>
                <a:grpFill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120015" tIns="40005" rIns="40005" bIns="40005" spcCol="1270" anchor="ctr"/>
                <a:lstStyle/>
                <a:p>
                  <a:r>
                    <a:rPr lang="vi-VN" sz="1600" b="1" dirty="0"/>
                    <a:t>Old Workflow</a:t>
                  </a:r>
                  <a:endParaRPr lang="en-US" sz="1600" b="1" dirty="0"/>
                </a:p>
              </p:txBody>
            </p:sp>
          </p:grpSp>
          <p:sp>
            <p:nvSpPr>
              <p:cNvPr id="92" name="＞形箭號 21">
                <a:extLst>
                  <a:ext uri="{FF2B5EF4-FFF2-40B4-BE49-F238E27FC236}">
                    <a16:creationId xmlns:a16="http://schemas.microsoft.com/office/drawing/2014/main" id="{D9805CE1-D0F0-ACF0-026A-038CD04E8BEB}"/>
                  </a:ext>
                </a:extLst>
              </p:cNvPr>
              <p:cNvSpPr/>
              <p:nvPr/>
            </p:nvSpPr>
            <p:spPr bwMode="auto">
              <a:xfrm>
                <a:off x="5469595" y="912153"/>
                <a:ext cx="2159110" cy="411480"/>
              </a:xfrm>
              <a:prstGeom prst="chevron">
                <a:avLst/>
              </a:prstGeom>
              <a:noFill/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p:spPr>
            <p:style>
              <a:lnRef idx="0">
                <a:scrgbClr r="0" g="0" b="0"/>
              </a:lnRef>
              <a:fillRef idx="3">
                <a:scrgbClr r="0" g="0" b="0"/>
              </a:fillRef>
              <a:effectRef idx="2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 sz="1600" dirty="0"/>
              </a:p>
            </p:txBody>
          </p:sp>
          <p:cxnSp>
            <p:nvCxnSpPr>
              <p:cNvPr id="93" name="直線單箭頭接點 92"/>
              <p:cNvCxnSpPr/>
              <p:nvPr/>
            </p:nvCxnSpPr>
            <p:spPr>
              <a:xfrm flipV="1">
                <a:off x="143691" y="1567543"/>
                <a:ext cx="11678195" cy="3918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4" name="文字方塊 103"/>
            <p:cNvSpPr txBox="1"/>
            <p:nvPr/>
          </p:nvSpPr>
          <p:spPr>
            <a:xfrm>
              <a:off x="1382368" y="2319275"/>
              <a:ext cx="1459054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>
                <a:defRPr sz="1400">
                  <a:solidFill>
                    <a:schemeClr val="bg1"/>
                  </a:solidFill>
                </a:defRPr>
              </a:lvl1pPr>
            </a:lstStyle>
            <a:p>
              <a:pPr algn="just"/>
              <a:r>
                <a:rPr lang="vi-VN" dirty="0"/>
                <a:t>Input: Word file</a:t>
              </a:r>
            </a:p>
            <a:p>
              <a:pPr algn="just"/>
              <a:r>
                <a:rPr lang="vi-VN" dirty="0"/>
                <a:t>Output: PDF file</a:t>
              </a:r>
            </a:p>
            <a:p>
              <a:pPr algn="just"/>
              <a:r>
                <a:rPr lang="vi-VN" dirty="0"/>
                <a:t>Disadvantage: </a:t>
              </a:r>
              <a:r>
                <a:rPr lang="en-US" dirty="0"/>
                <a:t>Manual Work</a:t>
              </a:r>
            </a:p>
          </p:txBody>
        </p:sp>
        <p:sp>
          <p:nvSpPr>
            <p:cNvPr id="105" name="文字方塊 104"/>
            <p:cNvSpPr txBox="1"/>
            <p:nvPr/>
          </p:nvSpPr>
          <p:spPr>
            <a:xfrm>
              <a:off x="3828473" y="2217054"/>
              <a:ext cx="2455573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>
                <a:defRPr sz="1400">
                  <a:solidFill>
                    <a:schemeClr val="bg1"/>
                  </a:solidFill>
                </a:defRPr>
              </a:lvl1pPr>
            </a:lstStyle>
            <a:p>
              <a:pPr algn="just"/>
              <a:r>
                <a:rPr lang="vi-VN" dirty="0"/>
                <a:t>Input: PDF File</a:t>
              </a:r>
            </a:p>
            <a:p>
              <a:pPr algn="just"/>
              <a:r>
                <a:rPr lang="vi-VN" dirty="0"/>
                <a:t>Output: Codesoft .lab file</a:t>
              </a:r>
              <a:endParaRPr lang="en-US" dirty="0"/>
            </a:p>
            <a:p>
              <a:pPr algn="just"/>
              <a:r>
                <a:rPr lang="en-US" dirty="0"/>
                <a:t>Disadvantage: Manual Work, have to train the software for newbie</a:t>
              </a:r>
            </a:p>
          </p:txBody>
        </p:sp>
        <p:sp>
          <p:nvSpPr>
            <p:cNvPr id="47" name="文字方塊 46"/>
            <p:cNvSpPr txBox="1"/>
            <p:nvPr/>
          </p:nvSpPr>
          <p:spPr>
            <a:xfrm>
              <a:off x="6427044" y="2199396"/>
              <a:ext cx="2455573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>
                <a:defRPr sz="1400">
                  <a:solidFill>
                    <a:schemeClr val="bg1"/>
                  </a:solidFill>
                </a:defRPr>
              </a:lvl1pPr>
            </a:lstStyle>
            <a:p>
              <a:pPr algn="just"/>
              <a:r>
                <a:rPr lang="vi-VN" dirty="0"/>
                <a:t>Input: .lab file &amp; printed label</a:t>
              </a:r>
            </a:p>
            <a:p>
              <a:pPr algn="just"/>
              <a:r>
                <a:rPr lang="vi-VN" dirty="0"/>
                <a:t>Output: OK Label</a:t>
              </a:r>
              <a:endParaRPr lang="en-US" dirty="0"/>
            </a:p>
            <a:p>
              <a:pPr algn="just"/>
              <a:r>
                <a:rPr lang="en-US" dirty="0"/>
                <a:t>Disadvantage: Manual Work</a:t>
              </a:r>
              <a:r>
                <a:rPr lang="zh-CN" altLang="en-US" dirty="0"/>
                <a:t>， </a:t>
              </a:r>
              <a:r>
                <a:rPr lang="en-US" altLang="zh-CN" dirty="0"/>
                <a:t>Mistake happens with high rate</a:t>
              </a:r>
              <a:endParaRPr lang="en-US" dirty="0"/>
            </a:p>
          </p:txBody>
        </p:sp>
      </p:grpSp>
      <p:cxnSp>
        <p:nvCxnSpPr>
          <p:cNvPr id="48" name="Straight Connector 71">
            <a:extLst>
              <a:ext uri="{FF2B5EF4-FFF2-40B4-BE49-F238E27FC236}">
                <a16:creationId xmlns:a16="http://schemas.microsoft.com/office/drawing/2014/main" id="{8290867D-0E45-C134-B878-16D2A48E90F2}"/>
              </a:ext>
            </a:extLst>
          </p:cNvPr>
          <p:cNvCxnSpPr>
            <a:cxnSpLocks/>
          </p:cNvCxnSpPr>
          <p:nvPr/>
        </p:nvCxnSpPr>
        <p:spPr>
          <a:xfrm>
            <a:off x="3885160" y="3531324"/>
            <a:ext cx="0" cy="313497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71">
            <a:extLst>
              <a:ext uri="{FF2B5EF4-FFF2-40B4-BE49-F238E27FC236}">
                <a16:creationId xmlns:a16="http://schemas.microsoft.com/office/drawing/2014/main" id="{8290867D-0E45-C134-B878-16D2A48E90F2}"/>
              </a:ext>
            </a:extLst>
          </p:cNvPr>
          <p:cNvCxnSpPr>
            <a:cxnSpLocks/>
          </p:cNvCxnSpPr>
          <p:nvPr/>
        </p:nvCxnSpPr>
        <p:spPr>
          <a:xfrm flipH="1">
            <a:off x="6265306" y="3531324"/>
            <a:ext cx="6705" cy="313497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71">
            <a:extLst>
              <a:ext uri="{FF2B5EF4-FFF2-40B4-BE49-F238E27FC236}">
                <a16:creationId xmlns:a16="http://schemas.microsoft.com/office/drawing/2014/main" id="{8290867D-0E45-C134-B878-16D2A48E90F2}"/>
              </a:ext>
            </a:extLst>
          </p:cNvPr>
          <p:cNvCxnSpPr>
            <a:cxnSpLocks/>
          </p:cNvCxnSpPr>
          <p:nvPr/>
        </p:nvCxnSpPr>
        <p:spPr>
          <a:xfrm>
            <a:off x="8331112" y="3495168"/>
            <a:ext cx="0" cy="317112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71">
            <a:extLst>
              <a:ext uri="{FF2B5EF4-FFF2-40B4-BE49-F238E27FC236}">
                <a16:creationId xmlns:a16="http://schemas.microsoft.com/office/drawing/2014/main" id="{8290867D-0E45-C134-B878-16D2A48E90F2}"/>
              </a:ext>
            </a:extLst>
          </p:cNvPr>
          <p:cNvCxnSpPr>
            <a:cxnSpLocks/>
          </p:cNvCxnSpPr>
          <p:nvPr/>
        </p:nvCxnSpPr>
        <p:spPr>
          <a:xfrm>
            <a:off x="10046178" y="3531324"/>
            <a:ext cx="0" cy="317112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7553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/>
          <p:cNvGrpSpPr/>
          <p:nvPr/>
        </p:nvGrpSpPr>
        <p:grpSpPr>
          <a:xfrm>
            <a:off x="849748" y="876288"/>
            <a:ext cx="10415297" cy="3683725"/>
            <a:chOff x="758208" y="209006"/>
            <a:chExt cx="10415297" cy="3683725"/>
          </a:xfrm>
        </p:grpSpPr>
        <p:sp>
          <p:nvSpPr>
            <p:cNvPr id="3" name="矩形 2"/>
            <p:cNvSpPr/>
            <p:nvPr/>
          </p:nvSpPr>
          <p:spPr>
            <a:xfrm>
              <a:off x="758208" y="1526521"/>
              <a:ext cx="1236941" cy="1046861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dirty="0"/>
                <a:t>Input Word File</a:t>
              </a:r>
              <a:endParaRPr lang="en-US" dirty="0"/>
            </a:p>
          </p:txBody>
        </p:sp>
        <p:sp>
          <p:nvSpPr>
            <p:cNvPr id="4" name="矩形 3"/>
            <p:cNvSpPr/>
            <p:nvPr/>
          </p:nvSpPr>
          <p:spPr>
            <a:xfrm>
              <a:off x="2287934" y="1526522"/>
              <a:ext cx="1236941" cy="1046860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dirty="0"/>
                <a:t>APP/ System Convert</a:t>
              </a:r>
              <a:endParaRPr lang="en-US" dirty="0"/>
            </a:p>
          </p:txBody>
        </p:sp>
        <p:sp>
          <p:nvSpPr>
            <p:cNvPr id="5" name="矩形 4"/>
            <p:cNvSpPr/>
            <p:nvPr/>
          </p:nvSpPr>
          <p:spPr>
            <a:xfrm>
              <a:off x="3817660" y="1526522"/>
              <a:ext cx="1236941" cy="1046860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dirty="0"/>
                <a:t>Excel File</a:t>
              </a:r>
              <a:endParaRPr lang="en-US" dirty="0"/>
            </a:p>
          </p:txBody>
        </p:sp>
        <p:sp>
          <p:nvSpPr>
            <p:cNvPr id="6" name="矩形 5"/>
            <p:cNvSpPr/>
            <p:nvPr/>
          </p:nvSpPr>
          <p:spPr>
            <a:xfrm>
              <a:off x="5347386" y="1526522"/>
              <a:ext cx="1236941" cy="1046860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dirty="0"/>
                <a:t>Auto Design</a:t>
              </a:r>
              <a:endParaRPr lang="en-US" dirty="0"/>
            </a:p>
          </p:txBody>
        </p:sp>
        <p:sp>
          <p:nvSpPr>
            <p:cNvPr id="7" name="矩形 6"/>
            <p:cNvSpPr/>
            <p:nvPr/>
          </p:nvSpPr>
          <p:spPr>
            <a:xfrm>
              <a:off x="6877112" y="1526522"/>
              <a:ext cx="1236941" cy="1046860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dirty="0"/>
                <a:t>Output Label</a:t>
              </a:r>
              <a:endParaRPr lang="en-US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8406838" y="1526522"/>
              <a:ext cx="1236941" cy="1046860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dirty="0"/>
                <a:t>Print</a:t>
              </a:r>
              <a:endParaRPr lang="en-US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9936564" y="1526522"/>
              <a:ext cx="1236941" cy="1046860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700" dirty="0"/>
                <a:t>Barcode Verify &amp; Send to SFIS</a:t>
              </a:r>
              <a:endParaRPr lang="en-US" sz="1700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5347385" y="209006"/>
              <a:ext cx="1236941" cy="1012882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dirty="0"/>
                <a:t>Select Label Template</a:t>
              </a:r>
              <a:endParaRPr 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758208" y="2849143"/>
              <a:ext cx="1236941" cy="1043588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dirty="0"/>
                <a:t>Check Point</a:t>
              </a:r>
              <a:endParaRPr 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3817659" y="2849143"/>
              <a:ext cx="1236941" cy="1043588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dirty="0"/>
                <a:t>Check Point</a:t>
              </a:r>
              <a:endParaRPr lang="en-US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6877112" y="2849143"/>
              <a:ext cx="1236941" cy="1043588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dirty="0"/>
                <a:t>Check Point</a:t>
              </a:r>
              <a:endParaRPr lang="en-US" dirty="0"/>
            </a:p>
          </p:txBody>
        </p:sp>
        <p:sp>
          <p:nvSpPr>
            <p:cNvPr id="14" name="向右箭號 13"/>
            <p:cNvSpPr/>
            <p:nvPr/>
          </p:nvSpPr>
          <p:spPr>
            <a:xfrm>
              <a:off x="1995149" y="1972491"/>
              <a:ext cx="292785" cy="319776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向右箭號 14"/>
            <p:cNvSpPr/>
            <p:nvPr/>
          </p:nvSpPr>
          <p:spPr>
            <a:xfrm>
              <a:off x="3545274" y="1955073"/>
              <a:ext cx="251663" cy="319776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向右箭號 15"/>
            <p:cNvSpPr/>
            <p:nvPr/>
          </p:nvSpPr>
          <p:spPr>
            <a:xfrm>
              <a:off x="5075324" y="1948277"/>
              <a:ext cx="272061" cy="319776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向右箭號 16"/>
            <p:cNvSpPr/>
            <p:nvPr/>
          </p:nvSpPr>
          <p:spPr>
            <a:xfrm>
              <a:off x="6617789" y="1948277"/>
              <a:ext cx="259323" cy="319776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向右箭號 17"/>
            <p:cNvSpPr/>
            <p:nvPr/>
          </p:nvSpPr>
          <p:spPr>
            <a:xfrm>
              <a:off x="8136833" y="1972491"/>
              <a:ext cx="259323" cy="319776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向右箭號 18"/>
            <p:cNvSpPr/>
            <p:nvPr/>
          </p:nvSpPr>
          <p:spPr>
            <a:xfrm>
              <a:off x="9677241" y="1971726"/>
              <a:ext cx="259323" cy="319776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向下箭號 19"/>
            <p:cNvSpPr/>
            <p:nvPr/>
          </p:nvSpPr>
          <p:spPr>
            <a:xfrm>
              <a:off x="1185109" y="2573382"/>
              <a:ext cx="320962" cy="275761"/>
            </a:xfrm>
            <a:prstGeom prst="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向下箭號 20"/>
            <p:cNvSpPr/>
            <p:nvPr/>
          </p:nvSpPr>
          <p:spPr>
            <a:xfrm>
              <a:off x="4275649" y="2573382"/>
              <a:ext cx="320962" cy="275761"/>
            </a:xfrm>
            <a:prstGeom prst="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向下箭號 21"/>
            <p:cNvSpPr/>
            <p:nvPr/>
          </p:nvSpPr>
          <p:spPr>
            <a:xfrm>
              <a:off x="7335101" y="2558946"/>
              <a:ext cx="320962" cy="275761"/>
            </a:xfrm>
            <a:prstGeom prst="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向上箭號 22"/>
            <p:cNvSpPr/>
            <p:nvPr/>
          </p:nvSpPr>
          <p:spPr>
            <a:xfrm>
              <a:off x="5792651" y="1221887"/>
              <a:ext cx="346406" cy="304633"/>
            </a:xfrm>
            <a:prstGeom prst="up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文本框 107">
            <a:extLst>
              <a:ext uri="{FF2B5EF4-FFF2-40B4-BE49-F238E27FC236}">
                <a16:creationId xmlns:a16="http://schemas.microsoft.com/office/drawing/2014/main" id="{4F62504F-0EC3-056C-F84D-50B59EBBC6E7}"/>
              </a:ext>
            </a:extLst>
          </p:cNvPr>
          <p:cNvSpPr txBox="1"/>
          <p:nvPr/>
        </p:nvSpPr>
        <p:spPr>
          <a:xfrm>
            <a:off x="227013" y="30249"/>
            <a:ext cx="107327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vi-VN" altLang="zh-CN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  <a:sym typeface="+mn-ea"/>
              </a:rPr>
              <a:t>Label Automatic Making (LAM) System Analysis </a:t>
            </a:r>
            <a:endParaRPr lang="en-US" altLang="zh-CN" sz="32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itchFamily="34" charset="-122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32" name="群組 31"/>
          <p:cNvGrpSpPr/>
          <p:nvPr/>
        </p:nvGrpSpPr>
        <p:grpSpPr>
          <a:xfrm>
            <a:off x="9219520" y="986995"/>
            <a:ext cx="1947930" cy="836862"/>
            <a:chOff x="808777" y="5852761"/>
            <a:chExt cx="1947930" cy="836862"/>
          </a:xfrm>
        </p:grpSpPr>
        <p:sp>
          <p:nvSpPr>
            <p:cNvPr id="25" name="矩形 24"/>
            <p:cNvSpPr/>
            <p:nvPr/>
          </p:nvSpPr>
          <p:spPr>
            <a:xfrm>
              <a:off x="808777" y="5852761"/>
              <a:ext cx="451114" cy="276999"/>
            </a:xfrm>
            <a:prstGeom prst="rect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1350553" y="5867062"/>
              <a:ext cx="14061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bg1"/>
                  </a:solidFill>
                </a:rPr>
                <a:t>System Functions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808777" y="6420250"/>
              <a:ext cx="451114" cy="237105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1337729" y="6412624"/>
              <a:ext cx="141417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bg1"/>
                  </a:solidFill>
                </a:rPr>
                <a:t>System </a:t>
              </a:r>
              <a:r>
                <a:rPr lang="vi-VN" altLang="zh-CN" sz="1200" dirty="0">
                  <a:solidFill>
                    <a:schemeClr val="bg1"/>
                  </a:solidFill>
                </a:rPr>
                <a:t>Operation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文字方塊 29"/>
          <p:cNvSpPr txBox="1"/>
          <p:nvPr/>
        </p:nvSpPr>
        <p:spPr>
          <a:xfrm>
            <a:off x="4113742" y="4669956"/>
            <a:ext cx="4373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altLang="zh-CN" dirty="0">
                <a:solidFill>
                  <a:schemeClr val="bg1"/>
                </a:solidFill>
              </a:rPr>
              <a:t>LAM </a:t>
            </a:r>
            <a:r>
              <a:rPr lang="en-US" altLang="zh-CN" dirty="0">
                <a:solidFill>
                  <a:schemeClr val="bg1"/>
                </a:solidFill>
              </a:rPr>
              <a:t>System </a:t>
            </a:r>
            <a:r>
              <a:rPr lang="vi-VN" altLang="zh-CN" dirty="0">
                <a:solidFill>
                  <a:schemeClr val="bg1"/>
                </a:solidFill>
              </a:rPr>
              <a:t>Overall Operation Workflow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31" name="群組 30"/>
          <p:cNvGrpSpPr/>
          <p:nvPr/>
        </p:nvGrpSpPr>
        <p:grpSpPr>
          <a:xfrm>
            <a:off x="227013" y="5289355"/>
            <a:ext cx="11780943" cy="1568645"/>
            <a:chOff x="238768" y="1896184"/>
            <a:chExt cx="11780943" cy="1568645"/>
          </a:xfrm>
        </p:grpSpPr>
        <p:cxnSp>
          <p:nvCxnSpPr>
            <p:cNvPr id="33" name="直接箭头连接符 10"/>
            <p:cNvCxnSpPr/>
            <p:nvPr/>
          </p:nvCxnSpPr>
          <p:spPr>
            <a:xfrm>
              <a:off x="238768" y="2780800"/>
              <a:ext cx="11780943" cy="0"/>
            </a:xfrm>
            <a:prstGeom prst="straightConnector1">
              <a:avLst/>
            </a:prstGeom>
            <a:ln w="38100">
              <a:gradFill>
                <a:gsLst>
                  <a:gs pos="0">
                    <a:srgbClr val="00B0F0">
                      <a:alpha val="49000"/>
                    </a:srgbClr>
                  </a:gs>
                  <a:gs pos="50400">
                    <a:srgbClr val="007DFF">
                      <a:alpha val="97000"/>
                    </a:srgbClr>
                  </a:gs>
                  <a:gs pos="100000">
                    <a:srgbClr val="00B0F0">
                      <a:lumMod val="67000"/>
                      <a:lumOff val="33000"/>
                    </a:srgbClr>
                  </a:gs>
                </a:gsLst>
                <a:lin ang="0" scaled="0"/>
              </a:gra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11"/>
            <p:cNvSpPr txBox="1"/>
            <p:nvPr/>
          </p:nvSpPr>
          <p:spPr>
            <a:xfrm>
              <a:off x="621091" y="2320833"/>
              <a:ext cx="6848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01/11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橢圓 148"/>
            <p:cNvSpPr/>
            <p:nvPr/>
          </p:nvSpPr>
          <p:spPr>
            <a:xfrm>
              <a:off x="880819" y="2692154"/>
              <a:ext cx="177269" cy="177292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bg1"/>
                </a:solidFill>
              </a:endParaRPr>
            </a:p>
          </p:txBody>
        </p:sp>
        <p:sp>
          <p:nvSpPr>
            <p:cNvPr id="36" name="文本框 50"/>
            <p:cNvSpPr txBox="1"/>
            <p:nvPr/>
          </p:nvSpPr>
          <p:spPr>
            <a:xfrm>
              <a:off x="513733" y="2941609"/>
              <a:ext cx="9130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05"/>
                </a:spcBef>
              </a:pPr>
              <a:r>
                <a:rPr lang="zh-CN" altLang="en-US" sz="1400" spc="-5" dirty="0">
                  <a:solidFill>
                    <a:srgbClr val="FFFFFF"/>
                  </a:solidFill>
                  <a:latin typeface="微软雅黑" panose="020B0503020204020204" pitchFamily="34" charset="-122"/>
                  <a:ea typeface="思源黑体 CN Regular" panose="020B0500000000000000"/>
                  <a:cs typeface="Times New Roman" panose="02020503050405090304"/>
                </a:rPr>
                <a:t>需求評估</a:t>
              </a:r>
              <a:endParaRPr lang="zh-CN" altLang="en-US" sz="1400" dirty="0">
                <a:latin typeface="微软雅黑" panose="020B0503020204020204" pitchFamily="34" charset="-122"/>
                <a:ea typeface="思源黑体 CN Regular" panose="020B0500000000000000"/>
                <a:cs typeface="Times New Roman" panose="02020503050405090304"/>
              </a:endParaRPr>
            </a:p>
          </p:txBody>
        </p:sp>
        <p:sp>
          <p:nvSpPr>
            <p:cNvPr id="37" name="文本框 116"/>
            <p:cNvSpPr txBox="1"/>
            <p:nvPr/>
          </p:nvSpPr>
          <p:spPr>
            <a:xfrm>
              <a:off x="2091459" y="2320833"/>
              <a:ext cx="6848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02/15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文本框 117"/>
            <p:cNvSpPr txBox="1"/>
            <p:nvPr/>
          </p:nvSpPr>
          <p:spPr>
            <a:xfrm>
              <a:off x="1904999" y="2941609"/>
              <a:ext cx="11476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spc="-5" dirty="0">
                  <a:solidFill>
                    <a:srgbClr val="FFFFFF"/>
                  </a:solidFill>
                  <a:latin typeface="微软雅黑" panose="020B0503020204020204" pitchFamily="34" charset="-122"/>
                  <a:ea typeface="思源黑体 CN Regular" panose="020B0500000000000000"/>
                  <a:cs typeface="Times New Roman" panose="02020503050405090304"/>
                </a:rPr>
                <a:t>開始開發</a:t>
              </a:r>
              <a:endParaRPr lang="zh-CN" altLang="en-US" sz="140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39" name="橢圓 160"/>
            <p:cNvSpPr/>
            <p:nvPr/>
          </p:nvSpPr>
          <p:spPr>
            <a:xfrm>
              <a:off x="2352017" y="2692154"/>
              <a:ext cx="177269" cy="177292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bg1"/>
                </a:solidFill>
              </a:endParaRPr>
            </a:p>
          </p:txBody>
        </p:sp>
        <p:sp>
          <p:nvSpPr>
            <p:cNvPr id="40" name="文本框 61"/>
            <p:cNvSpPr txBox="1"/>
            <p:nvPr/>
          </p:nvSpPr>
          <p:spPr>
            <a:xfrm>
              <a:off x="5032195" y="2320833"/>
              <a:ext cx="6848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04/25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文本框 62"/>
            <p:cNvSpPr txBox="1"/>
            <p:nvPr/>
          </p:nvSpPr>
          <p:spPr>
            <a:xfrm>
              <a:off x="6433688" y="2941609"/>
              <a:ext cx="9936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05"/>
                </a:spcBef>
              </a:pPr>
              <a:r>
                <a:rPr lang="zh-CN" altLang="en-US" sz="1400" dirty="0">
                  <a:solidFill>
                    <a:srgbClr val="FFFFFF"/>
                  </a:solidFill>
                  <a:latin typeface="微软雅黑" panose="020B0503020204020204" pitchFamily="34" charset="-122"/>
                  <a:ea typeface="思源黑体 CN Regular" panose="020B0500000000000000"/>
                  <a:cs typeface="Times New Roman" panose="02020503050405090304"/>
                </a:rPr>
                <a:t>用戶試用</a:t>
              </a:r>
              <a:endParaRPr lang="zh-CN" altLang="en-US" sz="1400" dirty="0">
                <a:latin typeface="微软雅黑" panose="020B0503020204020204" pitchFamily="34" charset="-122"/>
                <a:ea typeface="思源黑体 CN Regular" panose="020B0500000000000000"/>
                <a:cs typeface="Times New Roman" panose="02020503050405090304"/>
              </a:endParaRPr>
            </a:p>
          </p:txBody>
        </p:sp>
        <p:sp>
          <p:nvSpPr>
            <p:cNvPr id="42" name="橢圓 166"/>
            <p:cNvSpPr/>
            <p:nvPr/>
          </p:nvSpPr>
          <p:spPr>
            <a:xfrm>
              <a:off x="6765611" y="2692154"/>
              <a:ext cx="177269" cy="17729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bg1"/>
                </a:solidFill>
              </a:endParaRPr>
            </a:p>
          </p:txBody>
        </p:sp>
        <p:sp>
          <p:nvSpPr>
            <p:cNvPr id="43" name="文本框 59"/>
            <p:cNvSpPr txBox="1"/>
            <p:nvPr/>
          </p:nvSpPr>
          <p:spPr>
            <a:xfrm>
              <a:off x="6502563" y="2320833"/>
              <a:ext cx="6848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05/04</a:t>
              </a:r>
            </a:p>
          </p:txBody>
        </p:sp>
        <p:sp>
          <p:nvSpPr>
            <p:cNvPr id="44" name="文本框 60"/>
            <p:cNvSpPr txBox="1"/>
            <p:nvPr/>
          </p:nvSpPr>
          <p:spPr>
            <a:xfrm>
              <a:off x="7968164" y="2941609"/>
              <a:ext cx="7287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bg1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Debug</a:t>
              </a:r>
              <a:endParaRPr lang="zh-CN" altLang="en-US" sz="1400" dirty="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</a:endParaRPr>
            </a:p>
          </p:txBody>
        </p:sp>
        <p:sp>
          <p:nvSpPr>
            <p:cNvPr id="45" name="橢圓 169"/>
            <p:cNvSpPr/>
            <p:nvPr/>
          </p:nvSpPr>
          <p:spPr>
            <a:xfrm>
              <a:off x="8236809" y="2692154"/>
              <a:ext cx="177269" cy="17729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bg1"/>
                </a:solidFill>
              </a:endParaRPr>
            </a:p>
          </p:txBody>
        </p:sp>
        <p:sp>
          <p:nvSpPr>
            <p:cNvPr id="46" name="文本框 116"/>
            <p:cNvSpPr txBox="1"/>
            <p:nvPr/>
          </p:nvSpPr>
          <p:spPr>
            <a:xfrm>
              <a:off x="9443299" y="2320833"/>
              <a:ext cx="6848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05/29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文本框 117"/>
            <p:cNvSpPr txBox="1"/>
            <p:nvPr/>
          </p:nvSpPr>
          <p:spPr>
            <a:xfrm>
              <a:off x="9302965" y="2941609"/>
              <a:ext cx="9726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05"/>
                </a:spcBef>
              </a:pPr>
              <a:r>
                <a:rPr lang="zh-CN" altLang="en-US" sz="1400" dirty="0">
                  <a:solidFill>
                    <a:srgbClr val="FFFFFF"/>
                  </a:solidFill>
                  <a:latin typeface="微软雅黑" panose="020B0503020204020204" pitchFamily="34" charset="-122"/>
                  <a:ea typeface="思源黑体 CN Regular" panose="020B0500000000000000"/>
                  <a:cs typeface="Times New Roman" panose="02020503050405090304"/>
                </a:rPr>
                <a:t>驗收</a:t>
              </a:r>
              <a:endParaRPr lang="zh-CN" altLang="en-US" sz="1400" dirty="0">
                <a:latin typeface="微软雅黑" panose="020B0503020204020204" pitchFamily="34" charset="-122"/>
                <a:ea typeface="思源黑体 CN Regular" panose="020B0500000000000000"/>
                <a:cs typeface="Times New Roman" panose="02020503050405090304"/>
              </a:endParaRPr>
            </a:p>
          </p:txBody>
        </p:sp>
        <p:sp>
          <p:nvSpPr>
            <p:cNvPr id="48" name="橢圓 140"/>
            <p:cNvSpPr/>
            <p:nvPr/>
          </p:nvSpPr>
          <p:spPr>
            <a:xfrm>
              <a:off x="9708007" y="2692154"/>
              <a:ext cx="177269" cy="17729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bg1"/>
                </a:solidFill>
              </a:endParaRPr>
            </a:p>
          </p:txBody>
        </p:sp>
        <p:sp>
          <p:nvSpPr>
            <p:cNvPr id="49" name="文本框 116"/>
            <p:cNvSpPr txBox="1"/>
            <p:nvPr/>
          </p:nvSpPr>
          <p:spPr>
            <a:xfrm>
              <a:off x="10913669" y="2320833"/>
              <a:ext cx="6848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06/15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0" name="文本框 117"/>
            <p:cNvSpPr txBox="1"/>
            <p:nvPr/>
          </p:nvSpPr>
          <p:spPr>
            <a:xfrm>
              <a:off x="10816434" y="2941609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Calibri" panose="020F0502020204030204" pitchFamily="34" charset="0"/>
                  <a:ea typeface="微軟正黑體" panose="020B0604030504040204" pitchFamily="34" charset="-120"/>
                </a:rPr>
                <a:t>導入使用</a:t>
              </a:r>
            </a:p>
          </p:txBody>
        </p:sp>
        <p:sp>
          <p:nvSpPr>
            <p:cNvPr id="51" name="橢圓 173"/>
            <p:cNvSpPr/>
            <p:nvPr/>
          </p:nvSpPr>
          <p:spPr>
            <a:xfrm>
              <a:off x="11179205" y="2692154"/>
              <a:ext cx="177269" cy="17729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bg1"/>
                </a:solidFill>
              </a:endParaRPr>
            </a:p>
          </p:txBody>
        </p:sp>
        <p:sp>
          <p:nvSpPr>
            <p:cNvPr id="52" name="橢圓 160"/>
            <p:cNvSpPr/>
            <p:nvPr/>
          </p:nvSpPr>
          <p:spPr>
            <a:xfrm>
              <a:off x="3823215" y="2692154"/>
              <a:ext cx="177269" cy="177292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bg1"/>
                </a:solidFill>
              </a:endParaRPr>
            </a:p>
          </p:txBody>
        </p:sp>
        <p:sp>
          <p:nvSpPr>
            <p:cNvPr id="53" name="橢圓 160"/>
            <p:cNvSpPr/>
            <p:nvPr/>
          </p:nvSpPr>
          <p:spPr>
            <a:xfrm>
              <a:off x="5294413" y="2692154"/>
              <a:ext cx="177269" cy="17729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bg1"/>
                </a:solidFill>
              </a:endParaRPr>
            </a:p>
          </p:txBody>
        </p:sp>
        <p:sp>
          <p:nvSpPr>
            <p:cNvPr id="54" name="文本框 117"/>
            <p:cNvSpPr txBox="1"/>
            <p:nvPr/>
          </p:nvSpPr>
          <p:spPr>
            <a:xfrm>
              <a:off x="3411581" y="2941609"/>
              <a:ext cx="99048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05"/>
                </a:spcBef>
              </a:pPr>
              <a:r>
                <a:rPr lang="zh-CN" altLang="en-US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思源黑体 CN Regular" panose="020B0500000000000000"/>
                  <a:cs typeface="Times New Roman" panose="02020503050405090304"/>
                </a:rPr>
                <a:t>完成開發</a:t>
              </a:r>
            </a:p>
          </p:txBody>
        </p:sp>
        <p:sp>
          <p:nvSpPr>
            <p:cNvPr id="55" name="文本框 117"/>
            <p:cNvSpPr txBox="1"/>
            <p:nvPr/>
          </p:nvSpPr>
          <p:spPr>
            <a:xfrm>
              <a:off x="4719865" y="2941609"/>
              <a:ext cx="130946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05"/>
                </a:spcBef>
              </a:pPr>
              <a:r>
                <a:rPr lang="en-US" altLang="zh-CN" sz="1400" dirty="0">
                  <a:solidFill>
                    <a:srgbClr val="FFFFFF"/>
                  </a:solidFill>
                  <a:latin typeface="微软雅黑" panose="020B0503020204020204" pitchFamily="34" charset="-122"/>
                  <a:ea typeface="思源黑体 CN Regular" panose="020B0500000000000000"/>
                  <a:cs typeface="Times New Roman" panose="02020503050405090304"/>
                </a:rPr>
                <a:t>AI </a:t>
              </a:r>
              <a:r>
                <a:rPr lang="zh-CN" altLang="en-US" sz="1400" dirty="0">
                  <a:solidFill>
                    <a:srgbClr val="FFFFFF"/>
                  </a:solidFill>
                  <a:latin typeface="微软雅黑" panose="020B0503020204020204" pitchFamily="34" charset="-122"/>
                  <a:ea typeface="思源黑体 CN Regular" panose="020B0500000000000000"/>
                  <a:cs typeface="Times New Roman" panose="02020503050405090304"/>
                </a:rPr>
                <a:t>完成內部測試</a:t>
              </a:r>
              <a:endParaRPr lang="zh-CN" altLang="en-US" sz="1400" dirty="0">
                <a:latin typeface="微软雅黑" panose="020B0503020204020204" pitchFamily="34" charset="-122"/>
                <a:ea typeface="思源黑体 CN Regular" panose="020B0500000000000000"/>
                <a:cs typeface="Times New Roman" panose="02020503050405090304"/>
              </a:endParaRPr>
            </a:p>
          </p:txBody>
        </p:sp>
        <p:sp>
          <p:nvSpPr>
            <p:cNvPr id="56" name="文本框 116"/>
            <p:cNvSpPr txBox="1"/>
            <p:nvPr/>
          </p:nvSpPr>
          <p:spPr>
            <a:xfrm>
              <a:off x="3561827" y="2320833"/>
              <a:ext cx="6848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04/20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7" name="文本框 116"/>
            <p:cNvSpPr txBox="1"/>
            <p:nvPr/>
          </p:nvSpPr>
          <p:spPr>
            <a:xfrm>
              <a:off x="7972931" y="2320833"/>
              <a:ext cx="6848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05/15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8" name="object 99"/>
            <p:cNvSpPr txBox="1"/>
            <p:nvPr/>
          </p:nvSpPr>
          <p:spPr>
            <a:xfrm>
              <a:off x="244407" y="1896184"/>
              <a:ext cx="2010896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vi-VN" sz="1600" spc="-60" dirty="0">
                  <a:solidFill>
                    <a:srgbClr val="FFFFFF"/>
                  </a:solidFill>
                  <a:latin typeface="微软雅黑" panose="020B0503020204020204" pitchFamily="34" charset="-122"/>
                  <a:ea typeface="思源黑体 CN Regular" panose="020B0500000000000000"/>
                  <a:cs typeface="Times New Roman" panose="02020503050405090304"/>
                </a:rPr>
                <a:t>Project </a:t>
              </a:r>
              <a:r>
                <a:rPr sz="1600" spc="-60" dirty="0">
                  <a:solidFill>
                    <a:srgbClr val="FFFFFF"/>
                  </a:solidFill>
                  <a:latin typeface="微软雅黑" panose="020B0503020204020204" pitchFamily="34" charset="-122"/>
                  <a:ea typeface="思源黑体 CN Regular" panose="020B0500000000000000"/>
                  <a:cs typeface="Times New Roman" panose="02020503050405090304"/>
                </a:rPr>
                <a:t>Schedule</a:t>
              </a:r>
              <a:endParaRPr sz="1600" dirty="0">
                <a:latin typeface="微软雅黑" panose="020B0503020204020204" pitchFamily="34" charset="-122"/>
                <a:ea typeface="思源黑体 CN Regular" panose="020B0500000000000000"/>
                <a:cs typeface="Times New Roman" panose="020205030504050903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917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107">
            <a:extLst>
              <a:ext uri="{FF2B5EF4-FFF2-40B4-BE49-F238E27FC236}">
                <a16:creationId xmlns:a16="http://schemas.microsoft.com/office/drawing/2014/main" id="{4F62504F-0EC3-056C-F84D-50B59EBBC6E7}"/>
              </a:ext>
            </a:extLst>
          </p:cNvPr>
          <p:cNvSpPr txBox="1"/>
          <p:nvPr/>
        </p:nvSpPr>
        <p:spPr>
          <a:xfrm>
            <a:off x="227013" y="77758"/>
            <a:ext cx="107327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vi-VN" altLang="zh-CN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  <a:sym typeface="+mn-ea"/>
              </a:rPr>
              <a:t>Label Automatic Making (LAM) System Analysis </a:t>
            </a:r>
            <a:endParaRPr lang="en-US" altLang="zh-CN" sz="32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itchFamily="34" charset="-122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79" name="群組 78"/>
          <p:cNvGrpSpPr/>
          <p:nvPr/>
        </p:nvGrpSpPr>
        <p:grpSpPr>
          <a:xfrm>
            <a:off x="564026" y="5410843"/>
            <a:ext cx="11196897" cy="1476806"/>
            <a:chOff x="658089" y="5303073"/>
            <a:chExt cx="11196897" cy="1476806"/>
          </a:xfrm>
        </p:grpSpPr>
        <p:grpSp>
          <p:nvGrpSpPr>
            <p:cNvPr id="31" name="群組 30"/>
            <p:cNvGrpSpPr/>
            <p:nvPr/>
          </p:nvGrpSpPr>
          <p:grpSpPr>
            <a:xfrm>
              <a:off x="658089" y="5303073"/>
              <a:ext cx="11196897" cy="1476806"/>
              <a:chOff x="497651" y="1895690"/>
              <a:chExt cx="11196897" cy="1476806"/>
            </a:xfrm>
          </p:grpSpPr>
          <p:cxnSp>
            <p:nvCxnSpPr>
              <p:cNvPr id="33" name="直接箭头连接符 10"/>
              <p:cNvCxnSpPr/>
              <p:nvPr/>
            </p:nvCxnSpPr>
            <p:spPr>
              <a:xfrm flipV="1">
                <a:off x="516589" y="2783698"/>
                <a:ext cx="11147482" cy="4662"/>
              </a:xfrm>
              <a:prstGeom prst="straightConnector1">
                <a:avLst/>
              </a:prstGeom>
              <a:ln w="38100">
                <a:gradFill>
                  <a:gsLst>
                    <a:gs pos="0">
                      <a:srgbClr val="00B0F0">
                        <a:alpha val="49000"/>
                      </a:srgbClr>
                    </a:gs>
                    <a:gs pos="50400">
                      <a:srgbClr val="007DFF">
                        <a:alpha val="97000"/>
                      </a:srgbClr>
                    </a:gs>
                    <a:gs pos="100000">
                      <a:srgbClr val="00B0F0">
                        <a:lumMod val="67000"/>
                        <a:lumOff val="33000"/>
                      </a:srgbClr>
                    </a:gs>
                  </a:gsLst>
                  <a:lin ang="0" scaled="0"/>
                </a:gra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文本框 11"/>
              <p:cNvSpPr txBox="1"/>
              <p:nvPr/>
            </p:nvSpPr>
            <p:spPr>
              <a:xfrm>
                <a:off x="516589" y="2320833"/>
                <a:ext cx="6848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01/11</a:t>
                </a:r>
                <a:endParaRPr lang="zh-CN" altLang="en-US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5" name="橢圓 148"/>
              <p:cNvSpPr/>
              <p:nvPr/>
            </p:nvSpPr>
            <p:spPr>
              <a:xfrm>
                <a:off x="776317" y="2692154"/>
                <a:ext cx="177269" cy="177292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文本框 50"/>
              <p:cNvSpPr txBox="1"/>
              <p:nvPr/>
            </p:nvSpPr>
            <p:spPr>
              <a:xfrm>
                <a:off x="497651" y="3007464"/>
                <a:ext cx="75918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2700" algn="ctr">
                  <a:lnSpc>
                    <a:spcPct val="100000"/>
                  </a:lnSpc>
                  <a:spcBef>
                    <a:spcPts val="105"/>
                  </a:spcBef>
                </a:pPr>
                <a:r>
                  <a:rPr lang="zh-CN" altLang="en-US" sz="1100" spc="-5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思源黑体 CN Regular" panose="020B0500000000000000"/>
                    <a:cs typeface="Times New Roman" panose="02020503050405090304"/>
                  </a:rPr>
                  <a:t>需求評估</a:t>
                </a:r>
                <a:endParaRPr lang="zh-CN" altLang="en-US" sz="1100" dirty="0">
                  <a:latin typeface="微软雅黑" panose="020B0503020204020204" pitchFamily="34" charset="-122"/>
                  <a:ea typeface="思源黑体 CN Regular" panose="020B0500000000000000"/>
                  <a:cs typeface="Times New Roman" panose="02020503050405090304"/>
                </a:endParaRPr>
              </a:p>
            </p:txBody>
          </p:sp>
          <p:sp>
            <p:nvSpPr>
              <p:cNvPr id="37" name="文本框 116"/>
              <p:cNvSpPr txBox="1"/>
              <p:nvPr/>
            </p:nvSpPr>
            <p:spPr>
              <a:xfrm>
                <a:off x="1163996" y="2320833"/>
                <a:ext cx="6848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02/15</a:t>
                </a:r>
                <a:endParaRPr lang="zh-CN" altLang="en-US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8" name="文本框 117"/>
              <p:cNvSpPr txBox="1"/>
              <p:nvPr/>
            </p:nvSpPr>
            <p:spPr>
              <a:xfrm>
                <a:off x="1025335" y="3021143"/>
                <a:ext cx="97265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100" spc="-5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思源黑体 CN Regular" panose="020B0500000000000000"/>
                    <a:cs typeface="Times New Roman" panose="02020503050405090304"/>
                  </a:rPr>
                  <a:t>開始開發</a:t>
                </a:r>
                <a:endParaRPr lang="zh-CN" altLang="en-US" sz="1100" dirty="0">
                  <a:solidFill>
                    <a:schemeClr val="bg1"/>
                  </a:solidFill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39" name="橢圓 160"/>
              <p:cNvSpPr/>
              <p:nvPr/>
            </p:nvSpPr>
            <p:spPr>
              <a:xfrm>
                <a:off x="1424554" y="2692154"/>
                <a:ext cx="177269" cy="177292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文本框 61"/>
              <p:cNvSpPr txBox="1"/>
              <p:nvPr/>
            </p:nvSpPr>
            <p:spPr>
              <a:xfrm>
                <a:off x="7435765" y="2320833"/>
                <a:ext cx="6848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04/25</a:t>
                </a:r>
                <a:endParaRPr lang="zh-CN" altLang="en-US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1" name="文本框 62"/>
              <p:cNvSpPr txBox="1"/>
              <p:nvPr/>
            </p:nvSpPr>
            <p:spPr>
              <a:xfrm>
                <a:off x="8390763" y="3007464"/>
                <a:ext cx="99369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2700" algn="ctr">
                  <a:lnSpc>
                    <a:spcPct val="100000"/>
                  </a:lnSpc>
                  <a:spcBef>
                    <a:spcPts val="105"/>
                  </a:spcBef>
                </a:pPr>
                <a:r>
                  <a:rPr lang="zh-CN" altLang="en-US" sz="110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思源黑体 CN Regular" panose="020B0500000000000000"/>
                    <a:cs typeface="Times New Roman" panose="02020503050405090304"/>
                  </a:rPr>
                  <a:t>用戶試用</a:t>
                </a:r>
                <a:endParaRPr lang="zh-CN" altLang="en-US" sz="1100" dirty="0">
                  <a:latin typeface="微软雅黑" panose="020B0503020204020204" pitchFamily="34" charset="-122"/>
                  <a:ea typeface="思源黑体 CN Regular" panose="020B0500000000000000"/>
                  <a:cs typeface="Times New Roman" panose="02020503050405090304"/>
                </a:endParaRPr>
              </a:p>
            </p:txBody>
          </p:sp>
          <p:sp>
            <p:nvSpPr>
              <p:cNvPr id="42" name="橢圓 166"/>
              <p:cNvSpPr/>
              <p:nvPr/>
            </p:nvSpPr>
            <p:spPr>
              <a:xfrm>
                <a:off x="8751171" y="2692154"/>
                <a:ext cx="177269" cy="17729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文本框 59"/>
              <p:cNvSpPr txBox="1"/>
              <p:nvPr/>
            </p:nvSpPr>
            <p:spPr>
              <a:xfrm>
                <a:off x="8488123" y="2320833"/>
                <a:ext cx="6848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05/04</a:t>
                </a:r>
              </a:p>
            </p:txBody>
          </p:sp>
          <p:sp>
            <p:nvSpPr>
              <p:cNvPr id="44" name="文本框 60"/>
              <p:cNvSpPr txBox="1"/>
              <p:nvPr/>
            </p:nvSpPr>
            <p:spPr>
              <a:xfrm>
                <a:off x="9270324" y="3006430"/>
                <a:ext cx="72870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100" dirty="0">
                    <a:solidFill>
                      <a:schemeClr val="bg1"/>
                    </a:solidFill>
                    <a:latin typeface="Calibri" panose="020F0502020204030204" pitchFamily="34" charset="0"/>
                    <a:ea typeface="微軟正黑體" panose="020B0604030504040204" pitchFamily="34" charset="-120"/>
                  </a:rPr>
                  <a:t>Debug</a:t>
                </a:r>
                <a:endParaRPr lang="zh-CN" altLang="en-US" sz="1100" dirty="0">
                  <a:solidFill>
                    <a:schemeClr val="bg1"/>
                  </a:solidFill>
                  <a:latin typeface="Calibri" panose="020F0502020204030204" pitchFamily="34" charset="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45" name="橢圓 169"/>
              <p:cNvSpPr/>
              <p:nvPr/>
            </p:nvSpPr>
            <p:spPr>
              <a:xfrm>
                <a:off x="9556155" y="2692154"/>
                <a:ext cx="177269" cy="17729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文本框 116"/>
              <p:cNvSpPr txBox="1"/>
              <p:nvPr/>
            </p:nvSpPr>
            <p:spPr>
              <a:xfrm>
                <a:off x="10187883" y="2320833"/>
                <a:ext cx="6848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05/29</a:t>
                </a:r>
                <a:endParaRPr lang="zh-CN" altLang="en-US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7" name="文本框 117"/>
              <p:cNvSpPr txBox="1"/>
              <p:nvPr/>
            </p:nvSpPr>
            <p:spPr>
              <a:xfrm>
                <a:off x="9996131" y="3007226"/>
                <a:ext cx="97269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2700" algn="ctr">
                  <a:lnSpc>
                    <a:spcPct val="100000"/>
                  </a:lnSpc>
                  <a:spcBef>
                    <a:spcPts val="105"/>
                  </a:spcBef>
                </a:pPr>
                <a:r>
                  <a:rPr lang="zh-CN" altLang="en-US" sz="110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思源黑体 CN Regular" panose="020B0500000000000000"/>
                    <a:cs typeface="Times New Roman" panose="02020503050405090304"/>
                  </a:rPr>
                  <a:t>驗收</a:t>
                </a:r>
                <a:endParaRPr lang="zh-CN" altLang="en-US" sz="1100" dirty="0">
                  <a:latin typeface="微软雅黑" panose="020B0503020204020204" pitchFamily="34" charset="-122"/>
                  <a:ea typeface="思源黑体 CN Regular" panose="020B0500000000000000"/>
                  <a:cs typeface="Times New Roman" panose="02020503050405090304"/>
                </a:endParaRPr>
              </a:p>
            </p:txBody>
          </p:sp>
          <p:sp>
            <p:nvSpPr>
              <p:cNvPr id="48" name="橢圓 140"/>
              <p:cNvSpPr/>
              <p:nvPr/>
            </p:nvSpPr>
            <p:spPr>
              <a:xfrm>
                <a:off x="10452591" y="2692154"/>
                <a:ext cx="177269" cy="17729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文本框 116"/>
              <p:cNvSpPr txBox="1"/>
              <p:nvPr/>
            </p:nvSpPr>
            <p:spPr>
              <a:xfrm>
                <a:off x="10965917" y="2320833"/>
                <a:ext cx="6848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06/15</a:t>
                </a:r>
                <a:endParaRPr lang="zh-CN" altLang="en-US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0" name="文本框 117"/>
              <p:cNvSpPr txBox="1"/>
              <p:nvPr/>
            </p:nvSpPr>
            <p:spPr>
              <a:xfrm>
                <a:off x="10945625" y="3006647"/>
                <a:ext cx="74892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100" dirty="0">
                    <a:solidFill>
                      <a:schemeClr val="bg1"/>
                    </a:solidFill>
                    <a:latin typeface="Calibri" panose="020F0502020204030204" pitchFamily="34" charset="0"/>
                    <a:ea typeface="微軟正黑體" panose="020B0604030504040204" pitchFamily="34" charset="-120"/>
                  </a:rPr>
                  <a:t>導入使用</a:t>
                </a:r>
              </a:p>
            </p:txBody>
          </p:sp>
          <p:sp>
            <p:nvSpPr>
              <p:cNvPr id="51" name="橢圓 173"/>
              <p:cNvSpPr/>
              <p:nvPr/>
            </p:nvSpPr>
            <p:spPr>
              <a:xfrm>
                <a:off x="11231453" y="2692154"/>
                <a:ext cx="177269" cy="17729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橢圓 160"/>
              <p:cNvSpPr/>
              <p:nvPr/>
            </p:nvSpPr>
            <p:spPr>
              <a:xfrm>
                <a:off x="6644796" y="2692154"/>
                <a:ext cx="177269" cy="17729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橢圓 160"/>
              <p:cNvSpPr/>
              <p:nvPr/>
            </p:nvSpPr>
            <p:spPr>
              <a:xfrm>
                <a:off x="7697983" y="2692154"/>
                <a:ext cx="177269" cy="17729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文本框 117"/>
              <p:cNvSpPr txBox="1"/>
              <p:nvPr/>
            </p:nvSpPr>
            <p:spPr>
              <a:xfrm>
                <a:off x="5831505" y="2932990"/>
                <a:ext cx="165413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2700" algn="ctr">
                  <a:lnSpc>
                    <a:spcPct val="100000"/>
                  </a:lnSpc>
                  <a:spcBef>
                    <a:spcPts val="105"/>
                  </a:spcBef>
                </a:pPr>
                <a:r>
                  <a:rPr lang="vi-VN" altLang="zh-CN" sz="11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思源黑体 CN Regular" panose="020B0500000000000000"/>
                    <a:cs typeface="Times New Roman" panose="02020503050405090304"/>
                  </a:rPr>
                  <a:t>System UI &amp; Functions adjust</a:t>
                </a:r>
                <a:endParaRPr lang="zh-CN" altLang="en-US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思源黑体 CN Regular" panose="020B0500000000000000"/>
                  <a:cs typeface="Times New Roman" panose="02020503050405090304"/>
                </a:endParaRPr>
              </a:p>
            </p:txBody>
          </p:sp>
          <p:sp>
            <p:nvSpPr>
              <p:cNvPr id="55" name="文本框 117"/>
              <p:cNvSpPr txBox="1"/>
              <p:nvPr/>
            </p:nvSpPr>
            <p:spPr>
              <a:xfrm>
                <a:off x="7415081" y="2941609"/>
                <a:ext cx="81137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2700" algn="ctr">
                  <a:lnSpc>
                    <a:spcPct val="100000"/>
                  </a:lnSpc>
                  <a:spcBef>
                    <a:spcPts val="105"/>
                  </a:spcBef>
                </a:pPr>
                <a:r>
                  <a:rPr lang="en-US" altLang="zh-CN" sz="110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思源黑体 CN Regular" panose="020B0500000000000000"/>
                    <a:cs typeface="Times New Roman" panose="02020503050405090304"/>
                  </a:rPr>
                  <a:t>AI </a:t>
                </a:r>
                <a:r>
                  <a:rPr lang="zh-CN" altLang="en-US" sz="110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思源黑体 CN Regular" panose="020B0500000000000000"/>
                    <a:cs typeface="Times New Roman" panose="02020503050405090304"/>
                  </a:rPr>
                  <a:t>完成內部測試</a:t>
                </a:r>
                <a:endParaRPr lang="zh-CN" altLang="en-US" sz="1100" dirty="0">
                  <a:latin typeface="微软雅黑" panose="020B0503020204020204" pitchFamily="34" charset="-122"/>
                  <a:ea typeface="思源黑体 CN Regular" panose="020B0500000000000000"/>
                  <a:cs typeface="Times New Roman" panose="02020503050405090304"/>
                </a:endParaRPr>
              </a:p>
            </p:txBody>
          </p:sp>
          <p:sp>
            <p:nvSpPr>
              <p:cNvPr id="56" name="文本框 116"/>
              <p:cNvSpPr txBox="1"/>
              <p:nvPr/>
            </p:nvSpPr>
            <p:spPr>
              <a:xfrm>
                <a:off x="6383408" y="2320833"/>
                <a:ext cx="6848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04/</a:t>
                </a:r>
                <a:r>
                  <a:rPr lang="vi-VN" altLang="zh-CN" sz="1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2</a:t>
                </a:r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</a:t>
                </a:r>
                <a:endParaRPr lang="zh-CN" altLang="en-US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7" name="文本框 116"/>
              <p:cNvSpPr txBox="1"/>
              <p:nvPr/>
            </p:nvSpPr>
            <p:spPr>
              <a:xfrm>
                <a:off x="9292277" y="2320833"/>
                <a:ext cx="6848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05/15</a:t>
                </a:r>
                <a:endParaRPr lang="zh-CN" altLang="en-US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8" name="object 99"/>
              <p:cNvSpPr txBox="1"/>
              <p:nvPr/>
            </p:nvSpPr>
            <p:spPr>
              <a:xfrm>
                <a:off x="610857" y="1895690"/>
                <a:ext cx="2803225" cy="22826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vi-VN" sz="1400" spc="-6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思源黑体 CN Regular" panose="020B0500000000000000"/>
                    <a:cs typeface="Times New Roman" panose="02020503050405090304"/>
                  </a:rPr>
                  <a:t>Project + Programming </a:t>
                </a:r>
                <a:r>
                  <a:rPr sz="1400" spc="-60" dirty="0">
                    <a:solidFill>
                      <a:srgbClr val="FFFFFF"/>
                    </a:solidFill>
                    <a:latin typeface="微软雅黑" panose="020B0503020204020204" pitchFamily="34" charset="-122"/>
                    <a:ea typeface="思源黑体 CN Regular" panose="020B0500000000000000"/>
                    <a:cs typeface="Times New Roman" panose="02020503050405090304"/>
                  </a:rPr>
                  <a:t>Schedule</a:t>
                </a:r>
                <a:endParaRPr sz="1400" dirty="0">
                  <a:latin typeface="微软雅黑" panose="020B0503020204020204" pitchFamily="34" charset="-122"/>
                  <a:ea typeface="思源黑体 CN Regular" panose="020B0500000000000000"/>
                  <a:cs typeface="Times New Roman" panose="02020503050405090304"/>
                </a:endParaRPr>
              </a:p>
            </p:txBody>
          </p:sp>
        </p:grpSp>
        <p:sp>
          <p:nvSpPr>
            <p:cNvPr id="59" name="文本框 61"/>
            <p:cNvSpPr txBox="1"/>
            <p:nvPr/>
          </p:nvSpPr>
          <p:spPr>
            <a:xfrm>
              <a:off x="3161161" y="5722711"/>
              <a:ext cx="6848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/</a:t>
              </a:r>
              <a:r>
                <a:rPr lang="vi-VN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18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0" name="橢圓 160"/>
            <p:cNvSpPr/>
            <p:nvPr/>
          </p:nvSpPr>
          <p:spPr>
            <a:xfrm>
              <a:off x="3397251" y="6094032"/>
              <a:ext cx="177269" cy="177292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bg1"/>
                </a:solidFill>
              </a:endParaRPr>
            </a:p>
          </p:txBody>
        </p:sp>
        <p:sp>
          <p:nvSpPr>
            <p:cNvPr id="61" name="文本框 116"/>
            <p:cNvSpPr txBox="1"/>
            <p:nvPr/>
          </p:nvSpPr>
          <p:spPr>
            <a:xfrm>
              <a:off x="2082678" y="5722711"/>
              <a:ext cx="6848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02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/</a:t>
              </a:r>
              <a:r>
                <a:rPr lang="vi-VN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28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2" name="橢圓 160"/>
            <p:cNvSpPr/>
            <p:nvPr/>
          </p:nvSpPr>
          <p:spPr>
            <a:xfrm>
              <a:off x="2352220" y="6107096"/>
              <a:ext cx="177269" cy="177292"/>
            </a:xfrm>
            <a:prstGeom prst="ellipse">
              <a:avLst/>
            </a:prstGeom>
            <a:solidFill>
              <a:srgbClr val="00B050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bg1"/>
                </a:solidFill>
              </a:endParaRPr>
            </a:p>
          </p:txBody>
        </p:sp>
        <p:sp>
          <p:nvSpPr>
            <p:cNvPr id="63" name="文本框 117"/>
            <p:cNvSpPr txBox="1"/>
            <p:nvPr/>
          </p:nvSpPr>
          <p:spPr>
            <a:xfrm>
              <a:off x="1920078" y="6337494"/>
              <a:ext cx="114760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altLang="zh-CN" sz="1100" spc="-5" dirty="0">
                  <a:solidFill>
                    <a:srgbClr val="FFFFFF"/>
                  </a:solidFill>
                  <a:latin typeface="微软雅黑" panose="020B0503020204020204" pitchFamily="34" charset="-122"/>
                  <a:ea typeface="思源黑体 CN Regular" panose="020B0500000000000000"/>
                  <a:cs typeface="Times New Roman" panose="02020503050405090304"/>
                </a:rPr>
                <a:t>Read</a:t>
              </a:r>
              <a:r>
                <a:rPr lang="en-US" altLang="zh-CN" sz="1100" spc="-5" dirty="0">
                  <a:solidFill>
                    <a:srgbClr val="FFFFFF"/>
                  </a:solidFill>
                  <a:latin typeface="微软雅黑" panose="020B0503020204020204" pitchFamily="34" charset="-122"/>
                  <a:ea typeface="思源黑体 CN Regular" panose="020B0500000000000000"/>
                  <a:cs typeface="Times New Roman" panose="02020503050405090304"/>
                </a:rPr>
                <a:t> Word File</a:t>
              </a:r>
              <a:r>
                <a:rPr lang="vi-VN" altLang="zh-CN" sz="1100" spc="-5" dirty="0">
                  <a:solidFill>
                    <a:srgbClr val="FFFFFF"/>
                  </a:solidFill>
                  <a:latin typeface="微软雅黑" panose="020B0503020204020204" pitchFamily="34" charset="-122"/>
                  <a:ea typeface="思源黑体 CN Regular" panose="020B0500000000000000"/>
                  <a:cs typeface="Times New Roman" panose="02020503050405090304"/>
                </a:rPr>
                <a:t> &amp; Get info</a:t>
              </a:r>
              <a:endParaRPr lang="en-US" altLang="zh-CN" sz="1100" spc="-5" dirty="0">
                <a:solidFill>
                  <a:srgbClr val="FFFFFF"/>
                </a:solidFill>
                <a:latin typeface="微软雅黑" panose="020B0503020204020204" pitchFamily="34" charset="-122"/>
                <a:ea typeface="思源黑体 CN Regular" panose="020B0500000000000000"/>
                <a:cs typeface="Times New Roman" panose="02020503050405090304"/>
              </a:endParaRPr>
            </a:p>
          </p:txBody>
        </p:sp>
        <p:sp>
          <p:nvSpPr>
            <p:cNvPr id="64" name="文本框 117"/>
            <p:cNvSpPr txBox="1"/>
            <p:nvPr/>
          </p:nvSpPr>
          <p:spPr>
            <a:xfrm>
              <a:off x="2750715" y="6337494"/>
              <a:ext cx="148165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altLang="zh-CN" sz="1100" spc="-5" dirty="0">
                  <a:solidFill>
                    <a:srgbClr val="FFFFFF"/>
                  </a:solidFill>
                  <a:latin typeface="微软雅黑" panose="020B0503020204020204" pitchFamily="34" charset="-122"/>
                  <a:ea typeface="思源黑体 CN Regular" panose="020B0500000000000000"/>
                  <a:cs typeface="Times New Roman" panose="02020503050405090304"/>
                </a:rPr>
                <a:t>Auto Template Label</a:t>
              </a:r>
              <a:endParaRPr lang="en-US" altLang="zh-CN" sz="1100" spc="-5" dirty="0">
                <a:solidFill>
                  <a:srgbClr val="FFFFFF"/>
                </a:solidFill>
                <a:latin typeface="微软雅黑" panose="020B0503020204020204" pitchFamily="34" charset="-122"/>
                <a:ea typeface="思源黑体 CN Regular" panose="020B0500000000000000"/>
                <a:cs typeface="Times New Roman" panose="02020503050405090304"/>
              </a:endParaRPr>
            </a:p>
          </p:txBody>
        </p:sp>
        <p:sp>
          <p:nvSpPr>
            <p:cNvPr id="69" name="橢圓 160"/>
            <p:cNvSpPr/>
            <p:nvPr/>
          </p:nvSpPr>
          <p:spPr>
            <a:xfrm>
              <a:off x="4421062" y="6094032"/>
              <a:ext cx="177269" cy="17729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bg1"/>
                </a:solidFill>
              </a:endParaRPr>
            </a:p>
          </p:txBody>
        </p:sp>
        <p:sp>
          <p:nvSpPr>
            <p:cNvPr id="70" name="文本框 117"/>
            <p:cNvSpPr txBox="1"/>
            <p:nvPr/>
          </p:nvSpPr>
          <p:spPr>
            <a:xfrm>
              <a:off x="3850611" y="6334868"/>
              <a:ext cx="141129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05"/>
                </a:spcBef>
              </a:pPr>
              <a:r>
                <a:rPr lang="vi-VN" altLang="zh-CN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思源黑体 CN Regular" panose="020B0500000000000000"/>
                  <a:cs typeface="Times New Roman" panose="02020503050405090304"/>
                </a:rPr>
                <a:t>Connect to printers and Print</a:t>
              </a:r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思源黑体 CN Regular" panose="020B0500000000000000"/>
                <a:cs typeface="Times New Roman" panose="02020503050405090304"/>
              </a:endParaRPr>
            </a:p>
          </p:txBody>
        </p:sp>
        <p:sp>
          <p:nvSpPr>
            <p:cNvPr id="71" name="文本框 116"/>
            <p:cNvSpPr txBox="1"/>
            <p:nvPr/>
          </p:nvSpPr>
          <p:spPr>
            <a:xfrm>
              <a:off x="4159674" y="5722711"/>
              <a:ext cx="6848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/</a:t>
              </a:r>
              <a:r>
                <a:rPr lang="vi-VN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25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2" name="橢圓 160"/>
            <p:cNvSpPr/>
            <p:nvPr/>
          </p:nvSpPr>
          <p:spPr>
            <a:xfrm>
              <a:off x="5592365" y="6089677"/>
              <a:ext cx="177269" cy="17729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bg1"/>
                </a:solidFill>
              </a:endParaRPr>
            </a:p>
          </p:txBody>
        </p:sp>
        <p:sp>
          <p:nvSpPr>
            <p:cNvPr id="73" name="文本框 117"/>
            <p:cNvSpPr txBox="1"/>
            <p:nvPr/>
          </p:nvSpPr>
          <p:spPr>
            <a:xfrm>
              <a:off x="5021914" y="6330513"/>
              <a:ext cx="141129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05"/>
                </a:spcBef>
              </a:pPr>
              <a:r>
                <a:rPr lang="vi-VN" altLang="zh-CN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思源黑体 CN Regular" panose="020B0500000000000000"/>
                  <a:cs typeface="Times New Roman" panose="02020503050405090304"/>
                </a:rPr>
                <a:t>Auto Design Label</a:t>
              </a:r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思源黑体 CN Regular" panose="020B0500000000000000"/>
                <a:cs typeface="Times New Roman" panose="02020503050405090304"/>
              </a:endParaRPr>
            </a:p>
          </p:txBody>
        </p:sp>
        <p:sp>
          <p:nvSpPr>
            <p:cNvPr id="74" name="文本框 116"/>
            <p:cNvSpPr txBox="1"/>
            <p:nvPr/>
          </p:nvSpPr>
          <p:spPr>
            <a:xfrm>
              <a:off x="5330977" y="5718356"/>
              <a:ext cx="68480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</a:t>
              </a:r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4/</a:t>
              </a:r>
              <a:r>
                <a:rPr lang="vi-VN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06</a:t>
              </a:r>
              <a:endPara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7" name="弧形箭號 (左彎) 76"/>
          <p:cNvSpPr/>
          <p:nvPr/>
        </p:nvSpPr>
        <p:spPr>
          <a:xfrm>
            <a:off x="11475097" y="1899489"/>
            <a:ext cx="649682" cy="2087189"/>
          </a:xfrm>
          <a:prstGeom prst="curved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1" name="弧形向右箭號 80"/>
          <p:cNvSpPr/>
          <p:nvPr/>
        </p:nvSpPr>
        <p:spPr>
          <a:xfrm>
            <a:off x="35639" y="3903317"/>
            <a:ext cx="562778" cy="1735794"/>
          </a:xfrm>
          <a:prstGeom prst="curv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1002470" y="1549719"/>
            <a:ext cx="9802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Workflow</a:t>
            </a:r>
            <a:endParaRPr lang="en-US" sz="14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1032292" y="4045205"/>
            <a:ext cx="13245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Main Steps to follow</a:t>
            </a:r>
            <a:endParaRPr lang="en-US" sz="14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85" name="圖片 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961" y="734696"/>
            <a:ext cx="9676274" cy="2025732"/>
          </a:xfrm>
          <a:prstGeom prst="rect">
            <a:avLst/>
          </a:prstGeom>
        </p:spPr>
      </p:pic>
      <p:cxnSp>
        <p:nvCxnSpPr>
          <p:cNvPr id="93" name="Straight Connector 71">
            <a:extLst>
              <a:ext uri="{FF2B5EF4-FFF2-40B4-BE49-F238E27FC236}">
                <a16:creationId xmlns:a16="http://schemas.microsoft.com/office/drawing/2014/main" id="{8290867D-0E45-C134-B878-16D2A48E90F2}"/>
              </a:ext>
            </a:extLst>
          </p:cNvPr>
          <p:cNvCxnSpPr>
            <a:cxnSpLocks/>
          </p:cNvCxnSpPr>
          <p:nvPr/>
        </p:nvCxnSpPr>
        <p:spPr>
          <a:xfrm>
            <a:off x="616278" y="3055527"/>
            <a:ext cx="10278024" cy="2730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71">
            <a:extLst>
              <a:ext uri="{FF2B5EF4-FFF2-40B4-BE49-F238E27FC236}">
                <a16:creationId xmlns:a16="http://schemas.microsoft.com/office/drawing/2014/main" id="{8290867D-0E45-C134-B878-16D2A48E90F2}"/>
              </a:ext>
            </a:extLst>
          </p:cNvPr>
          <p:cNvCxnSpPr>
            <a:cxnSpLocks/>
          </p:cNvCxnSpPr>
          <p:nvPr/>
        </p:nvCxnSpPr>
        <p:spPr>
          <a:xfrm>
            <a:off x="660511" y="5102126"/>
            <a:ext cx="10233791" cy="1260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577" y="2940146"/>
            <a:ext cx="9676274" cy="218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186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5986" y="2632683"/>
            <a:ext cx="6424165" cy="3509507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550" y="494227"/>
            <a:ext cx="2034601" cy="1412425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4567" y="494227"/>
            <a:ext cx="2047001" cy="141242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5986" y="552335"/>
            <a:ext cx="1980403" cy="1367647"/>
          </a:xfrm>
          <a:prstGeom prst="rect">
            <a:avLst/>
          </a:prstGeom>
        </p:spPr>
      </p:pic>
      <p:cxnSp>
        <p:nvCxnSpPr>
          <p:cNvPr id="7" name="直線單箭頭接點 6"/>
          <p:cNvCxnSpPr>
            <a:stCxn id="5" idx="2"/>
            <a:endCxn id="2" idx="0"/>
          </p:cNvCxnSpPr>
          <p:nvPr/>
        </p:nvCxnSpPr>
        <p:spPr>
          <a:xfrm>
            <a:off x="6576188" y="1919982"/>
            <a:ext cx="2221881" cy="7127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4" idx="2"/>
            <a:endCxn id="2" idx="0"/>
          </p:cNvCxnSpPr>
          <p:nvPr/>
        </p:nvCxnSpPr>
        <p:spPr>
          <a:xfrm>
            <a:off x="8798068" y="1906652"/>
            <a:ext cx="1" cy="726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直線單箭頭接點 12"/>
          <p:cNvCxnSpPr>
            <a:stCxn id="3" idx="2"/>
            <a:endCxn id="2" idx="0"/>
          </p:cNvCxnSpPr>
          <p:nvPr/>
        </p:nvCxnSpPr>
        <p:spPr>
          <a:xfrm flipH="1">
            <a:off x="8798069" y="1906652"/>
            <a:ext cx="2194782" cy="726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5" name="object 99"/>
          <p:cNvSpPr txBox="1"/>
          <p:nvPr/>
        </p:nvSpPr>
        <p:spPr>
          <a:xfrm>
            <a:off x="8189625" y="145160"/>
            <a:ext cx="280322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400" spc="-60" dirty="0">
                <a:solidFill>
                  <a:srgbClr val="FFFFFF"/>
                </a:solidFill>
                <a:latin typeface="微软雅黑" panose="020B0503020204020204" pitchFamily="34" charset="-122"/>
                <a:ea typeface="思源黑体 CN Regular" panose="020B0500000000000000"/>
                <a:cs typeface="Times New Roman" panose="02020503050405090304"/>
              </a:rPr>
              <a:t>Word</a:t>
            </a:r>
            <a:r>
              <a:rPr lang="zh-CN" altLang="en-US" sz="1400" spc="-60" dirty="0">
                <a:solidFill>
                  <a:srgbClr val="FFFFFF"/>
                </a:solidFill>
                <a:latin typeface="微软雅黑" panose="020B0503020204020204" pitchFamily="34" charset="-122"/>
                <a:ea typeface="思源黑体 CN Regular" panose="020B0500000000000000"/>
                <a:cs typeface="Times New Roman" panose="02020503050405090304"/>
              </a:rPr>
              <a:t>里面的</a:t>
            </a:r>
            <a:r>
              <a:rPr lang="en-US" altLang="zh-CN" sz="1400" spc="-60" dirty="0">
                <a:solidFill>
                  <a:srgbClr val="FFFFFF"/>
                </a:solidFill>
                <a:latin typeface="微软雅黑" panose="020B0503020204020204" pitchFamily="34" charset="-122"/>
                <a:ea typeface="思源黑体 CN Regular" panose="020B0500000000000000"/>
                <a:cs typeface="Times New Roman" panose="02020503050405090304"/>
              </a:rPr>
              <a:t>Table</a:t>
            </a:r>
            <a:endParaRPr sz="1400" dirty="0">
              <a:latin typeface="微软雅黑" panose="020B0503020204020204" pitchFamily="34" charset="-122"/>
              <a:ea typeface="思源黑体 CN Regular" panose="020B0500000000000000"/>
              <a:cs typeface="Times New Roman" panose="02020503050405090304"/>
            </a:endParaRPr>
          </a:p>
        </p:txBody>
      </p:sp>
      <p:sp>
        <p:nvSpPr>
          <p:cNvPr id="16" name="object 99"/>
          <p:cNvSpPr txBox="1"/>
          <p:nvPr/>
        </p:nvSpPr>
        <p:spPr>
          <a:xfrm>
            <a:off x="7566389" y="6358493"/>
            <a:ext cx="280322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1400" spc="-60" dirty="0">
                <a:solidFill>
                  <a:srgbClr val="FFFFFF"/>
                </a:solidFill>
                <a:latin typeface="微软雅黑" panose="020B0503020204020204" pitchFamily="34" charset="-122"/>
                <a:ea typeface="思源黑体 CN Regular" panose="020B0500000000000000"/>
                <a:cs typeface="Times New Roman" panose="02020503050405090304"/>
              </a:rPr>
              <a:t>LAM system </a:t>
            </a:r>
            <a:r>
              <a:rPr lang="zh-CN" altLang="en-US" sz="1400" spc="-60" dirty="0">
                <a:solidFill>
                  <a:srgbClr val="FFFFFF"/>
                </a:solidFill>
                <a:latin typeface="微软雅黑" panose="020B0503020204020204" pitchFamily="34" charset="-122"/>
                <a:ea typeface="思源黑体 CN Regular" panose="020B0500000000000000"/>
                <a:cs typeface="Times New Roman" panose="02020503050405090304"/>
              </a:rPr>
              <a:t>读取出来的信息</a:t>
            </a:r>
            <a:endParaRPr sz="1400" dirty="0">
              <a:latin typeface="微软雅黑" panose="020B0503020204020204" pitchFamily="34" charset="-122"/>
              <a:ea typeface="思源黑体 CN Regular" panose="020B0500000000000000"/>
              <a:cs typeface="Times New Roman" panose="02020503050405090304"/>
            </a:endParaRPr>
          </a:p>
        </p:txBody>
      </p:sp>
      <p:pic>
        <p:nvPicPr>
          <p:cNvPr id="19" name="Read word, get info in the table and  insert to excel_Trim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37575" y="2578998"/>
            <a:ext cx="4974233" cy="3522288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8479373" y="5808606"/>
            <a:ext cx="297216" cy="2926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矩形 26"/>
          <p:cNvSpPr/>
          <p:nvPr/>
        </p:nvSpPr>
        <p:spPr>
          <a:xfrm>
            <a:off x="8798067" y="5808605"/>
            <a:ext cx="297216" cy="2926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文本框 107">
            <a:extLst>
              <a:ext uri="{FF2B5EF4-FFF2-40B4-BE49-F238E27FC236}">
                <a16:creationId xmlns:a16="http://schemas.microsoft.com/office/drawing/2014/main" id="{4F62504F-0EC3-056C-F84D-50B59EBBC6E7}"/>
              </a:ext>
            </a:extLst>
          </p:cNvPr>
          <p:cNvSpPr txBox="1"/>
          <p:nvPr/>
        </p:nvSpPr>
        <p:spPr>
          <a:xfrm>
            <a:off x="227013" y="64009"/>
            <a:ext cx="733937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3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  <a:sym typeface="+mn-ea"/>
              </a:rPr>
              <a:t>Read Word and Get Information to Excel file</a:t>
            </a:r>
          </a:p>
        </p:txBody>
      </p:sp>
      <p:sp>
        <p:nvSpPr>
          <p:cNvPr id="53" name="文字方塊 52"/>
          <p:cNvSpPr txBox="1"/>
          <p:nvPr/>
        </p:nvSpPr>
        <p:spPr>
          <a:xfrm>
            <a:off x="271578" y="1236158"/>
            <a:ext cx="5106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1400">
                <a:solidFill>
                  <a:schemeClr val="bg1"/>
                </a:solidFill>
              </a:defRPr>
            </a:lvl1pPr>
          </a:lstStyle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FF00"/>
                </a:solidFill>
              </a:rPr>
              <a:t>完成</a:t>
            </a:r>
            <a:r>
              <a:rPr lang="en-US" altLang="zh-CN" dirty="0">
                <a:solidFill>
                  <a:srgbClr val="FFFF00"/>
                </a:solidFill>
              </a:rPr>
              <a:t>LAM System </a:t>
            </a:r>
            <a:r>
              <a:rPr lang="zh-CN" altLang="en-US" dirty="0">
                <a:solidFill>
                  <a:srgbClr val="FFFF00"/>
                </a:solidFill>
              </a:rPr>
              <a:t>第一</a:t>
            </a:r>
            <a:r>
              <a:rPr lang="en-US" altLang="zh-CN" dirty="0">
                <a:solidFill>
                  <a:srgbClr val="FFFF00"/>
                </a:solidFill>
              </a:rPr>
              <a:t>Function</a:t>
            </a:r>
            <a:r>
              <a:rPr lang="zh-CN" altLang="en-US" dirty="0">
                <a:solidFill>
                  <a:srgbClr val="FFFF00"/>
                </a:solidFill>
              </a:rPr>
              <a:t>：成功讀取 </a:t>
            </a:r>
            <a:r>
              <a:rPr lang="en-US" altLang="zh-CN" dirty="0">
                <a:solidFill>
                  <a:srgbClr val="FFFF00"/>
                </a:solidFill>
              </a:rPr>
              <a:t>Word file</a:t>
            </a:r>
            <a:r>
              <a:rPr lang="zh-CN" altLang="en-US" dirty="0">
                <a:solidFill>
                  <a:srgbClr val="FFFF00"/>
                </a:solidFill>
              </a:rPr>
              <a:t>裡面的</a:t>
            </a:r>
            <a:r>
              <a:rPr lang="en-US" altLang="zh-CN" dirty="0">
                <a:solidFill>
                  <a:srgbClr val="FFFF00"/>
                </a:solidFill>
              </a:rPr>
              <a:t>Table</a:t>
            </a:r>
            <a:r>
              <a:rPr lang="zh-CN" altLang="en-US" dirty="0">
                <a:solidFill>
                  <a:srgbClr val="FFFF00"/>
                </a:solidFill>
              </a:rPr>
              <a:t>，數據拿取準確。</a:t>
            </a:r>
            <a:endParaRPr lang="vi-VN" dirty="0">
              <a:solidFill>
                <a:srgbClr val="FFFF00"/>
              </a:solidFill>
            </a:endParaRPr>
          </a:p>
        </p:txBody>
      </p:sp>
      <p:sp>
        <p:nvSpPr>
          <p:cNvPr id="54" name="object 99"/>
          <p:cNvSpPr txBox="1"/>
          <p:nvPr/>
        </p:nvSpPr>
        <p:spPr>
          <a:xfrm>
            <a:off x="1196642" y="6244359"/>
            <a:ext cx="280322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zh-CN" altLang="en-US" sz="1400" spc="-60" dirty="0">
                <a:solidFill>
                  <a:srgbClr val="FFFFFF"/>
                </a:solidFill>
                <a:latin typeface="微软雅黑" panose="020B0503020204020204" pitchFamily="34" charset="-122"/>
                <a:ea typeface="思源黑体 CN Regular" panose="020B0500000000000000"/>
                <a:cs typeface="Times New Roman" panose="02020503050405090304"/>
              </a:rPr>
              <a:t>演示視頻</a:t>
            </a:r>
            <a:endParaRPr sz="1400" dirty="0">
              <a:latin typeface="微软雅黑" panose="020B0503020204020204" pitchFamily="34" charset="-122"/>
              <a:ea typeface="思源黑体 CN Regular" panose="020B0500000000000000"/>
              <a:cs typeface="Times New Roman" panose="02020503050405090304"/>
            </a:endParaRPr>
          </a:p>
        </p:txBody>
      </p:sp>
      <p:cxnSp>
        <p:nvCxnSpPr>
          <p:cNvPr id="57" name="直線單箭頭接點 56"/>
          <p:cNvCxnSpPr>
            <a:endCxn id="59" idx="1"/>
          </p:cNvCxnSpPr>
          <p:nvPr/>
        </p:nvCxnSpPr>
        <p:spPr>
          <a:xfrm flipV="1">
            <a:off x="9095283" y="5684990"/>
            <a:ext cx="724953" cy="269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/>
          <p:cNvSpPr/>
          <p:nvPr/>
        </p:nvSpPr>
        <p:spPr>
          <a:xfrm>
            <a:off x="9820236" y="5227790"/>
            <a:ext cx="216843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ME </a:t>
            </a:r>
            <a:r>
              <a:rPr lang="zh-CN" altLang="en-US" dirty="0"/>
              <a:t>檢查</a:t>
            </a:r>
            <a:endParaRPr lang="en-US" altLang="zh-CN" dirty="0"/>
          </a:p>
          <a:p>
            <a:pPr algn="ctr"/>
            <a:r>
              <a:rPr lang="en-US" altLang="zh-CN" dirty="0"/>
              <a:t>Pass or Fail</a:t>
            </a:r>
            <a:endParaRPr lang="en-US" dirty="0"/>
          </a:p>
        </p:txBody>
      </p:sp>
      <p:sp>
        <p:nvSpPr>
          <p:cNvPr id="64" name="矩形 63"/>
          <p:cNvSpPr/>
          <p:nvPr/>
        </p:nvSpPr>
        <p:spPr>
          <a:xfrm>
            <a:off x="7119257" y="2669161"/>
            <a:ext cx="2856293" cy="4207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矩形 64"/>
          <p:cNvSpPr/>
          <p:nvPr/>
        </p:nvSpPr>
        <p:spPr>
          <a:xfrm>
            <a:off x="10305109" y="2632683"/>
            <a:ext cx="1683561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上傳</a:t>
            </a:r>
            <a:r>
              <a:rPr lang="en-US" altLang="zh-CN" dirty="0"/>
              <a:t>Word file</a:t>
            </a:r>
            <a:endParaRPr lang="en-US" dirty="0"/>
          </a:p>
        </p:txBody>
      </p:sp>
      <p:cxnSp>
        <p:nvCxnSpPr>
          <p:cNvPr id="66" name="直線單箭頭接點 65"/>
          <p:cNvCxnSpPr>
            <a:endCxn id="65" idx="1"/>
          </p:cNvCxnSpPr>
          <p:nvPr/>
        </p:nvCxnSpPr>
        <p:spPr>
          <a:xfrm>
            <a:off x="9954069" y="2821233"/>
            <a:ext cx="351040" cy="40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26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est">
      <a:majorFont>
        <a:latin typeface="Arial"/>
        <a:ea typeface="SimSun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35656</TotalTime>
  <Words>915</Words>
  <Application>Microsoft Office PowerPoint</Application>
  <PresentationFormat>Widescreen</PresentationFormat>
  <Paragraphs>195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 Unicode MS</vt:lpstr>
      <vt:lpstr>Microsoft YaHei</vt:lpstr>
      <vt:lpstr>Microsoft YaHei</vt:lpstr>
      <vt:lpstr>思源黑体 CN Regular</vt:lpstr>
      <vt:lpstr>Arial</vt:lpstr>
      <vt:lpstr>Calibri</vt:lpstr>
      <vt:lpstr>Times New Roman</vt:lpstr>
      <vt:lpstr>Office 佈景主題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Chen Yueh-Wei</dc:creator>
  <cp:lastModifiedBy>銘德 簡</cp:lastModifiedBy>
  <cp:revision>243</cp:revision>
  <dcterms:created xsi:type="dcterms:W3CDTF">2018-11-16T05:26:15Z</dcterms:created>
  <dcterms:modified xsi:type="dcterms:W3CDTF">2026-08-22T03:53:19Z</dcterms:modified>
</cp:coreProperties>
</file>