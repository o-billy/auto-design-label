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Lst>
  <p:notesMasterIdLst>
    <p:notesMasterId r:id="rId9"/>
  </p:notesMasterIdLst>
  <p:sldIdLst>
    <p:sldId id="263" r:id="rId4"/>
    <p:sldId id="260" r:id="rId5"/>
    <p:sldId id="261" r:id="rId6"/>
    <p:sldId id="264" r:id="rId7"/>
    <p:sldId id="262" r:id="rId8"/>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14"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ableStyles" Target="tableStyle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F23B8945-EA32-406B-A8A9-5EC79DC88A44}" type="datetimeFigureOut">
              <a:rPr lang="en-US" smtClean="0"/>
              <a:t>08/29/2026</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51A3CBA0-657A-4A3D-AE3B-5AF1D08F4547}" type="slidenum">
              <a:rPr lang="en-US" smtClean="0"/>
              <a:t>‹#›</a:t>
            </a:fld>
            <a:endParaRPr lang="en-US"/>
          </a:p>
        </p:txBody>
      </p:sp>
    </p:spTree>
    <p:extLst>
      <p:ext uri="{BB962C8B-B14F-4D97-AF65-F5344CB8AC3E}">
        <p14:creationId xmlns:p14="http://schemas.microsoft.com/office/powerpoint/2010/main" val="3202027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idx="1"/>
          </p:nvPr>
        </p:nvSpPr>
        <p:spPr/>
        <p:txBody>
          <a:bodyPr/>
          <a:lstStyle/>
          <a:p>
            <a:r>
              <a:rPr lang="en-US" dirty="0"/>
              <a:t>FRAMING SLIDE — for reading, not for speaking.</a:t>
            </a:r>
          </a:p>
          <a:p>
            <a:endParaRPr lang="en-US"/>
          </a:p>
          <a:p>
            <a:r>
              <a:rPr lang="en-US" dirty="0"/>
              <a:t>Purpose: answer the two questions a reviewer will ask before looking at any result.</a:t>
            </a:r>
          </a:p>
          <a:p>
            <a:r>
              <a:rPr lang="en-US" dirty="0"/>
              <a:t>1) Where is the AI? In the build, not in the run. AI derived the LDM schema and the design rules from real customer PMD documents, once. That output is frozen into a fixed engine. Production runs the engine offline.</a:t>
            </a:r>
          </a:p>
          <a:p>
            <a:r>
              <a:rPr lang="en-US" dirty="0"/>
              <a:t>2) Why is that still AI Native? Engineering 6 asks AI to enter the workflow and become a workforce step, not to sit in the runtime. A step people used to do is now done by the machine; people moved to approving exceptions.</a:t>
            </a:r>
          </a:p>
          <a:p>
            <a:endParaRPr lang="en-US"/>
          </a:p>
          <a:p>
            <a:r>
              <a:rPr lang="en-US" dirty="0"/>
              <a:t>Deliberate design choice, not a shortcut: a production line needs the same answer every time (MAC and RSN cannot vary), needs to be auditable per Engineering 1, and cannot send customer documents outside.</a:t>
            </a:r>
          </a:p>
          <a:p>
            <a:endParaRPr lang="en-US"/>
          </a:p>
          <a:p>
            <a:r>
              <a:rPr lang="en-US" dirty="0"/>
              <a:t>Known gap, stated on purpose: the engine handles document formats already derived. For a new layout, rules are re-derived with AI offline and shipped as an update. Putting a model in the runtime is Phase 2 — the exception boundary already built is what makes that safe to add later.</a:t>
            </a:r>
          </a:p>
          <a:p>
            <a:endParaRPr lang="en-US"/>
          </a:p>
          <a:p>
            <a:r>
              <a:rPr lang="en-US" dirty="0"/>
              <a:t>If asked "is a coding assistant also AI Native?": no. A tool makes one engineer faster and the workflow is unchanged. Here the workflow itself changed.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OPEN — 20s</a:t>
            </a:r>
          </a:p>
          <a:p>
            <a:r>
              <a:rPr lang="en-US" dirty="0"/>
              <a:t>My last part is an improvement project: Auto Design Label. I want to present it against the F1.0 criteria for AI Native, because I believe this project is a working example of Engineering 6.</a:t>
            </a:r>
          </a:p>
          <a:p>
            <a:endParaRPr lang="en-US"/>
          </a:p>
          <a:p>
            <a:r>
              <a:rPr lang="en-US" dirty="0"/>
              <a:t>PROBLEM — 45s</a:t>
            </a:r>
          </a:p>
          <a:p>
            <a:r>
              <a:rPr lang="en-US" dirty="0"/>
              <a:t>The problem is in the Label Room. Today, every label is still read and drawn by hand. To make one label, our staff must read the customer PMD document by hand. This takes 30 minutes to 8 hours for one model. Then they draw the label again in Codesoft 6, which needs a separate license and training. All MAC, RSN and position values are typed by hand. This is our main source of errors. The .lab file is binary, so we have no version control and no traceability.</a:t>
            </a:r>
          </a:p>
          <a:p>
            <a:endParaRPr lang="en-US"/>
          </a:p>
          <a:p>
            <a:r>
              <a:rPr lang="en-US" dirty="0"/>
              <a:t>THE SHIFT — 45s</a:t>
            </a:r>
          </a:p>
          <a:p>
            <a:r>
              <a:rPr lang="en-US" dirty="0"/>
              <a:t>Now look at the new process. Four steps: read, design, review, export. AI does three of them. People do one. And that one step is not data entry. It is approval of exceptions.</a:t>
            </a:r>
          </a:p>
          <a:p>
            <a:r>
              <a:rPr lang="en-US" dirty="0"/>
              <a:t>This is the point. This project is not people using AI. Nobody opens a tool and asks a question. AI is a step inside the workflow, with its own input, its own output, and its own responsibility. That is the difference between a tool and a workforce.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en-US" dirty="0"/>
              <a:t>FOUR CONDITIONS — 70s</a:t>
            </a:r>
          </a:p>
          <a:p>
            <a:r>
              <a:rPr lang="en-US" dirty="0"/>
              <a:t>First, the input is machine-readable, not human-read. The system takes all PMD content into one standard format, LDM. No person reads the document.</a:t>
            </a:r>
          </a:p>
          <a:p>
            <a:r>
              <a:rPr lang="en-US" dirty="0"/>
              <a:t>Second, there is a clear exception boundary. If a value is hidden, if a definition is not clear, or if two parts of the document do not match, the system stops and reports. It never guesses. I want to say this clearly to QA: the machine does not decide for people. This is not a limitation. It is the condition that allows AI to stand inside a production workflow at all.</a:t>
            </a:r>
          </a:p>
          <a:p>
            <a:r>
              <a:rPr lang="en-US" dirty="0"/>
              <a:t>Third, AI designs and people approve. True 1:1 scale in millimetres, reviewed before and after export. Operators confirm only what was flagged.</a:t>
            </a:r>
          </a:p>
          <a:p>
            <a:r>
              <a:rPr lang="en-US" dirty="0"/>
              <a:t>Fourth, everything is traceable. Every label is versioned JSON, not a binary file. ZPL comes from the same LDM, which is the base for Phase 2 license cost-down.</a:t>
            </a:r>
          </a:p>
          <a:p>
            <a:endParaRPr lang="en-US"/>
          </a:p>
          <a:p>
            <a:r>
              <a:rPr lang="en-US" dirty="0"/>
              <a:t>DEMO — 30s</a:t>
            </a:r>
          </a:p>
          <a:p>
            <a:r>
              <a:rPr lang="en-US" dirty="0"/>
              <a:t>On the right is the real screen, running now. Four labels from one pilot document. Status is On progress: reading and design finished, now at review. I keep the real status on the slide, not a picture made to look nice.</a:t>
            </a:r>
          </a:p>
          <a:p>
            <a:endParaRPr lang="en-US"/>
          </a:p>
          <a:p>
            <a:r>
              <a:rPr lang="en-US" dirty="0"/>
              <a:t>THE TEST — 25s</a:t>
            </a:r>
          </a:p>
          <a:p>
            <a:r>
              <a:rPr lang="en-US" dirty="0"/>
              <a:t>Switch this system off for one week. Label Room goes back to reading PMDs by hand — [X] engineer-hours per week. The work does not slow down. It stops. That is why I call this a workforce step, not a tool.</a:t>
            </a:r>
          </a:p>
          <a:p>
            <a:r>
              <a:rPr lang="en-US" dirty="0"/>
              <a:t>&gt;&gt;&gt; FILL IN [X] BEFORE THE MEETING.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5"/>
          <p:cNvSpPr>
            <a:spLocks noGrp="1"/>
          </p:cNvSpPr>
          <p:nvPr>
            <p:ph type="body" idx="1"/>
          </p:nvPr>
        </p:nvSpPr>
        <p:spPr/>
        <p:txBody>
          <a:bodyPr/>
          <a:lstStyle/>
          <a:p>
            <a:r>
              <a:rPr lang="en-US" dirty="0"/>
              <a:t>TRACE LOG — the evidence behind "Traceable by Design" on the previous slide.</a:t>
            </a:r>
          </a:p>
          <a:p>
            <a:endParaRPr lang="en-US"/>
          </a:p>
          <a:p>
            <a:r>
              <a:rPr lang="en-US" dirty="0"/>
              <a:t>The panel is the real log for the same label shown on the previous slide: MRP and RSN label, 504.02109.005, 134 x 60 mm, 45 elements. Same document, same label, so the reader can follow one object across both slides.</a:t>
            </a:r>
          </a:p>
          <a:p>
            <a:endParaRPr lang="en-US"/>
          </a:p>
          <a:p>
            <a:r>
              <a:rPr lang="en-US" dirty="0"/>
              <a:t>What one log contains, per label: ten steps from input to result. For each step, what was read with the PMD page and line quoted, which rule was applied, and what a person should double-check. Each step is stamped Automatic, Needs confirmation, or Warning.</a:t>
            </a:r>
          </a:p>
          <a:p>
            <a:endParaRPr lang="en-US"/>
          </a:p>
          <a:p>
            <a:r>
              <a:rPr lang="en-US" dirty="0"/>
              <a:t>The highlighted step is the point to make: step 9, the QR code. CodeSoft cannot merge variables into a QR, so the content is baked at the current values and the design must be regenerated when RSN, EAN or MAC change. The tool does not resolve this by itself. It marks the step, states the reason, and hands it to a person. That is the exception boundary, visible in the record.</a:t>
            </a:r>
          </a:p>
          <a:p>
            <a:endParaRPr lang="en-US"/>
          </a:p>
          <a:p>
            <a:r>
              <a:rPr lang="en-US" dirty="0"/>
              <a:t>Two more labels in this document (Screw VOID and Safety seal) were refused entirely: no font table in the PMD means a pre-printed decal, so the tool built no design rather than inventing one.</a:t>
            </a:r>
          </a:p>
          <a:p>
            <a:endParaRPr lang="en-US"/>
          </a:p>
          <a:p>
            <a:r>
              <a:rPr lang="en-US" dirty="0"/>
              <a:t>The practical value: if a customer challenges a printed label, we do not argue from memory. We open the log for that run and show the PMD page, the rule, and the value produced. This is what Engineering 1 means by auditable.</a:t>
            </a:r>
          </a:p>
          <a:p>
            <a:endParaRPr lang="en-US"/>
          </a:p>
          <a:p>
            <a:r>
              <a:rPr lang="en-US" dirty="0"/>
              <a:t>The panel is marked as an excerpt: the file header is kept for context, and the omitted sections are marked on the image itself.</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3"/>
          <p:cNvSpPr>
            <a:spLocks noGrp="1"/>
          </p:cNvSpPr>
          <p:nvPr>
            <p:ph type="body" idx="1"/>
          </p:nvPr>
        </p:nvSpPr>
        <p:spPr/>
        <p:txBody>
          <a:bodyPr/>
          <a:lstStyle/>
          <a:p>
            <a:r>
              <a:rPr lang="en-US" dirty="0"/>
              <a:t>WHY IT SCALES — 40s</a:t>
            </a:r>
          </a:p>
          <a:p>
            <a:r>
              <a:rPr lang="en-US" dirty="0"/>
              <a:t>Can other sites use this, or only here? LDM is a common format. Nothing is fixed to one site. The print check rules — X-dimension, QR density, boundary overflow — work for every label type and every site. Only the input data differs. The system talks to printers with standard ZPL over port 9100, so any Zebra printer works. This is replicable by design, which is what Engineering 4 asks for.</a:t>
            </a:r>
          </a:p>
          <a:p>
            <a:endParaRPr lang="en-US"/>
          </a:p>
          <a:p>
            <a:r>
              <a:rPr lang="en-US" dirty="0"/>
              <a:t>LOW RISK — 20s</a:t>
            </a:r>
          </a:p>
          <a:p>
            <a:r>
              <a:rPr lang="en-US" dirty="0"/>
              <a:t>Rollout does not stop production. Each site moves at its own speed. Label Room keeps running Codesoft 6 in parallel until the new system is stable.</a:t>
            </a:r>
          </a:p>
          <a:p>
            <a:endParaRPr lang="en-US"/>
          </a:p>
          <a:p>
            <a:r>
              <a:rPr lang="en-US" dirty="0"/>
              <a:t>WHAT IS NOT DONE — 20s</a:t>
            </a:r>
          </a:p>
          <a:p>
            <a:r>
              <a:rPr lang="en-US" dirty="0"/>
              <a:t>I also want to be clear about what is not finished. Today the process still starts when a person uploads the document. A fully AI Native workflow should start by itself when a new PMD is released. That trigger is Phase 2, and I put it in the requirement table so it is visible.</a:t>
            </a:r>
          </a:p>
          <a:p>
            <a:endParaRPr lang="en-US"/>
          </a:p>
          <a:p>
            <a:r>
              <a:rPr lang="en-US" dirty="0"/>
              <a:t>REQUEST — 25s</a:t>
            </a:r>
          </a:p>
          <a:p>
            <a:r>
              <a:rPr lang="en-US" dirty="0"/>
              <a:t>Please approve Phase 2: event-driven trigger, run-level audit log, and removal of Codesoft 6 license cost. And please ask the related sites to send me one sample PMD document this week.</a:t>
            </a:r>
          </a:p>
          <a:p>
            <a:r>
              <a:rPr lang="en-US" dirty="0"/>
              <a:t>That is the end of my part. I am happy to take questions.</a:t>
            </a:r>
          </a:p>
          <a:p>
            <a:endParaRPr lang="en-US"/>
          </a:p>
          <a:p>
            <a:r>
              <a:rPr lang="en-US" dirty="0"/>
              <a:t>LIKELY QUESTIONS</a:t>
            </a:r>
          </a:p>
          <a:p>
            <a:r>
              <a:rPr lang="en-US" dirty="0"/>
              <a:t>- Is this really AI or just rule-based? Extraction uses a model; printability checks are deterministic rules. Engineering 6 is about AI standing inside the workflow, not about model size.</a:t>
            </a:r>
          </a:p>
          <a:p>
            <a:r>
              <a:rPr lang="en-US" dirty="0"/>
              <a:t>- Who runs it after handover? Label Room runs it, IT supports. No extra headcount.</a:t>
            </a:r>
          </a:p>
          <a:p>
            <a:r>
              <a:rPr lang="en-US" dirty="0"/>
              <a:t>- What will Label Room staff do? Review exceptions and handle ambiguous customer documents — the part the machine deliberately refuses to decide.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PlaceHolder 1"/>
          <p:cNvSpPr>
            <a:spLocks noGrp="1"/>
          </p:cNvSpPr>
          <p:nvPr>
            <p:ph type="title"/>
          </p:nvPr>
        </p:nvSpPr>
        <p:spPr>
          <a:xfrm>
            <a:off x="1079640" y="248760"/>
            <a:ext cx="9389520" cy="90792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rial"/>
            </a:endParaRPr>
          </a:p>
        </p:txBody>
      </p:sp>
      <p:sp>
        <p:nvSpPr>
          <p:cNvPr id="3" name="PlaceHolder 2"/>
          <p:cNvSpPr>
            <a:spLocks noGrp="1"/>
          </p:cNvSpPr>
          <p:nvPr>
            <p:ph type="subTitle"/>
          </p:nvPr>
        </p:nvSpPr>
        <p:spPr>
          <a:xfrm>
            <a:off x="522720" y="2127240"/>
            <a:ext cx="9389520" cy="422712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页码">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2" name="图片 17"/>
          <p:cNvPicPr/>
          <p:nvPr/>
        </p:nvPicPr>
        <p:blipFill>
          <a:blip r:embed="rId4"/>
          <a:stretch/>
        </p:blipFill>
        <p:spPr>
          <a:xfrm>
            <a:off x="0" y="444240"/>
            <a:ext cx="1041120" cy="578880"/>
          </a:xfrm>
          <a:prstGeom prst="rect">
            <a:avLst/>
          </a:prstGeom>
          <a:ln w="0">
            <a:noFill/>
          </a:ln>
        </p:spPr>
      </p:pic>
      <p:sp>
        <p:nvSpPr>
          <p:cNvPr id="3" name="PlaceHolder 1"/>
          <p:cNvSpPr>
            <a:spLocks noGrp="1"/>
          </p:cNvSpPr>
          <p:nvPr>
            <p:ph type="title"/>
          </p:nvPr>
        </p:nvSpPr>
        <p:spPr>
          <a:xfrm>
            <a:off x="1523880" y="1122480"/>
            <a:ext cx="9448560" cy="2387160"/>
          </a:xfrm>
          <a:prstGeom prst="rect">
            <a:avLst/>
          </a:prstGeom>
          <a:noFill/>
          <a:ln w="0">
            <a:noFill/>
          </a:ln>
        </p:spPr>
        <p:txBody>
          <a:bodyPr lIns="91440" tIns="45720" rIns="91440" bIns="45720" anchor="b">
            <a:noAutofit/>
          </a:bodyPr>
          <a:lstStyle/>
          <a:p>
            <a:pPr indent="0" algn="ctr" defTabSz="914400">
              <a:lnSpc>
                <a:spcPct val="90000"/>
              </a:lnSpc>
              <a:buNone/>
            </a:pPr>
            <a:r>
              <a:rPr lang="zh-CN" sz="6000" b="1" strike="noStrike" spc="-1">
                <a:solidFill>
                  <a:schemeClr val="dk1"/>
                </a:solidFill>
                <a:latin typeface="思源黑体 CN Heavy"/>
                <a:ea typeface="思源黑体 CN Heavy"/>
              </a:rPr>
              <a:t>单击此处编辑母版标题样式</a:t>
            </a:r>
            <a:endParaRPr lang="en-US"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4" name="图片 17"/>
          <p:cNvPicPr/>
          <p:nvPr/>
        </p:nvPicPr>
        <p:blipFill>
          <a:blip r:embed="rId4"/>
          <a:stretch/>
        </p:blipFill>
        <p:spPr>
          <a:xfrm>
            <a:off x="0" y="444240"/>
            <a:ext cx="1041120" cy="578880"/>
          </a:xfrm>
          <a:prstGeom prst="rect">
            <a:avLst/>
          </a:prstGeom>
          <a:ln w="0">
            <a:noFill/>
          </a:ln>
        </p:spPr>
      </p:pic>
      <p:sp>
        <p:nvSpPr>
          <p:cNvPr id="5" name="PlaceHolder 1"/>
          <p:cNvSpPr>
            <a:spLocks noGrp="1"/>
          </p:cNvSpPr>
          <p:nvPr>
            <p:ph type="title"/>
          </p:nvPr>
        </p:nvSpPr>
        <p:spPr>
          <a:xfrm>
            <a:off x="1079640" y="248760"/>
            <a:ext cx="9389520" cy="907920"/>
          </a:xfrm>
          <a:prstGeom prst="rect">
            <a:avLst/>
          </a:prstGeom>
          <a:noFill/>
          <a:ln w="0">
            <a:noFill/>
          </a:ln>
        </p:spPr>
        <p:txBody>
          <a:bodyPr lIns="91440" tIns="45720" rIns="91440" bIns="45720" anchor="ctr">
            <a:noAutofit/>
          </a:bodyPr>
          <a:lstStyle/>
          <a:p>
            <a:pPr indent="0" defTabSz="914400">
              <a:lnSpc>
                <a:spcPct val="100000"/>
              </a:lnSpc>
              <a:buNone/>
            </a:pPr>
            <a:r>
              <a:rPr lang="fr-FR" sz="3600" b="1" strike="noStrike" spc="-1">
                <a:solidFill>
                  <a:srgbClr val="002F76"/>
                </a:solidFill>
                <a:latin typeface="Arial Black"/>
                <a:ea typeface="微软雅黑"/>
              </a:rPr>
              <a:t>main title-font size 30-36</a:t>
            </a:r>
            <a:endParaRPr lang="en-US" sz="3600" b="0" strike="noStrike" spc="-1">
              <a:solidFill>
                <a:schemeClr val="dk1"/>
              </a:solidFill>
              <a:latin typeface="Arial"/>
            </a:endParaRPr>
          </a:p>
        </p:txBody>
      </p:sp>
      <p:sp>
        <p:nvSpPr>
          <p:cNvPr id="6" name="PlaceHolder 2"/>
          <p:cNvSpPr>
            <a:spLocks noGrp="1"/>
          </p:cNvSpPr>
          <p:nvPr>
            <p:ph type="body"/>
          </p:nvPr>
        </p:nvSpPr>
        <p:spPr>
          <a:xfrm>
            <a:off x="522720" y="2127240"/>
            <a:ext cx="9389520" cy="4227120"/>
          </a:xfrm>
          <a:prstGeom prst="rect">
            <a:avLst/>
          </a:prstGeom>
          <a:noFill/>
          <a:ln w="0">
            <a:noFill/>
          </a:ln>
        </p:spPr>
        <p:txBody>
          <a:bodyPr lIns="91440" tIns="45720" rIns="91440" bIns="45720" anchor="t">
            <a:normAutofit/>
          </a:bodyPr>
          <a:lstStyle/>
          <a:p>
            <a:pPr indent="0" defTabSz="914400">
              <a:lnSpc>
                <a:spcPct val="90000"/>
              </a:lnSpc>
              <a:spcBef>
                <a:spcPts val="1001"/>
              </a:spcBef>
              <a:buNone/>
              <a:tabLst>
                <a:tab pos="0" algn="l"/>
              </a:tabLst>
            </a:pPr>
            <a:r>
              <a:rPr lang="en-US" sz="1600" b="0" strike="noStrike" spc="-1">
                <a:solidFill>
                  <a:schemeClr val="dk1"/>
                </a:solidFill>
                <a:latin typeface="Arial"/>
              </a:rPr>
              <a:t>Text-font size 12-18</a:t>
            </a:r>
            <a:endParaRPr lang="en-US" sz="1600" b="1" strike="noStrike" spc="-1">
              <a:solidFill>
                <a:schemeClr val="dk1"/>
              </a:solidFill>
              <a:latin typeface="Arial"/>
            </a:endParaRPr>
          </a:p>
        </p:txBody>
      </p:sp>
      <p:sp>
        <p:nvSpPr>
          <p:cNvPr id="7" name="文本框 11"/>
          <p:cNvSpPr/>
          <p:nvPr/>
        </p:nvSpPr>
        <p:spPr>
          <a:xfrm>
            <a:off x="11369520" y="6598800"/>
            <a:ext cx="725400" cy="455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fld id="{14F74BE3-4C68-44E1-855B-E1831D85ACE7}" type="slidenum">
              <a:rPr lang="en-US" sz="1200" b="0" strike="noStrike" spc="-1">
                <a:solidFill>
                  <a:schemeClr val="lt1"/>
                </a:solidFill>
                <a:latin typeface="Arial"/>
              </a:rPr>
              <a:t>‹#›</a:t>
            </a:fld>
            <a:r>
              <a:rPr lang="en-US" sz="1200" b="0" strike="noStrike" spc="-1">
                <a:solidFill>
                  <a:schemeClr val="lt1"/>
                </a:solidFill>
                <a:latin typeface="Arial"/>
              </a:rPr>
              <a:t>/N</a:t>
            </a:r>
            <a:endParaRPr lang="en-US" sz="1200" b="0" strike="noStrike" spc="-1">
              <a:solidFill>
                <a:srgbClr val="000000"/>
              </a:solidFill>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pic>
        <p:nvPicPr>
          <p:cNvPr id="8" name="图片 17"/>
          <p:cNvPicPr/>
          <p:nvPr/>
        </p:nvPicPr>
        <p:blipFill>
          <a:blip r:embed="rId4"/>
          <a:stretch/>
        </p:blipFill>
        <p:spPr>
          <a:xfrm>
            <a:off x="0" y="444240"/>
            <a:ext cx="1041120" cy="578880"/>
          </a:xfrm>
          <a:prstGeom prst="rect">
            <a:avLst/>
          </a:prstGeom>
          <a:ln w="0">
            <a:noFill/>
          </a:ln>
        </p:spPr>
      </p:pic>
      <p:sp>
        <p:nvSpPr>
          <p:cNvPr id="9" name="椭圆 2"/>
          <p:cNvSpPr/>
          <p:nvPr/>
        </p:nvSpPr>
        <p:spPr>
          <a:xfrm>
            <a:off x="2658240" y="1480320"/>
            <a:ext cx="6715440" cy="3652200"/>
          </a:xfrm>
          <a:prstGeom prst="ellipse">
            <a:avLst/>
          </a:prstGeom>
          <a:gradFill rotWithShape="0">
            <a:gsLst>
              <a:gs pos="0">
                <a:srgbClr val="2E75B6"/>
              </a:gs>
              <a:gs pos="100000">
                <a:srgbClr val="2E75B6">
                  <a:alpha val="0"/>
                </a:srgbClr>
              </a:gs>
            </a:gsLst>
            <a:path path="rect">
              <a:fillToRect l="50000" t="50000" r="50000" b="50000"/>
            </a:path>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strike="noStrike" spc="-1">
              <a:solidFill>
                <a:schemeClr val="lt1"/>
              </a:solidFill>
              <a:latin typeface="Arial"/>
            </a:endParaRPr>
          </a:p>
        </p:txBody>
      </p:sp>
      <p:sp>
        <p:nvSpPr>
          <p:cNvPr id="10" name="文本框 3"/>
          <p:cNvSpPr/>
          <p:nvPr/>
        </p:nvSpPr>
        <p:spPr>
          <a:xfrm>
            <a:off x="3974040" y="2557080"/>
            <a:ext cx="5889960" cy="1430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8800" b="0" strike="noStrike" spc="-1">
                <a:solidFill>
                  <a:schemeClr val="lt1"/>
                </a:solidFill>
                <a:latin typeface="Inter Black"/>
                <a:ea typeface="Inter Black"/>
              </a:rPr>
              <a:t>Thank You</a:t>
            </a:r>
            <a:endParaRPr lang="en-US" sz="8800" b="0" strike="noStrike" spc="-1">
              <a:solidFill>
                <a:srgbClr val="FFFFFF"/>
              </a:solidFill>
              <a:latin typeface="Arial"/>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 0"/>
          <p:cNvSpPr/>
          <p:nvPr/>
        </p:nvSpPr>
        <p:spPr>
          <a:xfrm>
            <a:off x="1508760" y="453331"/>
            <a:ext cx="7502804" cy="65836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300" b="1" kern="0" spc="30" dirty="0">
                <a:solidFill>
                  <a:srgbClr val="0B2C6E"/>
                </a:solidFill>
                <a:latin typeface="Arial" pitchFamily="34" charset="0"/>
                <a:ea typeface="Arial" pitchFamily="34" charset="-122"/>
                <a:cs typeface="Arial" pitchFamily="34" charset="-120"/>
              </a:rPr>
              <a:t>AI NATIVE BY DESIGN</a:t>
            </a:r>
            <a:endParaRPr lang="en-US" sz="3300" dirty="0"/>
          </a:p>
        </p:txBody>
      </p:sp>
      <p:sp>
        <p:nvSpPr>
          <p:cNvPr id="182" name="Text 6"/>
          <p:cNvSpPr/>
          <p:nvPr/>
        </p:nvSpPr>
        <p:spPr>
          <a:xfrm>
            <a:off x="525932" y="1522746"/>
            <a:ext cx="50292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kern="0" spc="50" dirty="0">
                <a:solidFill>
                  <a:srgbClr val="0B2C6E"/>
                </a:solidFill>
                <a:latin typeface="Arial" pitchFamily="34" charset="0"/>
                <a:ea typeface="Arial" pitchFamily="34" charset="-122"/>
                <a:cs typeface="Arial" pitchFamily="34" charset="-120"/>
              </a:rPr>
              <a:t>AI IN THE BUILD, </a:t>
            </a:r>
            <a:r>
              <a:rPr lang="en-US" sz="1400" b="1" kern="0" spc="50">
                <a:solidFill>
                  <a:srgbClr val="0B2C6E"/>
                </a:solidFill>
                <a:latin typeface="Arial" pitchFamily="34" charset="0"/>
                <a:ea typeface="Arial" pitchFamily="34" charset="-122"/>
                <a:cs typeface="Arial" pitchFamily="34" charset="-120"/>
              </a:rPr>
              <a:t>DETERMINISTIC </a:t>
            </a:r>
            <a:r>
              <a:rPr lang="en-US" sz="1400" b="1" kern="0" spc="50" smtClean="0">
                <a:solidFill>
                  <a:srgbClr val="0B2C6E"/>
                </a:solidFill>
                <a:latin typeface="Arial" pitchFamily="34" charset="0"/>
                <a:ea typeface="Arial" pitchFamily="34" charset="-122"/>
                <a:cs typeface="Arial" pitchFamily="34" charset="-120"/>
              </a:rPr>
              <a:t>IN THE RUN</a:t>
            </a:r>
            <a:endParaRPr lang="en-US" sz="1400" dirty="0"/>
          </a:p>
        </p:txBody>
      </p:sp>
      <p:sp>
        <p:nvSpPr>
          <p:cNvPr id="183" name="Shape 7"/>
          <p:cNvSpPr/>
          <p:nvPr/>
        </p:nvSpPr>
        <p:spPr>
          <a:xfrm>
            <a:off x="525932" y="1922472"/>
            <a:ext cx="384048" cy="384048"/>
          </a:xfrm>
          <a:prstGeom prst="ellipse">
            <a:avLst/>
          </a:prstGeom>
          <a:solidFill>
            <a:srgbClr val="0B2C6E"/>
          </a:solidFill>
          <a:ln/>
        </p:spPr>
        <p:txBody>
          <a:bodyPr/>
          <a:lstStyle/>
          <a:p>
            <a:endParaRPr lang="en-US"/>
          </a:p>
        </p:txBody>
      </p:sp>
      <p:sp>
        <p:nvSpPr>
          <p:cNvPr id="184" name="Text 8"/>
          <p:cNvSpPr/>
          <p:nvPr/>
        </p:nvSpPr>
        <p:spPr>
          <a:xfrm>
            <a:off x="525932" y="1922472"/>
            <a:ext cx="384048" cy="38404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01</a:t>
            </a:r>
            <a:endParaRPr lang="en-US" sz="1200" dirty="0"/>
          </a:p>
        </p:txBody>
      </p:sp>
      <p:sp>
        <p:nvSpPr>
          <p:cNvPr id="185" name="Text 9"/>
          <p:cNvSpPr/>
          <p:nvPr/>
        </p:nvSpPr>
        <p:spPr>
          <a:xfrm>
            <a:off x="1056284" y="1885896"/>
            <a:ext cx="5093208"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0B2C6E"/>
                </a:solidFill>
                <a:latin typeface="Calibri" pitchFamily="34" charset="0"/>
                <a:ea typeface="Calibri" pitchFamily="34" charset="-122"/>
                <a:cs typeface="Calibri" pitchFamily="34" charset="-120"/>
              </a:rPr>
              <a:t>AI Did the Reading Work — Once</a:t>
            </a:r>
            <a:endParaRPr lang="en-US" sz="1400" dirty="0"/>
          </a:p>
        </p:txBody>
      </p:sp>
      <p:sp>
        <p:nvSpPr>
          <p:cNvPr id="186" name="Text 10"/>
          <p:cNvSpPr/>
          <p:nvPr/>
        </p:nvSpPr>
        <p:spPr>
          <a:xfrm>
            <a:off x="1056284" y="2178504"/>
            <a:ext cx="5093208"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AI derived the LDM schema and the design rules from real customer PMD documents. That result is frozen into a fixed engine. The factory runs the engine, not a model.</a:t>
            </a:r>
            <a:endParaRPr lang="en-US" sz="1100" dirty="0"/>
          </a:p>
        </p:txBody>
      </p:sp>
      <p:sp>
        <p:nvSpPr>
          <p:cNvPr id="187" name="Shape 11"/>
          <p:cNvSpPr/>
          <p:nvPr/>
        </p:nvSpPr>
        <p:spPr>
          <a:xfrm>
            <a:off x="525932" y="2818584"/>
            <a:ext cx="5623560" cy="0"/>
          </a:xfrm>
          <a:prstGeom prst="line">
            <a:avLst/>
          </a:prstGeom>
          <a:noFill/>
          <a:ln w="9525">
            <a:solidFill>
              <a:srgbClr val="DDE3EA"/>
            </a:solidFill>
            <a:prstDash val="solid"/>
          </a:ln>
        </p:spPr>
        <p:txBody>
          <a:bodyPr/>
          <a:lstStyle/>
          <a:p>
            <a:endParaRPr lang="en-US"/>
          </a:p>
        </p:txBody>
      </p:sp>
      <p:sp>
        <p:nvSpPr>
          <p:cNvPr id="188" name="Shape 12"/>
          <p:cNvSpPr/>
          <p:nvPr/>
        </p:nvSpPr>
        <p:spPr>
          <a:xfrm>
            <a:off x="525932" y="2946600"/>
            <a:ext cx="384048" cy="384048"/>
          </a:xfrm>
          <a:prstGeom prst="ellipse">
            <a:avLst/>
          </a:prstGeom>
          <a:solidFill>
            <a:srgbClr val="0B2C6E"/>
          </a:solidFill>
          <a:ln/>
        </p:spPr>
        <p:txBody>
          <a:bodyPr/>
          <a:lstStyle/>
          <a:p>
            <a:endParaRPr lang="en-US"/>
          </a:p>
        </p:txBody>
      </p:sp>
      <p:sp>
        <p:nvSpPr>
          <p:cNvPr id="189" name="Text 13"/>
          <p:cNvSpPr/>
          <p:nvPr/>
        </p:nvSpPr>
        <p:spPr>
          <a:xfrm>
            <a:off x="525932" y="2946600"/>
            <a:ext cx="384048" cy="38404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02</a:t>
            </a:r>
            <a:endParaRPr lang="en-US" sz="1200" dirty="0"/>
          </a:p>
        </p:txBody>
      </p:sp>
      <p:sp>
        <p:nvSpPr>
          <p:cNvPr id="190" name="Text 14"/>
          <p:cNvSpPr/>
          <p:nvPr/>
        </p:nvSpPr>
        <p:spPr>
          <a:xfrm>
            <a:off x="1056284" y="2910024"/>
            <a:ext cx="5093208"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0B2C6E"/>
                </a:solidFill>
                <a:latin typeface="Calibri" pitchFamily="34" charset="0"/>
                <a:ea typeface="Calibri" pitchFamily="34" charset="-122"/>
                <a:cs typeface="Calibri" pitchFamily="34" charset="-120"/>
              </a:rPr>
              <a:t>Deterministic in Production</a:t>
            </a:r>
            <a:endParaRPr lang="en-US" sz="1400" dirty="0"/>
          </a:p>
        </p:txBody>
      </p:sp>
      <p:sp>
        <p:nvSpPr>
          <p:cNvPr id="191" name="Text 15"/>
          <p:cNvSpPr/>
          <p:nvPr/>
        </p:nvSpPr>
        <p:spPr>
          <a:xfrm>
            <a:off x="1056284" y="3202632"/>
            <a:ext cx="5093208"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The same PMD gives the same label file today and six months from now. For MAC and RSN data, an answer that varies is a defect, not a feature.</a:t>
            </a:r>
            <a:endParaRPr lang="en-US" sz="1100" dirty="0"/>
          </a:p>
        </p:txBody>
      </p:sp>
      <p:sp>
        <p:nvSpPr>
          <p:cNvPr id="192" name="Shape 16"/>
          <p:cNvSpPr/>
          <p:nvPr/>
        </p:nvSpPr>
        <p:spPr>
          <a:xfrm>
            <a:off x="525932" y="3842712"/>
            <a:ext cx="5623560" cy="0"/>
          </a:xfrm>
          <a:prstGeom prst="line">
            <a:avLst/>
          </a:prstGeom>
          <a:noFill/>
          <a:ln w="9525">
            <a:solidFill>
              <a:srgbClr val="DDE3EA"/>
            </a:solidFill>
            <a:prstDash val="solid"/>
          </a:ln>
        </p:spPr>
        <p:txBody>
          <a:bodyPr/>
          <a:lstStyle/>
          <a:p>
            <a:endParaRPr lang="en-US"/>
          </a:p>
        </p:txBody>
      </p:sp>
      <p:sp>
        <p:nvSpPr>
          <p:cNvPr id="193" name="Shape 17"/>
          <p:cNvSpPr/>
          <p:nvPr/>
        </p:nvSpPr>
        <p:spPr>
          <a:xfrm>
            <a:off x="525932" y="3970728"/>
            <a:ext cx="384048" cy="384048"/>
          </a:xfrm>
          <a:prstGeom prst="ellipse">
            <a:avLst/>
          </a:prstGeom>
          <a:solidFill>
            <a:srgbClr val="0B2C6E"/>
          </a:solidFill>
          <a:ln/>
        </p:spPr>
        <p:txBody>
          <a:bodyPr/>
          <a:lstStyle/>
          <a:p>
            <a:endParaRPr lang="en-US"/>
          </a:p>
        </p:txBody>
      </p:sp>
      <p:sp>
        <p:nvSpPr>
          <p:cNvPr id="194" name="Text 18"/>
          <p:cNvSpPr/>
          <p:nvPr/>
        </p:nvSpPr>
        <p:spPr>
          <a:xfrm>
            <a:off x="525932" y="3970728"/>
            <a:ext cx="384048" cy="38404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03</a:t>
            </a:r>
            <a:endParaRPr lang="en-US" sz="1200" dirty="0"/>
          </a:p>
        </p:txBody>
      </p:sp>
      <p:sp>
        <p:nvSpPr>
          <p:cNvPr id="195" name="Text 19"/>
          <p:cNvSpPr/>
          <p:nvPr/>
        </p:nvSpPr>
        <p:spPr>
          <a:xfrm>
            <a:off x="1056284" y="3934152"/>
            <a:ext cx="5093208"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0B2C6E"/>
                </a:solidFill>
                <a:latin typeface="Calibri" pitchFamily="34" charset="0"/>
                <a:ea typeface="Calibri" pitchFamily="34" charset="-122"/>
                <a:cs typeface="Calibri" pitchFamily="34" charset="-120"/>
              </a:rPr>
              <a:t>Auditable, Not a Black Box</a:t>
            </a:r>
            <a:endParaRPr lang="en-US" sz="1400" dirty="0"/>
          </a:p>
        </p:txBody>
      </p:sp>
      <p:sp>
        <p:nvSpPr>
          <p:cNvPr id="196" name="Text 20"/>
          <p:cNvSpPr/>
          <p:nvPr/>
        </p:nvSpPr>
        <p:spPr>
          <a:xfrm>
            <a:off x="1056284" y="4226760"/>
            <a:ext cx="5093208"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Every decision maps back to a rule we can show. If a customer challenges a printed label, we can explain exactly why the system produced that value.</a:t>
            </a:r>
            <a:endParaRPr lang="en-US" sz="1100" dirty="0"/>
          </a:p>
        </p:txBody>
      </p:sp>
      <p:sp>
        <p:nvSpPr>
          <p:cNvPr id="197" name="Shape 21"/>
          <p:cNvSpPr/>
          <p:nvPr/>
        </p:nvSpPr>
        <p:spPr>
          <a:xfrm>
            <a:off x="525932" y="4866840"/>
            <a:ext cx="5623560" cy="0"/>
          </a:xfrm>
          <a:prstGeom prst="line">
            <a:avLst/>
          </a:prstGeom>
          <a:noFill/>
          <a:ln w="9525">
            <a:solidFill>
              <a:srgbClr val="DDE3EA"/>
            </a:solidFill>
            <a:prstDash val="solid"/>
          </a:ln>
        </p:spPr>
        <p:txBody>
          <a:bodyPr/>
          <a:lstStyle/>
          <a:p>
            <a:endParaRPr lang="en-US"/>
          </a:p>
        </p:txBody>
      </p:sp>
      <p:sp>
        <p:nvSpPr>
          <p:cNvPr id="198" name="Shape 22"/>
          <p:cNvSpPr/>
          <p:nvPr/>
        </p:nvSpPr>
        <p:spPr>
          <a:xfrm>
            <a:off x="525932" y="4994856"/>
            <a:ext cx="384048" cy="384048"/>
          </a:xfrm>
          <a:prstGeom prst="ellipse">
            <a:avLst/>
          </a:prstGeom>
          <a:solidFill>
            <a:srgbClr val="0B2C6E"/>
          </a:solidFill>
          <a:ln/>
        </p:spPr>
        <p:txBody>
          <a:bodyPr/>
          <a:lstStyle/>
          <a:p>
            <a:endParaRPr lang="en-US"/>
          </a:p>
        </p:txBody>
      </p:sp>
      <p:sp>
        <p:nvSpPr>
          <p:cNvPr id="199" name="Text 23"/>
          <p:cNvSpPr/>
          <p:nvPr/>
        </p:nvSpPr>
        <p:spPr>
          <a:xfrm>
            <a:off x="525932" y="4994856"/>
            <a:ext cx="384048" cy="38404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04</a:t>
            </a:r>
            <a:endParaRPr lang="en-US" sz="1200" dirty="0"/>
          </a:p>
        </p:txBody>
      </p:sp>
      <p:sp>
        <p:nvSpPr>
          <p:cNvPr id="200" name="Text 24"/>
          <p:cNvSpPr/>
          <p:nvPr/>
        </p:nvSpPr>
        <p:spPr>
          <a:xfrm>
            <a:off x="1056284" y="4958280"/>
            <a:ext cx="5093208"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0B2C6E"/>
                </a:solidFill>
                <a:latin typeface="Calibri" pitchFamily="34" charset="0"/>
                <a:ea typeface="Calibri" pitchFamily="34" charset="-122"/>
                <a:cs typeface="Calibri" pitchFamily="34" charset="-120"/>
              </a:rPr>
              <a:t>Offline — No Document Leaves the Site</a:t>
            </a:r>
            <a:endParaRPr lang="en-US" sz="1400" dirty="0"/>
          </a:p>
        </p:txBody>
      </p:sp>
      <p:sp>
        <p:nvSpPr>
          <p:cNvPr id="201" name="Text 25"/>
          <p:cNvSpPr/>
          <p:nvPr/>
        </p:nvSpPr>
        <p:spPr>
          <a:xfrm>
            <a:off x="1056284" y="5250888"/>
            <a:ext cx="5093208"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Customer documents are never sent outside. No network dependency, no per-use AI cost, no exposure of customer data to any external service.</a:t>
            </a:r>
            <a:endParaRPr lang="en-US" sz="1100" dirty="0"/>
          </a:p>
        </p:txBody>
      </p:sp>
      <p:sp>
        <p:nvSpPr>
          <p:cNvPr id="202" name="Text 26"/>
          <p:cNvSpPr/>
          <p:nvPr/>
        </p:nvSpPr>
        <p:spPr>
          <a:xfrm>
            <a:off x="68732" y="0"/>
            <a:ext cx="91440" cy="914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dirty="0"/>
          </a:p>
        </p:txBody>
      </p:sp>
      <p:sp>
        <p:nvSpPr>
          <p:cNvPr id="203" name="Text 27"/>
          <p:cNvSpPr/>
          <p:nvPr/>
        </p:nvSpPr>
        <p:spPr>
          <a:xfrm>
            <a:off x="6345431" y="1544528"/>
            <a:ext cx="5394960" cy="23774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50" dirty="0">
                <a:solidFill>
                  <a:srgbClr val="0B2C6E"/>
                </a:solidFill>
                <a:latin typeface="Arial" pitchFamily="34" charset="0"/>
                <a:ea typeface="Arial" pitchFamily="34" charset="-122"/>
                <a:cs typeface="Arial" pitchFamily="34" charset="-120"/>
              </a:rPr>
              <a:t>THE FOUR AI NATIVE CONDITIONS</a:t>
            </a:r>
          </a:p>
        </p:txBody>
      </p:sp>
      <p:sp>
        <p:nvSpPr>
          <p:cNvPr id="204" name="Shape 28"/>
          <p:cNvSpPr/>
          <p:nvPr/>
        </p:nvSpPr>
        <p:spPr>
          <a:xfrm>
            <a:off x="6423812" y="1871101"/>
            <a:ext cx="5394960" cy="2724912"/>
          </a:xfrm>
          <a:prstGeom prst="roundRect">
            <a:avLst>
              <a:gd name="adj" fmla="val 2349"/>
            </a:avLst>
          </a:prstGeom>
          <a:solidFill>
            <a:srgbClr val="FFFFFF"/>
          </a:solidFill>
          <a:ln w="12700">
            <a:solidFill>
              <a:srgbClr val="DDE3EA"/>
            </a:solidFill>
            <a:prstDash val="solid"/>
          </a:ln>
          <a:effectLst>
            <a:outerShdw blurRad="101600" dist="25400" dir="5400000" algn="bl" rotWithShape="0">
              <a:srgbClr val="0A0E12">
                <a:alpha val="10000"/>
              </a:srgbClr>
            </a:outerShdw>
          </a:effectLst>
        </p:spPr>
        <p:txBody>
          <a:bodyPr/>
          <a:lstStyle/>
          <a:p>
            <a:endParaRPr lang="en-US"/>
          </a:p>
        </p:txBody>
      </p:sp>
      <p:sp>
        <p:nvSpPr>
          <p:cNvPr id="205" name="Shape 29"/>
          <p:cNvSpPr/>
          <p:nvPr/>
        </p:nvSpPr>
        <p:spPr>
          <a:xfrm>
            <a:off x="6423812" y="1871101"/>
            <a:ext cx="5394960" cy="457200"/>
          </a:xfrm>
          <a:prstGeom prst="rect">
            <a:avLst/>
          </a:prstGeom>
          <a:solidFill>
            <a:srgbClr val="0B2C6E"/>
          </a:solidFill>
          <a:ln/>
        </p:spPr>
        <p:txBody>
          <a:bodyPr/>
          <a:lstStyle/>
          <a:p>
            <a:endParaRPr lang="en-US"/>
          </a:p>
        </p:txBody>
      </p:sp>
      <p:sp>
        <p:nvSpPr>
          <p:cNvPr id="206" name="Text 30"/>
          <p:cNvSpPr/>
          <p:nvPr/>
        </p:nvSpPr>
        <p:spPr>
          <a:xfrm>
            <a:off x="6652412" y="1871101"/>
            <a:ext cx="356616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b="1" dirty="0">
                <a:solidFill>
                  <a:srgbClr val="FFFFFF"/>
                </a:solidFill>
                <a:latin typeface="Calibri" pitchFamily="34" charset="0"/>
                <a:ea typeface="Calibri" pitchFamily="34" charset="-122"/>
                <a:cs typeface="Calibri" pitchFamily="34" charset="-120"/>
              </a:rPr>
              <a:t>Condition</a:t>
            </a:r>
            <a:endParaRPr lang="en-US" sz="1150" dirty="0"/>
          </a:p>
        </p:txBody>
      </p:sp>
      <p:sp>
        <p:nvSpPr>
          <p:cNvPr id="207" name="Text 31"/>
          <p:cNvSpPr/>
          <p:nvPr/>
        </p:nvSpPr>
        <p:spPr>
          <a:xfrm>
            <a:off x="10081412" y="1871101"/>
            <a:ext cx="155448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p>
        </p:txBody>
      </p:sp>
      <p:sp>
        <p:nvSpPr>
          <p:cNvPr id="208" name="Text 32"/>
          <p:cNvSpPr/>
          <p:nvPr/>
        </p:nvSpPr>
        <p:spPr>
          <a:xfrm>
            <a:off x="6652412" y="2328301"/>
            <a:ext cx="3383280" cy="56692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100" dirty="0">
                <a:solidFill>
                  <a:srgbClr val="16202B"/>
                </a:solidFill>
                <a:latin typeface="Calibri" pitchFamily="34" charset="0"/>
                <a:ea typeface="Calibri" pitchFamily="34" charset="-122"/>
                <a:cs typeface="Calibri" pitchFamily="34" charset="-120"/>
              </a:rPr>
              <a:t>Machine-readable input — no human reading step</a:t>
            </a:r>
            <a:endParaRPr lang="en-US" sz="1100" dirty="0"/>
          </a:p>
        </p:txBody>
      </p:sp>
      <p:sp>
        <p:nvSpPr>
          <p:cNvPr id="209" name="Shape 33"/>
          <p:cNvSpPr/>
          <p:nvPr/>
        </p:nvSpPr>
        <p:spPr>
          <a:xfrm>
            <a:off x="10218572" y="2456317"/>
            <a:ext cx="1371600" cy="310896"/>
          </a:xfrm>
          <a:prstGeom prst="roundRect">
            <a:avLst>
              <a:gd name="adj" fmla="val 50000"/>
            </a:avLst>
          </a:prstGeom>
          <a:solidFill>
            <a:srgbClr val="E9EFFB"/>
          </a:solidFill>
          <a:ln/>
        </p:spPr>
        <p:txBody>
          <a:bodyPr/>
          <a:lstStyle/>
          <a:p>
            <a:endParaRPr lang="en-US"/>
          </a:p>
        </p:txBody>
      </p:sp>
      <p:sp>
        <p:nvSpPr>
          <p:cNvPr id="210" name="Text 34"/>
          <p:cNvSpPr/>
          <p:nvPr/>
        </p:nvSpPr>
        <p:spPr>
          <a:xfrm>
            <a:off x="10218572" y="2456317"/>
            <a:ext cx="1371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b="1" dirty="0">
                <a:solidFill>
                  <a:srgbClr val="0B2C6E"/>
                </a:solidFill>
                <a:latin typeface="Calibri" pitchFamily="34" charset="0"/>
                <a:ea typeface="Calibri" pitchFamily="34" charset="-122"/>
                <a:cs typeface="Calibri" pitchFamily="34" charset="-120"/>
              </a:rPr>
              <a:t>Met</a:t>
            </a:r>
            <a:endParaRPr lang="en-US" sz="950" dirty="0"/>
          </a:p>
        </p:txBody>
      </p:sp>
      <p:sp>
        <p:nvSpPr>
          <p:cNvPr id="211" name="Shape 35"/>
          <p:cNvSpPr/>
          <p:nvPr/>
        </p:nvSpPr>
        <p:spPr>
          <a:xfrm>
            <a:off x="6423812" y="2895229"/>
            <a:ext cx="5394960" cy="566928"/>
          </a:xfrm>
          <a:prstGeom prst="rect">
            <a:avLst/>
          </a:prstGeom>
          <a:solidFill>
            <a:srgbClr val="F6F8FB"/>
          </a:solidFill>
          <a:ln/>
        </p:spPr>
        <p:txBody>
          <a:bodyPr/>
          <a:lstStyle/>
          <a:p>
            <a:endParaRPr lang="en-US"/>
          </a:p>
        </p:txBody>
      </p:sp>
      <p:sp>
        <p:nvSpPr>
          <p:cNvPr id="212" name="Text 36"/>
          <p:cNvSpPr/>
          <p:nvPr/>
        </p:nvSpPr>
        <p:spPr>
          <a:xfrm>
            <a:off x="6652412" y="2895229"/>
            <a:ext cx="3383280" cy="56692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100" dirty="0">
                <a:solidFill>
                  <a:srgbClr val="16202B"/>
                </a:solidFill>
                <a:latin typeface="Calibri" pitchFamily="34" charset="0"/>
                <a:ea typeface="Calibri" pitchFamily="34" charset="-122"/>
                <a:cs typeface="Calibri" pitchFamily="34" charset="-120"/>
              </a:rPr>
              <a:t>Exception boundary — the system never guesses</a:t>
            </a:r>
            <a:endParaRPr lang="en-US" sz="1100" dirty="0"/>
          </a:p>
        </p:txBody>
      </p:sp>
      <p:sp>
        <p:nvSpPr>
          <p:cNvPr id="213" name="Shape 37"/>
          <p:cNvSpPr/>
          <p:nvPr/>
        </p:nvSpPr>
        <p:spPr>
          <a:xfrm>
            <a:off x="10218572" y="3023245"/>
            <a:ext cx="1371600" cy="310896"/>
          </a:xfrm>
          <a:prstGeom prst="roundRect">
            <a:avLst>
              <a:gd name="adj" fmla="val 50000"/>
            </a:avLst>
          </a:prstGeom>
          <a:solidFill>
            <a:srgbClr val="E9EFFB"/>
          </a:solidFill>
          <a:ln/>
        </p:spPr>
        <p:txBody>
          <a:bodyPr/>
          <a:lstStyle/>
          <a:p>
            <a:endParaRPr lang="en-US"/>
          </a:p>
        </p:txBody>
      </p:sp>
      <p:sp>
        <p:nvSpPr>
          <p:cNvPr id="214" name="Text 38"/>
          <p:cNvSpPr/>
          <p:nvPr/>
        </p:nvSpPr>
        <p:spPr>
          <a:xfrm>
            <a:off x="10218572" y="3023245"/>
            <a:ext cx="1371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b="1" dirty="0">
                <a:solidFill>
                  <a:srgbClr val="0B2C6E"/>
                </a:solidFill>
                <a:latin typeface="Calibri" pitchFamily="34" charset="0"/>
                <a:ea typeface="Calibri" pitchFamily="34" charset="-122"/>
                <a:cs typeface="Calibri" pitchFamily="34" charset="-120"/>
              </a:rPr>
              <a:t>Met</a:t>
            </a:r>
            <a:endParaRPr lang="en-US" sz="950" dirty="0"/>
          </a:p>
        </p:txBody>
      </p:sp>
      <p:sp>
        <p:nvSpPr>
          <p:cNvPr id="215" name="Text 39"/>
          <p:cNvSpPr/>
          <p:nvPr/>
        </p:nvSpPr>
        <p:spPr>
          <a:xfrm>
            <a:off x="6652412" y="3462157"/>
            <a:ext cx="3383280" cy="56692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100" dirty="0">
                <a:solidFill>
                  <a:srgbClr val="16202B"/>
                </a:solidFill>
                <a:latin typeface="Calibri" pitchFamily="34" charset="0"/>
                <a:ea typeface="Calibri" pitchFamily="34" charset="-122"/>
                <a:cs typeface="Calibri" pitchFamily="34" charset="-120"/>
              </a:rPr>
              <a:t>AI does the work; people approve exceptions</a:t>
            </a:r>
            <a:endParaRPr lang="en-US" sz="1100" dirty="0"/>
          </a:p>
        </p:txBody>
      </p:sp>
      <p:sp>
        <p:nvSpPr>
          <p:cNvPr id="216" name="Shape 40"/>
          <p:cNvSpPr/>
          <p:nvPr/>
        </p:nvSpPr>
        <p:spPr>
          <a:xfrm>
            <a:off x="10218572" y="3590173"/>
            <a:ext cx="1371600" cy="310896"/>
          </a:xfrm>
          <a:prstGeom prst="roundRect">
            <a:avLst>
              <a:gd name="adj" fmla="val 50000"/>
            </a:avLst>
          </a:prstGeom>
          <a:solidFill>
            <a:srgbClr val="E9EFFB"/>
          </a:solidFill>
          <a:ln/>
        </p:spPr>
        <p:txBody>
          <a:bodyPr/>
          <a:lstStyle/>
          <a:p>
            <a:endParaRPr lang="en-US"/>
          </a:p>
        </p:txBody>
      </p:sp>
      <p:sp>
        <p:nvSpPr>
          <p:cNvPr id="217" name="Text 41"/>
          <p:cNvSpPr/>
          <p:nvPr/>
        </p:nvSpPr>
        <p:spPr>
          <a:xfrm>
            <a:off x="10218572" y="3590173"/>
            <a:ext cx="1371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b="1" dirty="0">
                <a:solidFill>
                  <a:srgbClr val="0B2C6E"/>
                </a:solidFill>
                <a:latin typeface="Calibri" pitchFamily="34" charset="0"/>
                <a:ea typeface="Calibri" pitchFamily="34" charset="-122"/>
                <a:cs typeface="Calibri" pitchFamily="34" charset="-120"/>
              </a:rPr>
              <a:t>Met</a:t>
            </a:r>
            <a:endParaRPr lang="en-US" sz="950" dirty="0"/>
          </a:p>
        </p:txBody>
      </p:sp>
      <p:sp>
        <p:nvSpPr>
          <p:cNvPr id="218" name="Shape 42"/>
          <p:cNvSpPr/>
          <p:nvPr/>
        </p:nvSpPr>
        <p:spPr>
          <a:xfrm>
            <a:off x="6423812" y="4029085"/>
            <a:ext cx="5394960" cy="566928"/>
          </a:xfrm>
          <a:prstGeom prst="rect">
            <a:avLst/>
          </a:prstGeom>
          <a:solidFill>
            <a:srgbClr val="F6F8FB"/>
          </a:solidFill>
          <a:ln/>
        </p:spPr>
        <p:txBody>
          <a:bodyPr/>
          <a:lstStyle/>
          <a:p>
            <a:endParaRPr lang="en-US"/>
          </a:p>
        </p:txBody>
      </p:sp>
      <p:sp>
        <p:nvSpPr>
          <p:cNvPr id="219" name="Text 43"/>
          <p:cNvSpPr/>
          <p:nvPr/>
        </p:nvSpPr>
        <p:spPr>
          <a:xfrm>
            <a:off x="6652412" y="4029085"/>
            <a:ext cx="3383280" cy="56692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100" dirty="0">
                <a:solidFill>
                  <a:srgbClr val="16202B"/>
                </a:solidFill>
                <a:latin typeface="Calibri" pitchFamily="34" charset="0"/>
                <a:ea typeface="Calibri" pitchFamily="34" charset="-122"/>
                <a:cs typeface="Calibri" pitchFamily="34" charset="-120"/>
              </a:rPr>
              <a:t>Event-driven trigger — auto-start on new PMD</a:t>
            </a:r>
            <a:endParaRPr lang="en-US" sz="1100" dirty="0"/>
          </a:p>
        </p:txBody>
      </p:sp>
      <p:sp>
        <p:nvSpPr>
          <p:cNvPr id="220" name="Shape 44"/>
          <p:cNvSpPr/>
          <p:nvPr/>
        </p:nvSpPr>
        <p:spPr>
          <a:xfrm>
            <a:off x="10218572" y="4157101"/>
            <a:ext cx="1371600" cy="310896"/>
          </a:xfrm>
          <a:prstGeom prst="roundRect">
            <a:avLst>
              <a:gd name="adj" fmla="val 50000"/>
            </a:avLst>
          </a:prstGeom>
          <a:solidFill>
            <a:srgbClr val="EEF1F3"/>
          </a:solidFill>
          <a:ln/>
        </p:spPr>
        <p:txBody>
          <a:bodyPr/>
          <a:lstStyle/>
          <a:p>
            <a:endParaRPr lang="en-US"/>
          </a:p>
        </p:txBody>
      </p:sp>
      <p:sp>
        <p:nvSpPr>
          <p:cNvPr id="221" name="Text 45"/>
          <p:cNvSpPr/>
          <p:nvPr/>
        </p:nvSpPr>
        <p:spPr>
          <a:xfrm>
            <a:off x="10218572" y="4157101"/>
            <a:ext cx="1371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b="1" dirty="0">
                <a:solidFill>
                  <a:srgbClr val="667180"/>
                </a:solidFill>
                <a:latin typeface="Calibri" pitchFamily="34" charset="0"/>
                <a:ea typeface="Calibri" pitchFamily="34" charset="-122"/>
                <a:cs typeface="Calibri" pitchFamily="34" charset="-120"/>
              </a:rPr>
              <a:t>Phase 2</a:t>
            </a:r>
            <a:endParaRPr lang="en-US" sz="950" dirty="0"/>
          </a:p>
        </p:txBody>
      </p:sp>
      <p:sp>
        <p:nvSpPr>
          <p:cNvPr id="222" name="Shape 46"/>
          <p:cNvSpPr/>
          <p:nvPr/>
        </p:nvSpPr>
        <p:spPr>
          <a:xfrm>
            <a:off x="6423812" y="4824612"/>
            <a:ext cx="5394960" cy="1280160"/>
          </a:xfrm>
          <a:prstGeom prst="roundRect">
            <a:avLst>
              <a:gd name="adj" fmla="val 7368"/>
            </a:avLst>
          </a:prstGeom>
          <a:solidFill>
            <a:srgbClr val="E9EFFB"/>
          </a:solidFill>
          <a:ln w="12700">
            <a:solidFill>
              <a:srgbClr val="C7D6F2"/>
            </a:solidFill>
            <a:prstDash val="solid"/>
          </a:ln>
        </p:spPr>
        <p:txBody>
          <a:bodyPr/>
          <a:lstStyle/>
          <a:p>
            <a:endParaRPr lang="en-US"/>
          </a:p>
        </p:txBody>
      </p:sp>
      <p:pic>
        <p:nvPicPr>
          <p:cNvPr id="223" name="Image 1" descr="/home/claude/deck2/assets/ic-bulb.png"/>
          <p:cNvPicPr>
            <a:picLocks noChangeAspect="1"/>
          </p:cNvPicPr>
          <p:nvPr/>
        </p:nvPicPr>
        <p:blipFill>
          <a:blip r:embed="rId3"/>
          <a:stretch>
            <a:fillRect/>
          </a:stretch>
        </p:blipFill>
        <p:spPr>
          <a:xfrm>
            <a:off x="6624980" y="5044069"/>
            <a:ext cx="384048" cy="384048"/>
          </a:xfrm>
          <a:prstGeom prst="rect">
            <a:avLst/>
          </a:prstGeom>
        </p:spPr>
      </p:pic>
      <p:sp>
        <p:nvSpPr>
          <p:cNvPr id="224" name="Text 47"/>
          <p:cNvSpPr/>
          <p:nvPr/>
        </p:nvSpPr>
        <p:spPr>
          <a:xfrm>
            <a:off x="7155332" y="4934341"/>
            <a:ext cx="4480560" cy="23774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50" dirty="0">
                <a:solidFill>
                  <a:srgbClr val="0B2C6E"/>
                </a:solidFill>
                <a:latin typeface="Arial" pitchFamily="34" charset="0"/>
                <a:ea typeface="Arial" pitchFamily="34" charset="-122"/>
                <a:cs typeface="Arial" pitchFamily="34" charset="-120"/>
              </a:rPr>
              <a:t>WHAT THIS IS NOT</a:t>
            </a:r>
            <a:endParaRPr lang="en-US" sz="1200" dirty="0"/>
          </a:p>
        </p:txBody>
      </p:sp>
      <p:sp>
        <p:nvSpPr>
          <p:cNvPr id="225" name="Text 48"/>
          <p:cNvSpPr/>
          <p:nvPr/>
        </p:nvSpPr>
        <p:spPr>
          <a:xfrm>
            <a:off x="7155332" y="5215312"/>
            <a:ext cx="4663440" cy="6858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100" dirty="0">
                <a:solidFill>
                  <a:srgbClr val="3A4552"/>
                </a:solidFill>
                <a:latin typeface="Calibri" pitchFamily="34" charset="0"/>
                <a:ea typeface="Calibri" pitchFamily="34" charset="-122"/>
                <a:cs typeface="Calibri" pitchFamily="34" charset="-120"/>
              </a:rPr>
              <a:t>A coding assistant makes one engineer faster; the workflow is unchanged. Here the workflow changed: a step people used to do is now done by the machine, and people moved to approving exceptions. That is the difference.</a:t>
            </a:r>
            <a:endParaRPr lang="en-US" sz="1100" dirty="0"/>
          </a:p>
        </p:txBody>
      </p:sp>
      <p:sp>
        <p:nvSpPr>
          <p:cNvPr id="226" name="Shape 49"/>
          <p:cNvSpPr/>
          <p:nvPr/>
        </p:nvSpPr>
        <p:spPr>
          <a:xfrm>
            <a:off x="-4420" y="6528816"/>
            <a:ext cx="12191695" cy="329184"/>
          </a:xfrm>
          <a:prstGeom prst="rect">
            <a:avLst/>
          </a:prstGeom>
          <a:solidFill>
            <a:srgbClr val="0B2C6E"/>
          </a:solidFill>
          <a:ln/>
        </p:spPr>
        <p:txBody>
          <a:bodyPr/>
          <a:lstStyle/>
          <a:p>
            <a:endParaRPr lang="en-US"/>
          </a:p>
        </p:txBody>
      </p:sp>
      <p:sp>
        <p:nvSpPr>
          <p:cNvPr id="227" name="Text 50"/>
          <p:cNvSpPr/>
          <p:nvPr/>
        </p:nvSpPr>
        <p:spPr>
          <a:xfrm>
            <a:off x="315620" y="6528816"/>
            <a:ext cx="7315200" cy="32918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CBD6E8"/>
                </a:solidFill>
                <a:latin typeface="Calibri" pitchFamily="34" charset="0"/>
                <a:ea typeface="Calibri" pitchFamily="34" charset="-122"/>
                <a:cs typeface="Calibri" pitchFamily="34" charset="-120"/>
              </a:rPr>
              <a:t>2026 Auto Design Label — Internal. All Rights Reserved.</a:t>
            </a:r>
            <a:endParaRPr lang="en-US" sz="1050" dirty="0"/>
          </a:p>
        </p:txBody>
      </p:sp>
      <p:sp>
        <p:nvSpPr>
          <p:cNvPr id="228" name="Text 51"/>
          <p:cNvSpPr/>
          <p:nvPr/>
        </p:nvSpPr>
        <p:spPr>
          <a:xfrm>
            <a:off x="7676540" y="6528816"/>
            <a:ext cx="3108960" cy="32918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950" b="1" dirty="0">
                <a:solidFill>
                  <a:srgbClr val="9FB3D0"/>
                </a:solidFill>
                <a:latin typeface="Calibri" pitchFamily="34" charset="0"/>
                <a:ea typeface="Calibri" pitchFamily="34" charset="-122"/>
                <a:cs typeface="Calibri" pitchFamily="34" charset="-120"/>
              </a:rPr>
              <a:t>PHASE 1 — IN PROGRESS</a:t>
            </a:r>
            <a:endParaRPr lang="en-US" sz="950" dirty="0"/>
          </a:p>
        </p:txBody>
      </p:sp>
      <p:sp>
        <p:nvSpPr>
          <p:cNvPr id="229" name="Shape 52"/>
          <p:cNvSpPr/>
          <p:nvPr/>
        </p:nvSpPr>
        <p:spPr>
          <a:xfrm>
            <a:off x="11471300" y="6528816"/>
            <a:ext cx="713232" cy="329184"/>
          </a:xfrm>
          <a:prstGeom prst="rect">
            <a:avLst/>
          </a:prstGeom>
          <a:solidFill>
            <a:srgbClr val="D0043A"/>
          </a:solidFill>
          <a:ln/>
        </p:spPr>
        <p:txBody>
          <a:bodyPr/>
          <a:lstStyle/>
          <a:p>
            <a:endParaRPr lang="en-US"/>
          </a:p>
        </p:txBody>
      </p:sp>
      <p:sp>
        <p:nvSpPr>
          <p:cNvPr id="230" name="Text 53"/>
          <p:cNvSpPr/>
          <p:nvPr/>
        </p:nvSpPr>
        <p:spPr>
          <a:xfrm>
            <a:off x="11471300" y="6528816"/>
            <a:ext cx="713232" cy="32918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smtClean="0">
                <a:solidFill>
                  <a:srgbClr val="FFFFFF"/>
                </a:solidFill>
                <a:latin typeface="Calibri" pitchFamily="34" charset="0"/>
                <a:ea typeface="Calibri" pitchFamily="34" charset="-122"/>
                <a:cs typeface="Calibri" pitchFamily="34" charset="-120"/>
              </a:rPr>
              <a:t>1/5</a:t>
            </a:r>
            <a:endParaRPr lang="en-US" sz="1100" dirty="0"/>
          </a:p>
        </p:txBody>
      </p:sp>
      <p:sp>
        <p:nvSpPr>
          <p:cNvPr id="231" name="Shape 2"/>
          <p:cNvSpPr/>
          <p:nvPr/>
        </p:nvSpPr>
        <p:spPr>
          <a:xfrm>
            <a:off x="9818551" y="418863"/>
            <a:ext cx="365760" cy="365760"/>
          </a:xfrm>
          <a:prstGeom prst="roundRect">
            <a:avLst>
              <a:gd name="adj" fmla="val 20000"/>
            </a:avLst>
          </a:prstGeom>
          <a:solidFill>
            <a:srgbClr val="E8600F"/>
          </a:solidFill>
          <a:ln/>
        </p:spPr>
      </p:sp>
      <p:sp>
        <p:nvSpPr>
          <p:cNvPr id="232" name="Text 3"/>
          <p:cNvSpPr/>
          <p:nvPr/>
        </p:nvSpPr>
        <p:spPr>
          <a:xfrm>
            <a:off x="9818551" y="400575"/>
            <a:ext cx="365760" cy="36576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A</a:t>
            </a:r>
            <a:endParaRPr lang="en-US" sz="1500" dirty="0"/>
          </a:p>
        </p:txBody>
      </p:sp>
      <p:sp>
        <p:nvSpPr>
          <p:cNvPr id="233" name="Text 4"/>
          <p:cNvSpPr/>
          <p:nvPr/>
        </p:nvSpPr>
        <p:spPr>
          <a:xfrm>
            <a:off x="9214338" y="674895"/>
            <a:ext cx="1048944" cy="365760"/>
          </a:xfrm>
          <a:prstGeom prst="rect">
            <a:avLst/>
          </a:prstGeom>
          <a:noFill/>
          <a:ln/>
        </p:spPr>
        <p:txBody>
          <a:bodyPr wrap="square" rtlCol="0" anchor="ctr"/>
          <a:lstStyle/>
          <a:p>
            <a:pPr algn="r">
              <a:lnSpc>
                <a:spcPct val="120000"/>
              </a:lnSpc>
            </a:pPr>
            <a:r>
              <a:rPr lang="en-US" sz="1000">
                <a:solidFill>
                  <a:srgbClr val="667180"/>
                </a:solidFill>
                <a:latin typeface="Calibri" pitchFamily="34" charset="0"/>
                <a:ea typeface="Calibri" pitchFamily="34" charset="-122"/>
                <a:cs typeface="Calibri" pitchFamily="34" charset="-120"/>
              </a:rPr>
              <a:t>CNSBG-Billy Su</a:t>
            </a:r>
            <a:endParaRPr lang="en-US" sz="1000" dirty="0"/>
          </a:p>
        </p:txBody>
      </p:sp>
    </p:spTree>
    <p:extLst>
      <p:ext uri="{BB962C8B-B14F-4D97-AF65-F5344CB8AC3E}">
        <p14:creationId xmlns:p14="http://schemas.microsoft.com/office/powerpoint/2010/main" val="18393544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 0"/>
          <p:cNvSpPr/>
          <p:nvPr/>
        </p:nvSpPr>
        <p:spPr>
          <a:xfrm>
            <a:off x="1477899" y="418157"/>
            <a:ext cx="7183578" cy="658368"/>
          </a:xfrm>
          <a:prstGeom prst="rect">
            <a:avLst/>
          </a:prstGeom>
          <a:noFill/>
          <a:ln/>
        </p:spPr>
        <p:txBody>
          <a:bodyPr wrap="square" rtlCol="0" anchor="ctr"/>
          <a:lstStyle/>
          <a:p>
            <a:pPr marL="0" indent="0">
              <a:buNone/>
            </a:pPr>
            <a:r>
              <a:rPr lang="en-US" sz="3300" b="1" kern="0" spc="30" dirty="0">
                <a:solidFill>
                  <a:srgbClr val="0B2C6E"/>
                </a:solidFill>
                <a:latin typeface="Arial" pitchFamily="34" charset="0"/>
                <a:ea typeface="Arial" pitchFamily="34" charset="-122"/>
                <a:cs typeface="Arial" pitchFamily="34" charset="-120"/>
              </a:rPr>
              <a:t>AUTO DESIGN LABEL</a:t>
            </a:r>
            <a:endParaRPr lang="en-US" sz="3300" dirty="0"/>
          </a:p>
        </p:txBody>
      </p:sp>
      <p:sp>
        <p:nvSpPr>
          <p:cNvPr id="70" name="Shape 6"/>
          <p:cNvSpPr/>
          <p:nvPr/>
        </p:nvSpPr>
        <p:spPr>
          <a:xfrm>
            <a:off x="457200" y="1234440"/>
            <a:ext cx="5509260" cy="2331720"/>
          </a:xfrm>
          <a:prstGeom prst="roundRect">
            <a:avLst>
              <a:gd name="adj" fmla="val 2745"/>
            </a:avLst>
          </a:prstGeom>
          <a:solidFill>
            <a:srgbClr val="FDEBEF"/>
          </a:solidFill>
          <a:ln w="12700">
            <a:solidFill>
              <a:srgbClr val="F6C9D2"/>
            </a:solidFill>
            <a:prstDash val="solid"/>
          </a:ln>
        </p:spPr>
      </p:sp>
      <p:pic>
        <p:nvPicPr>
          <p:cNvPr id="71" name="Image 1" descr="/home/claude/deck2/assets/ic-hardhat.png"/>
          <p:cNvPicPr>
            <a:picLocks noChangeAspect="1"/>
          </p:cNvPicPr>
          <p:nvPr/>
        </p:nvPicPr>
        <p:blipFill>
          <a:blip r:embed="rId3"/>
          <a:stretch>
            <a:fillRect/>
          </a:stretch>
        </p:blipFill>
        <p:spPr>
          <a:xfrm>
            <a:off x="5399532" y="1453896"/>
            <a:ext cx="365760" cy="365760"/>
          </a:xfrm>
          <a:prstGeom prst="rect">
            <a:avLst/>
          </a:prstGeom>
        </p:spPr>
      </p:pic>
      <p:sp>
        <p:nvSpPr>
          <p:cNvPr id="72" name="Text 7"/>
          <p:cNvSpPr/>
          <p:nvPr/>
        </p:nvSpPr>
        <p:spPr>
          <a:xfrm>
            <a:off x="731520" y="1435608"/>
            <a:ext cx="4594860" cy="384048"/>
          </a:xfrm>
          <a:prstGeom prst="rect">
            <a:avLst/>
          </a:prstGeom>
          <a:noFill/>
          <a:ln/>
        </p:spPr>
        <p:txBody>
          <a:bodyPr wrap="square" rtlCol="0" anchor="ctr"/>
          <a:lstStyle/>
          <a:p>
            <a:pPr marL="0" indent="0">
              <a:buNone/>
            </a:pPr>
            <a:r>
              <a:rPr lang="en-US" sz="1900" b="1" dirty="0">
                <a:solidFill>
                  <a:srgbClr val="D0043A"/>
                </a:solidFill>
                <a:latin typeface="Arial" pitchFamily="34" charset="0"/>
                <a:ea typeface="Arial" pitchFamily="34" charset="-122"/>
                <a:cs typeface="Arial" pitchFamily="34" charset="-120"/>
              </a:rPr>
              <a:t>BEFORE — People Do the Work</a:t>
            </a:r>
            <a:endParaRPr lang="en-US" sz="1900" dirty="0"/>
          </a:p>
        </p:txBody>
      </p:sp>
      <p:sp>
        <p:nvSpPr>
          <p:cNvPr id="73" name="Shape 8"/>
          <p:cNvSpPr/>
          <p:nvPr/>
        </p:nvSpPr>
        <p:spPr>
          <a:xfrm>
            <a:off x="731520" y="1984248"/>
            <a:ext cx="201168" cy="201168"/>
          </a:xfrm>
          <a:prstGeom prst="ellipse">
            <a:avLst/>
          </a:prstGeom>
          <a:solidFill>
            <a:srgbClr val="D0043A"/>
          </a:solidFill>
          <a:ln/>
        </p:spPr>
      </p:sp>
      <p:sp>
        <p:nvSpPr>
          <p:cNvPr id="74" name="Text 9"/>
          <p:cNvSpPr/>
          <p:nvPr/>
        </p:nvSpPr>
        <p:spPr>
          <a:xfrm>
            <a:off x="731520" y="1965960"/>
            <a:ext cx="201168" cy="201168"/>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75" name="Text 10"/>
          <p:cNvSpPr/>
          <p:nvPr/>
        </p:nvSpPr>
        <p:spPr>
          <a:xfrm>
            <a:off x="1042416" y="1947672"/>
            <a:ext cx="4640580" cy="333756"/>
          </a:xfrm>
          <a:prstGeom prst="rect">
            <a:avLst/>
          </a:prstGeom>
          <a:noFill/>
          <a:ln/>
        </p:spPr>
        <p:txBody>
          <a:bodyPr wrap="square" rtlCol="0" anchor="t"/>
          <a:lstStyle/>
          <a:p>
            <a:pPr marL="0" indent="0">
              <a:lnSpc>
                <a:spcPct val="112000"/>
              </a:lnSpc>
              <a:buNone/>
            </a:pPr>
            <a:r>
              <a:rPr lang="en-US" sz="1100" dirty="0">
                <a:solidFill>
                  <a:srgbClr val="16202B"/>
                </a:solidFill>
                <a:latin typeface="Calibri" pitchFamily="34" charset="0"/>
                <a:ea typeface="Calibri" pitchFamily="34" charset="-122"/>
                <a:cs typeface="Calibri" pitchFamily="34" charset="-120"/>
              </a:rPr>
              <a:t>Manually reading PMD documents — 30 minutes to 8 hours per model</a:t>
            </a:r>
            <a:endParaRPr lang="en-US" sz="1100" dirty="0"/>
          </a:p>
        </p:txBody>
      </p:sp>
      <p:sp>
        <p:nvSpPr>
          <p:cNvPr id="76" name="Shape 11"/>
          <p:cNvSpPr/>
          <p:nvPr/>
        </p:nvSpPr>
        <p:spPr>
          <a:xfrm>
            <a:off x="731520" y="2372868"/>
            <a:ext cx="201168" cy="201168"/>
          </a:xfrm>
          <a:prstGeom prst="ellipse">
            <a:avLst/>
          </a:prstGeom>
          <a:solidFill>
            <a:srgbClr val="D0043A"/>
          </a:solidFill>
          <a:ln/>
        </p:spPr>
      </p:sp>
      <p:sp>
        <p:nvSpPr>
          <p:cNvPr id="77" name="Text 12"/>
          <p:cNvSpPr/>
          <p:nvPr/>
        </p:nvSpPr>
        <p:spPr>
          <a:xfrm>
            <a:off x="731520" y="2354580"/>
            <a:ext cx="201168" cy="201168"/>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78" name="Text 13"/>
          <p:cNvSpPr/>
          <p:nvPr/>
        </p:nvSpPr>
        <p:spPr>
          <a:xfrm>
            <a:off x="1042416" y="2336292"/>
            <a:ext cx="4640580" cy="333756"/>
          </a:xfrm>
          <a:prstGeom prst="rect">
            <a:avLst/>
          </a:prstGeom>
          <a:noFill/>
          <a:ln/>
        </p:spPr>
        <p:txBody>
          <a:bodyPr wrap="square" rtlCol="0" anchor="t"/>
          <a:lstStyle/>
          <a:p>
            <a:pPr marL="0" indent="0">
              <a:lnSpc>
                <a:spcPct val="112000"/>
              </a:lnSpc>
              <a:buNone/>
            </a:pPr>
            <a:r>
              <a:rPr lang="en-US" sz="1100" dirty="0">
                <a:solidFill>
                  <a:srgbClr val="16202B"/>
                </a:solidFill>
                <a:latin typeface="Calibri" pitchFamily="34" charset="0"/>
                <a:ea typeface="Calibri" pitchFamily="34" charset="-122"/>
                <a:cs typeface="Calibri" pitchFamily="34" charset="-120"/>
              </a:rPr>
              <a:t>Redesigning in Codesoft 6 — requires separate license and training</a:t>
            </a:r>
            <a:endParaRPr lang="en-US" sz="1100" dirty="0"/>
          </a:p>
        </p:txBody>
      </p:sp>
      <p:sp>
        <p:nvSpPr>
          <p:cNvPr id="79" name="Shape 14"/>
          <p:cNvSpPr/>
          <p:nvPr/>
        </p:nvSpPr>
        <p:spPr>
          <a:xfrm>
            <a:off x="731520" y="2761488"/>
            <a:ext cx="201168" cy="201168"/>
          </a:xfrm>
          <a:prstGeom prst="ellipse">
            <a:avLst/>
          </a:prstGeom>
          <a:solidFill>
            <a:srgbClr val="D0043A"/>
          </a:solidFill>
          <a:ln/>
        </p:spPr>
      </p:sp>
      <p:sp>
        <p:nvSpPr>
          <p:cNvPr id="80" name="Text 15"/>
          <p:cNvSpPr/>
          <p:nvPr/>
        </p:nvSpPr>
        <p:spPr>
          <a:xfrm>
            <a:off x="731520" y="2743200"/>
            <a:ext cx="201168" cy="201168"/>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81" name="Text 16"/>
          <p:cNvSpPr/>
          <p:nvPr/>
        </p:nvSpPr>
        <p:spPr>
          <a:xfrm>
            <a:off x="1042416" y="2724912"/>
            <a:ext cx="4640580" cy="333756"/>
          </a:xfrm>
          <a:prstGeom prst="rect">
            <a:avLst/>
          </a:prstGeom>
          <a:noFill/>
          <a:ln/>
        </p:spPr>
        <p:txBody>
          <a:bodyPr wrap="square" rtlCol="0" anchor="t"/>
          <a:lstStyle/>
          <a:p>
            <a:pPr marL="0" indent="0">
              <a:lnSpc>
                <a:spcPct val="112000"/>
              </a:lnSpc>
              <a:buNone/>
            </a:pPr>
            <a:r>
              <a:rPr lang="en-US" sz="1100" dirty="0">
                <a:solidFill>
                  <a:srgbClr val="16202B"/>
                </a:solidFill>
                <a:latin typeface="Calibri" pitchFamily="34" charset="0"/>
                <a:ea typeface="Calibri" pitchFamily="34" charset="-122"/>
                <a:cs typeface="Calibri" pitchFamily="34" charset="-120"/>
              </a:rPr>
              <a:t>MAC/RSN/coordinate entry errors — high defect rate in mass printing</a:t>
            </a:r>
            <a:endParaRPr lang="en-US" sz="1100" dirty="0"/>
          </a:p>
        </p:txBody>
      </p:sp>
      <p:sp>
        <p:nvSpPr>
          <p:cNvPr id="82" name="Shape 17"/>
          <p:cNvSpPr/>
          <p:nvPr/>
        </p:nvSpPr>
        <p:spPr>
          <a:xfrm>
            <a:off x="731520" y="3150108"/>
            <a:ext cx="201168" cy="201168"/>
          </a:xfrm>
          <a:prstGeom prst="ellipse">
            <a:avLst/>
          </a:prstGeom>
          <a:solidFill>
            <a:srgbClr val="D0043A"/>
          </a:solidFill>
          <a:ln/>
        </p:spPr>
      </p:sp>
      <p:sp>
        <p:nvSpPr>
          <p:cNvPr id="83" name="Text 18"/>
          <p:cNvSpPr/>
          <p:nvPr/>
        </p:nvSpPr>
        <p:spPr>
          <a:xfrm>
            <a:off x="731520" y="3131820"/>
            <a:ext cx="201168" cy="201168"/>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84" name="Text 19"/>
          <p:cNvSpPr/>
          <p:nvPr/>
        </p:nvSpPr>
        <p:spPr>
          <a:xfrm>
            <a:off x="1042416" y="3113532"/>
            <a:ext cx="4640580" cy="333756"/>
          </a:xfrm>
          <a:prstGeom prst="rect">
            <a:avLst/>
          </a:prstGeom>
          <a:noFill/>
          <a:ln/>
        </p:spPr>
        <p:txBody>
          <a:bodyPr wrap="square" rtlCol="0" anchor="t"/>
          <a:lstStyle/>
          <a:p>
            <a:pPr marL="0" indent="0">
              <a:lnSpc>
                <a:spcPct val="112000"/>
              </a:lnSpc>
              <a:buNone/>
            </a:pPr>
            <a:r>
              <a:rPr lang="en-US" sz="1100" dirty="0">
                <a:solidFill>
                  <a:srgbClr val="16202B"/>
                </a:solidFill>
                <a:latin typeface="Calibri" pitchFamily="34" charset="0"/>
                <a:ea typeface="Calibri" pitchFamily="34" charset="-122"/>
                <a:cs typeface="Calibri" pitchFamily="34" charset="-120"/>
              </a:rPr>
              <a:t>Binary .lab files — no version control, no traceability</a:t>
            </a:r>
            <a:endParaRPr lang="en-US" sz="1100" dirty="0"/>
          </a:p>
        </p:txBody>
      </p:sp>
      <p:sp>
        <p:nvSpPr>
          <p:cNvPr id="85" name="Shape 20"/>
          <p:cNvSpPr/>
          <p:nvPr/>
        </p:nvSpPr>
        <p:spPr>
          <a:xfrm>
            <a:off x="6240780" y="1234440"/>
            <a:ext cx="5509260" cy="2331720"/>
          </a:xfrm>
          <a:prstGeom prst="roundRect">
            <a:avLst>
              <a:gd name="adj" fmla="val 2745"/>
            </a:avLst>
          </a:prstGeom>
          <a:solidFill>
            <a:srgbClr val="E9EFFB"/>
          </a:solidFill>
          <a:ln w="12700">
            <a:solidFill>
              <a:srgbClr val="C7D6F2"/>
            </a:solidFill>
            <a:prstDash val="solid"/>
          </a:ln>
        </p:spPr>
      </p:sp>
      <p:pic>
        <p:nvPicPr>
          <p:cNvPr id="86" name="Image 2" descr="/home/claude/deck2/assets/ic-refresh.png"/>
          <p:cNvPicPr>
            <a:picLocks noChangeAspect="1"/>
          </p:cNvPicPr>
          <p:nvPr/>
        </p:nvPicPr>
        <p:blipFill>
          <a:blip r:embed="rId4"/>
          <a:stretch>
            <a:fillRect/>
          </a:stretch>
        </p:blipFill>
        <p:spPr>
          <a:xfrm>
            <a:off x="11183112" y="1453896"/>
            <a:ext cx="365760" cy="365760"/>
          </a:xfrm>
          <a:prstGeom prst="rect">
            <a:avLst/>
          </a:prstGeom>
        </p:spPr>
      </p:pic>
      <p:sp>
        <p:nvSpPr>
          <p:cNvPr id="87" name="Text 21"/>
          <p:cNvSpPr/>
          <p:nvPr/>
        </p:nvSpPr>
        <p:spPr>
          <a:xfrm>
            <a:off x="6515100" y="1435608"/>
            <a:ext cx="4594860" cy="384048"/>
          </a:xfrm>
          <a:prstGeom prst="rect">
            <a:avLst/>
          </a:prstGeom>
          <a:noFill/>
          <a:ln/>
        </p:spPr>
        <p:txBody>
          <a:bodyPr wrap="square" rtlCol="0" anchor="ctr"/>
          <a:lstStyle/>
          <a:p>
            <a:pPr marL="0" indent="0">
              <a:buNone/>
            </a:pPr>
            <a:r>
              <a:rPr lang="en-US" sz="1900" b="1" dirty="0">
                <a:solidFill>
                  <a:srgbClr val="0B2C6E"/>
                </a:solidFill>
                <a:latin typeface="Arial" pitchFamily="34" charset="0"/>
                <a:ea typeface="Arial" pitchFamily="34" charset="-122"/>
                <a:cs typeface="Arial" pitchFamily="34" charset="-120"/>
              </a:rPr>
              <a:t>AFTER </a:t>
            </a:r>
            <a:r>
              <a:rPr lang="en-US" sz="1900" b="1">
                <a:solidFill>
                  <a:srgbClr val="0B2C6E"/>
                </a:solidFill>
                <a:latin typeface="Arial" pitchFamily="34" charset="0"/>
                <a:ea typeface="Arial" pitchFamily="34" charset="-122"/>
                <a:cs typeface="Arial" pitchFamily="34" charset="-120"/>
              </a:rPr>
              <a:t>— </a:t>
            </a:r>
            <a:r>
              <a:rPr lang="en-US" sz="1900" b="1" smtClean="0">
                <a:solidFill>
                  <a:srgbClr val="0B2C6E"/>
                </a:solidFill>
                <a:latin typeface="Arial" pitchFamily="34" charset="0"/>
                <a:ea typeface="Arial" pitchFamily="34" charset="-122"/>
                <a:cs typeface="Arial" pitchFamily="34" charset="-120"/>
              </a:rPr>
              <a:t>AI Works, People Approve</a:t>
            </a:r>
            <a:endParaRPr lang="en-US" sz="1900" dirty="0"/>
          </a:p>
        </p:txBody>
      </p:sp>
      <p:sp>
        <p:nvSpPr>
          <p:cNvPr id="88" name="Shape 22"/>
          <p:cNvSpPr/>
          <p:nvPr/>
        </p:nvSpPr>
        <p:spPr>
          <a:xfrm>
            <a:off x="6515100" y="1984248"/>
            <a:ext cx="201168" cy="201168"/>
          </a:xfrm>
          <a:prstGeom prst="ellipse">
            <a:avLst/>
          </a:prstGeom>
          <a:solidFill>
            <a:srgbClr val="0B2C6E"/>
          </a:solidFill>
          <a:ln/>
        </p:spPr>
      </p:sp>
      <p:sp>
        <p:nvSpPr>
          <p:cNvPr id="89" name="Text 23"/>
          <p:cNvSpPr/>
          <p:nvPr/>
        </p:nvSpPr>
        <p:spPr>
          <a:xfrm>
            <a:off x="6515100" y="1965960"/>
            <a:ext cx="201168" cy="201168"/>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a:t>
            </a:r>
            <a:endParaRPr lang="en-US" sz="950" dirty="0"/>
          </a:p>
        </p:txBody>
      </p:sp>
      <p:sp>
        <p:nvSpPr>
          <p:cNvPr id="90" name="Text 24"/>
          <p:cNvSpPr/>
          <p:nvPr/>
        </p:nvSpPr>
        <p:spPr>
          <a:xfrm>
            <a:off x="6825996" y="1947672"/>
            <a:ext cx="4640580" cy="333756"/>
          </a:xfrm>
          <a:prstGeom prst="rect">
            <a:avLst/>
          </a:prstGeom>
          <a:noFill/>
          <a:ln/>
        </p:spPr>
        <p:txBody>
          <a:bodyPr wrap="square" rtlCol="0" anchor="t"/>
          <a:lstStyle/>
          <a:p>
            <a:pPr marL="0" indent="0">
              <a:lnSpc>
                <a:spcPct val="112000"/>
              </a:lnSpc>
              <a:buNone/>
            </a:pPr>
            <a:r>
              <a:rPr lang="en-US" sz="1100" dirty="0">
                <a:solidFill>
                  <a:srgbClr val="16202B"/>
                </a:solidFill>
                <a:latin typeface="Calibri" pitchFamily="34" charset="0"/>
                <a:ea typeface="Calibri" pitchFamily="34" charset="-122"/>
                <a:cs typeface="Calibri" pitchFamily="34" charset="-120"/>
              </a:rPr>
              <a:t>Document </a:t>
            </a:r>
            <a:r>
              <a:rPr lang="en-US" sz="1100">
                <a:solidFill>
                  <a:srgbClr val="16202B"/>
                </a:solidFill>
                <a:latin typeface="Calibri" pitchFamily="34" charset="0"/>
                <a:ea typeface="Calibri" pitchFamily="34" charset="-122"/>
                <a:cs typeface="Calibri" pitchFamily="34" charset="-120"/>
              </a:rPr>
              <a:t>read </a:t>
            </a:r>
            <a:r>
              <a:rPr lang="en-US" sz="1100" smtClean="0">
                <a:solidFill>
                  <a:srgbClr val="16202B"/>
                </a:solidFill>
                <a:latin typeface="Calibri" pitchFamily="34" charset="0"/>
                <a:ea typeface="Calibri" pitchFamily="34" charset="-122"/>
                <a:cs typeface="Calibri" pitchFamily="34" charset="-120"/>
              </a:rPr>
              <a:t>in 1-5 </a:t>
            </a:r>
            <a:r>
              <a:rPr lang="en-US" sz="1100" dirty="0">
                <a:solidFill>
                  <a:srgbClr val="16202B"/>
                </a:solidFill>
                <a:latin typeface="Calibri" pitchFamily="34" charset="0"/>
                <a:ea typeface="Calibri" pitchFamily="34" charset="-122"/>
                <a:cs typeface="Calibri" pitchFamily="34" charset="-120"/>
              </a:rPr>
              <a:t>minutes, not hours — no manual reading</a:t>
            </a:r>
            <a:endParaRPr lang="en-US" sz="1100" dirty="0"/>
          </a:p>
        </p:txBody>
      </p:sp>
      <p:sp>
        <p:nvSpPr>
          <p:cNvPr id="91" name="Shape 25"/>
          <p:cNvSpPr/>
          <p:nvPr/>
        </p:nvSpPr>
        <p:spPr>
          <a:xfrm>
            <a:off x="6515100" y="2372868"/>
            <a:ext cx="201168" cy="201168"/>
          </a:xfrm>
          <a:prstGeom prst="ellipse">
            <a:avLst/>
          </a:prstGeom>
          <a:solidFill>
            <a:srgbClr val="0B2C6E"/>
          </a:solidFill>
          <a:ln/>
        </p:spPr>
      </p:sp>
      <p:sp>
        <p:nvSpPr>
          <p:cNvPr id="92" name="Text 26"/>
          <p:cNvSpPr/>
          <p:nvPr/>
        </p:nvSpPr>
        <p:spPr>
          <a:xfrm>
            <a:off x="6515100" y="2354580"/>
            <a:ext cx="201168" cy="201168"/>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a:t>
            </a:r>
            <a:endParaRPr lang="en-US" sz="950" dirty="0"/>
          </a:p>
        </p:txBody>
      </p:sp>
      <p:sp>
        <p:nvSpPr>
          <p:cNvPr id="93" name="Text 27"/>
          <p:cNvSpPr/>
          <p:nvPr/>
        </p:nvSpPr>
        <p:spPr>
          <a:xfrm>
            <a:off x="6825996" y="2336292"/>
            <a:ext cx="4640580" cy="333756"/>
          </a:xfrm>
          <a:prstGeom prst="rect">
            <a:avLst/>
          </a:prstGeom>
          <a:noFill/>
          <a:ln/>
        </p:spPr>
        <p:txBody>
          <a:bodyPr wrap="square" rtlCol="0" anchor="t"/>
          <a:lstStyle/>
          <a:p>
            <a:pPr marL="0" indent="0">
              <a:lnSpc>
                <a:spcPct val="112000"/>
              </a:lnSpc>
              <a:buNone/>
            </a:pPr>
            <a:r>
              <a:rPr lang="en-US" sz="1100" dirty="0">
                <a:solidFill>
                  <a:srgbClr val="16202B"/>
                </a:solidFill>
                <a:latin typeface="Calibri" pitchFamily="34" charset="0"/>
                <a:ea typeface="Calibri" pitchFamily="34" charset="-122"/>
                <a:cs typeface="Calibri" pitchFamily="34" charset="-120"/>
              </a:rPr>
              <a:t>ZPL generated directly — removes the Codesoft 6 license (Phase 2)</a:t>
            </a:r>
            <a:endParaRPr lang="en-US" sz="1100" dirty="0"/>
          </a:p>
        </p:txBody>
      </p:sp>
      <p:sp>
        <p:nvSpPr>
          <p:cNvPr id="94" name="Shape 28"/>
          <p:cNvSpPr/>
          <p:nvPr/>
        </p:nvSpPr>
        <p:spPr>
          <a:xfrm>
            <a:off x="6515100" y="2761488"/>
            <a:ext cx="201168" cy="201168"/>
          </a:xfrm>
          <a:prstGeom prst="ellipse">
            <a:avLst/>
          </a:prstGeom>
          <a:solidFill>
            <a:srgbClr val="0B2C6E"/>
          </a:solidFill>
          <a:ln/>
        </p:spPr>
      </p:sp>
      <p:sp>
        <p:nvSpPr>
          <p:cNvPr id="95" name="Text 29"/>
          <p:cNvSpPr/>
          <p:nvPr/>
        </p:nvSpPr>
        <p:spPr>
          <a:xfrm>
            <a:off x="6515100" y="2743200"/>
            <a:ext cx="201168" cy="201168"/>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a:t>
            </a:r>
            <a:endParaRPr lang="en-US" sz="950" dirty="0"/>
          </a:p>
        </p:txBody>
      </p:sp>
      <p:sp>
        <p:nvSpPr>
          <p:cNvPr id="96" name="Text 30"/>
          <p:cNvSpPr/>
          <p:nvPr/>
        </p:nvSpPr>
        <p:spPr>
          <a:xfrm>
            <a:off x="6825996" y="2724912"/>
            <a:ext cx="4640580" cy="333756"/>
          </a:xfrm>
          <a:prstGeom prst="rect">
            <a:avLst/>
          </a:prstGeom>
          <a:noFill/>
          <a:ln/>
        </p:spPr>
        <p:txBody>
          <a:bodyPr wrap="square" rtlCol="0" anchor="t"/>
          <a:lstStyle/>
          <a:p>
            <a:pPr marL="0" indent="0">
              <a:lnSpc>
                <a:spcPct val="112000"/>
              </a:lnSpc>
              <a:buNone/>
            </a:pPr>
            <a:r>
              <a:rPr lang="en-US" sz="1100" dirty="0">
                <a:solidFill>
                  <a:srgbClr val="16202B"/>
                </a:solidFill>
                <a:latin typeface="Calibri" pitchFamily="34" charset="0"/>
                <a:ea typeface="Calibri" pitchFamily="34" charset="-122"/>
                <a:cs typeface="Calibri" pitchFamily="34" charset="-120"/>
              </a:rPr>
              <a:t>Values taken from the document, never typed — entry errors gone</a:t>
            </a:r>
            <a:endParaRPr lang="en-US" sz="1100" dirty="0"/>
          </a:p>
        </p:txBody>
      </p:sp>
      <p:sp>
        <p:nvSpPr>
          <p:cNvPr id="97" name="Shape 31"/>
          <p:cNvSpPr/>
          <p:nvPr/>
        </p:nvSpPr>
        <p:spPr>
          <a:xfrm>
            <a:off x="6515100" y="3150108"/>
            <a:ext cx="201168" cy="201168"/>
          </a:xfrm>
          <a:prstGeom prst="ellipse">
            <a:avLst/>
          </a:prstGeom>
          <a:solidFill>
            <a:srgbClr val="0B2C6E"/>
          </a:solidFill>
          <a:ln/>
        </p:spPr>
      </p:sp>
      <p:sp>
        <p:nvSpPr>
          <p:cNvPr id="98" name="Text 32"/>
          <p:cNvSpPr/>
          <p:nvPr/>
        </p:nvSpPr>
        <p:spPr>
          <a:xfrm>
            <a:off x="6515100" y="3131820"/>
            <a:ext cx="201168" cy="201168"/>
          </a:xfrm>
          <a:prstGeom prst="rect">
            <a:avLst/>
          </a:prstGeom>
          <a:noFill/>
          <a:ln/>
        </p:spPr>
        <p:txBody>
          <a:bodyPr wrap="square" rtlCol="0" anchor="ctr"/>
          <a:lstStyle/>
          <a:p>
            <a:pPr marL="0" indent="0" algn="ctr">
              <a:buNone/>
            </a:pPr>
            <a:r>
              <a:rPr lang="en-US" sz="950" b="1" dirty="0">
                <a:solidFill>
                  <a:srgbClr val="FFFFFF"/>
                </a:solidFill>
                <a:latin typeface="Arial" pitchFamily="34" charset="0"/>
                <a:ea typeface="Arial" pitchFamily="34" charset="-122"/>
                <a:cs typeface="Arial" pitchFamily="34" charset="-120"/>
              </a:rPr>
              <a:t>✓</a:t>
            </a:r>
            <a:endParaRPr lang="en-US" sz="950" dirty="0"/>
          </a:p>
        </p:txBody>
      </p:sp>
      <p:sp>
        <p:nvSpPr>
          <p:cNvPr id="99" name="Text 33"/>
          <p:cNvSpPr/>
          <p:nvPr/>
        </p:nvSpPr>
        <p:spPr>
          <a:xfrm>
            <a:off x="6825996" y="3113532"/>
            <a:ext cx="4640580" cy="333756"/>
          </a:xfrm>
          <a:prstGeom prst="rect">
            <a:avLst/>
          </a:prstGeom>
          <a:noFill/>
          <a:ln/>
        </p:spPr>
        <p:txBody>
          <a:bodyPr wrap="square" rtlCol="0" anchor="t"/>
          <a:lstStyle/>
          <a:p>
            <a:pPr marL="0" indent="0">
              <a:lnSpc>
                <a:spcPct val="112000"/>
              </a:lnSpc>
              <a:buNone/>
            </a:pPr>
            <a:r>
              <a:rPr lang="en-US" sz="1100" dirty="0">
                <a:solidFill>
                  <a:srgbClr val="16202B"/>
                </a:solidFill>
                <a:latin typeface="Calibri" pitchFamily="34" charset="0"/>
                <a:ea typeface="Calibri" pitchFamily="34" charset="-122"/>
                <a:cs typeface="Calibri" pitchFamily="34" charset="-120"/>
              </a:rPr>
              <a:t>Versioned JSON instead of binary — every change is traceable</a:t>
            </a:r>
            <a:endParaRPr lang="en-US" sz="1100" dirty="0"/>
          </a:p>
        </p:txBody>
      </p:sp>
      <p:sp>
        <p:nvSpPr>
          <p:cNvPr id="100" name="Text 34"/>
          <p:cNvSpPr/>
          <p:nvPr/>
        </p:nvSpPr>
        <p:spPr>
          <a:xfrm>
            <a:off x="457200" y="3794760"/>
            <a:ext cx="7315200" cy="274320"/>
          </a:xfrm>
          <a:prstGeom prst="rect">
            <a:avLst/>
          </a:prstGeom>
          <a:noFill/>
          <a:ln/>
        </p:spPr>
        <p:txBody>
          <a:bodyPr wrap="square" rtlCol="0" anchor="ctr"/>
          <a:lstStyle/>
          <a:p>
            <a:pPr marL="0" indent="0">
              <a:buNone/>
            </a:pPr>
            <a:r>
              <a:rPr lang="en-US" sz="1300" b="1" kern="0" spc="50" dirty="0">
                <a:solidFill>
                  <a:srgbClr val="0B2C6E"/>
                </a:solidFill>
                <a:latin typeface="Arial" pitchFamily="34" charset="0"/>
                <a:ea typeface="Arial" pitchFamily="34" charset="-122"/>
                <a:cs typeface="Arial" pitchFamily="34" charset="-120"/>
              </a:rPr>
              <a:t>OPERATING </a:t>
            </a:r>
            <a:r>
              <a:rPr lang="en-US" sz="1300" b="1" kern="0" spc="50">
                <a:solidFill>
                  <a:srgbClr val="0B2C6E"/>
                </a:solidFill>
                <a:latin typeface="Arial" pitchFamily="34" charset="0"/>
                <a:ea typeface="Arial" pitchFamily="34" charset="-122"/>
                <a:cs typeface="Arial" pitchFamily="34" charset="-120"/>
              </a:rPr>
              <a:t>WORK</a:t>
            </a:r>
            <a:r>
              <a:rPr lang="en-US" sz="1300" b="1" kern="0" spc="50" smtClean="0">
                <a:solidFill>
                  <a:srgbClr val="0B2C6E"/>
                </a:solidFill>
                <a:latin typeface="Arial" pitchFamily="34" charset="0"/>
                <a:ea typeface="Arial" pitchFamily="34" charset="-122"/>
                <a:cs typeface="Arial" pitchFamily="34" charset="-120"/>
              </a:rPr>
              <a:t>FLOW</a:t>
            </a:r>
            <a:endParaRPr lang="en-US" sz="1300" dirty="0"/>
          </a:p>
        </p:txBody>
      </p:sp>
      <p:sp>
        <p:nvSpPr>
          <p:cNvPr id="101" name="Shape 35"/>
          <p:cNvSpPr/>
          <p:nvPr/>
        </p:nvSpPr>
        <p:spPr>
          <a:xfrm>
            <a:off x="1477899" y="4160520"/>
            <a:ext cx="438912" cy="438912"/>
          </a:xfrm>
          <a:prstGeom prst="ellipse">
            <a:avLst/>
          </a:prstGeom>
          <a:solidFill>
            <a:srgbClr val="0B2C6E"/>
          </a:solidFill>
          <a:ln/>
        </p:spPr>
      </p:sp>
      <p:sp>
        <p:nvSpPr>
          <p:cNvPr id="102" name="Text 36"/>
          <p:cNvSpPr/>
          <p:nvPr/>
        </p:nvSpPr>
        <p:spPr>
          <a:xfrm>
            <a:off x="1477899" y="4160520"/>
            <a:ext cx="438912" cy="438912"/>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3" name="Text 37"/>
          <p:cNvSpPr/>
          <p:nvPr/>
        </p:nvSpPr>
        <p:spPr>
          <a:xfrm>
            <a:off x="2955798" y="4105656"/>
            <a:ext cx="420624" cy="548640"/>
          </a:xfrm>
          <a:prstGeom prst="rect">
            <a:avLst/>
          </a:prstGeom>
          <a:noFill/>
          <a:ln/>
        </p:spPr>
        <p:txBody>
          <a:bodyPr wrap="square" rtlCol="0" anchor="ctr"/>
          <a:lstStyle/>
          <a:p>
            <a:pPr marL="0" indent="0" algn="ctr">
              <a:buNone/>
            </a:pPr>
            <a:r>
              <a:rPr lang="en-US" sz="2200" b="1" dirty="0">
                <a:solidFill>
                  <a:srgbClr val="0B2C6E"/>
                </a:solidFill>
                <a:latin typeface="Arial" pitchFamily="34" charset="0"/>
                <a:ea typeface="Arial" pitchFamily="34" charset="-122"/>
                <a:cs typeface="Arial" pitchFamily="34" charset="-120"/>
              </a:rPr>
              <a:t>→</a:t>
            </a:r>
            <a:endParaRPr lang="en-US" sz="2200" dirty="0"/>
          </a:p>
        </p:txBody>
      </p:sp>
      <p:sp>
        <p:nvSpPr>
          <p:cNvPr id="104" name="Shape 38"/>
          <p:cNvSpPr/>
          <p:nvPr/>
        </p:nvSpPr>
        <p:spPr>
          <a:xfrm>
            <a:off x="457200" y="4782312"/>
            <a:ext cx="2480310" cy="658368"/>
          </a:xfrm>
          <a:prstGeom prst="roundRect">
            <a:avLst>
              <a:gd name="adj" fmla="val 9722"/>
            </a:avLst>
          </a:prstGeom>
          <a:solidFill>
            <a:srgbClr val="FFFFFF"/>
          </a:solidFill>
          <a:ln w="12700">
            <a:solidFill>
              <a:srgbClr val="DDE3EA"/>
            </a:solidFill>
            <a:prstDash val="solid"/>
          </a:ln>
        </p:spPr>
      </p:sp>
      <p:sp>
        <p:nvSpPr>
          <p:cNvPr id="105" name="Text 39"/>
          <p:cNvSpPr/>
          <p:nvPr/>
        </p:nvSpPr>
        <p:spPr>
          <a:xfrm>
            <a:off x="548640" y="4782312"/>
            <a:ext cx="2297430" cy="658368"/>
          </a:xfrm>
          <a:prstGeom prst="rect">
            <a:avLst/>
          </a:prstGeom>
          <a:noFill/>
          <a:ln/>
        </p:spPr>
        <p:txBody>
          <a:bodyPr wrap="square" rtlCol="0" anchor="ctr"/>
          <a:lstStyle/>
          <a:p>
            <a:pPr marL="0" indent="0" algn="ctr">
              <a:lnSpc>
                <a:spcPct val="110000"/>
              </a:lnSpc>
              <a:buNone/>
            </a:pPr>
            <a:r>
              <a:rPr lang="en-US" sz="1150" b="1" smtClean="0">
                <a:solidFill>
                  <a:srgbClr val="0B2C6E"/>
                </a:solidFill>
                <a:latin typeface="Calibri" pitchFamily="34" charset="0"/>
                <a:cs typeface="Calibri" pitchFamily="34" charset="-120"/>
              </a:rPr>
              <a:t>Read &amp; Interpret Label Document</a:t>
            </a:r>
            <a:endParaRPr lang="en-US" sz="1150" dirty="0"/>
          </a:p>
          <a:p>
            <a:pPr marL="0" indent="0" algn="ctr">
              <a:lnSpc>
                <a:spcPct val="110000"/>
              </a:lnSpc>
              <a:buNone/>
            </a:pPr>
            <a:r>
              <a:rPr lang="en-US" sz="1150" b="1" dirty="0">
                <a:solidFill>
                  <a:srgbClr val="0B2C6E"/>
                </a:solidFill>
                <a:latin typeface="Calibri" pitchFamily="34" charset="0"/>
                <a:ea typeface="Calibri" pitchFamily="34" charset="-122"/>
                <a:cs typeface="Calibri" pitchFamily="34" charset="-120"/>
              </a:rPr>
              <a:t>(AI)</a:t>
            </a:r>
            <a:endParaRPr lang="en-US" sz="1150" dirty="0"/>
          </a:p>
        </p:txBody>
      </p:sp>
      <p:sp>
        <p:nvSpPr>
          <p:cNvPr id="106" name="Shape 40"/>
          <p:cNvSpPr/>
          <p:nvPr/>
        </p:nvSpPr>
        <p:spPr>
          <a:xfrm>
            <a:off x="4415409" y="4160520"/>
            <a:ext cx="438912" cy="438912"/>
          </a:xfrm>
          <a:prstGeom prst="ellipse">
            <a:avLst/>
          </a:prstGeom>
          <a:solidFill>
            <a:srgbClr val="0B2C6E"/>
          </a:solidFill>
          <a:ln/>
        </p:spPr>
      </p:sp>
      <p:sp>
        <p:nvSpPr>
          <p:cNvPr id="107" name="Text 41"/>
          <p:cNvSpPr/>
          <p:nvPr/>
        </p:nvSpPr>
        <p:spPr>
          <a:xfrm>
            <a:off x="4415409" y="4160520"/>
            <a:ext cx="438912" cy="438912"/>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8" name="Text 42"/>
          <p:cNvSpPr/>
          <p:nvPr/>
        </p:nvSpPr>
        <p:spPr>
          <a:xfrm>
            <a:off x="5893308" y="4105656"/>
            <a:ext cx="420624" cy="548640"/>
          </a:xfrm>
          <a:prstGeom prst="rect">
            <a:avLst/>
          </a:prstGeom>
          <a:noFill/>
          <a:ln/>
        </p:spPr>
        <p:txBody>
          <a:bodyPr wrap="square" rtlCol="0" anchor="ctr"/>
          <a:lstStyle/>
          <a:p>
            <a:pPr marL="0" indent="0" algn="ctr">
              <a:buNone/>
            </a:pPr>
            <a:r>
              <a:rPr lang="en-US" sz="2200" b="1" dirty="0">
                <a:solidFill>
                  <a:srgbClr val="0B2C6E"/>
                </a:solidFill>
                <a:latin typeface="Arial" pitchFamily="34" charset="0"/>
                <a:ea typeface="Arial" pitchFamily="34" charset="-122"/>
                <a:cs typeface="Arial" pitchFamily="34" charset="-120"/>
              </a:rPr>
              <a:t>→</a:t>
            </a:r>
            <a:endParaRPr lang="en-US" sz="2200" dirty="0"/>
          </a:p>
        </p:txBody>
      </p:sp>
      <p:sp>
        <p:nvSpPr>
          <p:cNvPr id="109" name="Shape 43"/>
          <p:cNvSpPr/>
          <p:nvPr/>
        </p:nvSpPr>
        <p:spPr>
          <a:xfrm>
            <a:off x="3394710" y="4782312"/>
            <a:ext cx="2480310" cy="658368"/>
          </a:xfrm>
          <a:prstGeom prst="roundRect">
            <a:avLst>
              <a:gd name="adj" fmla="val 9722"/>
            </a:avLst>
          </a:prstGeom>
          <a:solidFill>
            <a:srgbClr val="FFFFFF"/>
          </a:solidFill>
          <a:ln w="12700">
            <a:solidFill>
              <a:srgbClr val="DDE3EA"/>
            </a:solidFill>
            <a:prstDash val="solid"/>
          </a:ln>
        </p:spPr>
      </p:sp>
      <p:sp>
        <p:nvSpPr>
          <p:cNvPr id="110" name="Text 44"/>
          <p:cNvSpPr/>
          <p:nvPr/>
        </p:nvSpPr>
        <p:spPr>
          <a:xfrm>
            <a:off x="3486150" y="4782312"/>
            <a:ext cx="2297430" cy="658368"/>
          </a:xfrm>
          <a:prstGeom prst="rect">
            <a:avLst/>
          </a:prstGeom>
          <a:noFill/>
          <a:ln/>
        </p:spPr>
        <p:txBody>
          <a:bodyPr wrap="square" rtlCol="0" anchor="ctr"/>
          <a:lstStyle/>
          <a:p>
            <a:pPr marL="0" indent="0" algn="ctr">
              <a:lnSpc>
                <a:spcPct val="110000"/>
              </a:lnSpc>
              <a:buNone/>
            </a:pPr>
            <a:r>
              <a:rPr lang="en-US" sz="1150" b="1" dirty="0">
                <a:solidFill>
                  <a:srgbClr val="0B2C6E"/>
                </a:solidFill>
                <a:latin typeface="Calibri" pitchFamily="34" charset="0"/>
                <a:ea typeface="Calibri" pitchFamily="34" charset="-122"/>
                <a:cs typeface="Calibri" pitchFamily="34" charset="-120"/>
              </a:rPr>
              <a:t>Auto Design</a:t>
            </a:r>
            <a:endParaRPr lang="en-US" sz="1150" dirty="0"/>
          </a:p>
          <a:p>
            <a:pPr marL="0" indent="0" algn="ctr">
              <a:lnSpc>
                <a:spcPct val="110000"/>
              </a:lnSpc>
              <a:buNone/>
            </a:pPr>
            <a:r>
              <a:rPr lang="en-US" sz="1150" b="1" dirty="0">
                <a:solidFill>
                  <a:srgbClr val="0B2C6E"/>
                </a:solidFill>
                <a:latin typeface="Calibri" pitchFamily="34" charset="0"/>
                <a:ea typeface="Calibri" pitchFamily="34" charset="-122"/>
                <a:cs typeface="Calibri" pitchFamily="34" charset="-120"/>
              </a:rPr>
              <a:t>(AI)</a:t>
            </a:r>
            <a:endParaRPr lang="en-US" sz="1150" dirty="0"/>
          </a:p>
        </p:txBody>
      </p:sp>
      <p:sp>
        <p:nvSpPr>
          <p:cNvPr id="111" name="Shape 45"/>
          <p:cNvSpPr/>
          <p:nvPr/>
        </p:nvSpPr>
        <p:spPr>
          <a:xfrm>
            <a:off x="7352919" y="4160520"/>
            <a:ext cx="438912" cy="438912"/>
          </a:xfrm>
          <a:prstGeom prst="ellipse">
            <a:avLst/>
          </a:prstGeom>
          <a:solidFill>
            <a:srgbClr val="0B2C6E"/>
          </a:solidFill>
          <a:ln/>
        </p:spPr>
      </p:sp>
      <p:sp>
        <p:nvSpPr>
          <p:cNvPr id="112" name="Text 46"/>
          <p:cNvSpPr/>
          <p:nvPr/>
        </p:nvSpPr>
        <p:spPr>
          <a:xfrm>
            <a:off x="7352919" y="4160520"/>
            <a:ext cx="438912" cy="438912"/>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13" name="Text 47"/>
          <p:cNvSpPr/>
          <p:nvPr/>
        </p:nvSpPr>
        <p:spPr>
          <a:xfrm>
            <a:off x="8830818" y="4105656"/>
            <a:ext cx="420624" cy="548640"/>
          </a:xfrm>
          <a:prstGeom prst="rect">
            <a:avLst/>
          </a:prstGeom>
          <a:noFill/>
          <a:ln/>
        </p:spPr>
        <p:txBody>
          <a:bodyPr wrap="square" rtlCol="0" anchor="ctr"/>
          <a:lstStyle/>
          <a:p>
            <a:pPr marL="0" indent="0" algn="ctr">
              <a:buNone/>
            </a:pPr>
            <a:r>
              <a:rPr lang="en-US" sz="2200" b="1" dirty="0">
                <a:solidFill>
                  <a:srgbClr val="0B2C6E"/>
                </a:solidFill>
                <a:latin typeface="Arial" pitchFamily="34" charset="0"/>
                <a:ea typeface="Arial" pitchFamily="34" charset="-122"/>
                <a:cs typeface="Arial" pitchFamily="34" charset="-120"/>
              </a:rPr>
              <a:t>→</a:t>
            </a:r>
            <a:endParaRPr lang="en-US" sz="2200" dirty="0"/>
          </a:p>
        </p:txBody>
      </p:sp>
      <p:sp>
        <p:nvSpPr>
          <p:cNvPr id="114" name="Shape 48"/>
          <p:cNvSpPr/>
          <p:nvPr/>
        </p:nvSpPr>
        <p:spPr>
          <a:xfrm>
            <a:off x="6332220" y="4782312"/>
            <a:ext cx="2480310" cy="658368"/>
          </a:xfrm>
          <a:prstGeom prst="roundRect">
            <a:avLst>
              <a:gd name="adj" fmla="val 9722"/>
            </a:avLst>
          </a:prstGeom>
          <a:solidFill>
            <a:srgbClr val="FFFFFF"/>
          </a:solidFill>
          <a:ln w="12700">
            <a:solidFill>
              <a:srgbClr val="DDE3EA"/>
            </a:solidFill>
            <a:prstDash val="solid"/>
          </a:ln>
        </p:spPr>
      </p:sp>
      <p:sp>
        <p:nvSpPr>
          <p:cNvPr id="115" name="Text 49"/>
          <p:cNvSpPr/>
          <p:nvPr/>
        </p:nvSpPr>
        <p:spPr>
          <a:xfrm>
            <a:off x="6423660" y="4782312"/>
            <a:ext cx="2297430" cy="658368"/>
          </a:xfrm>
          <a:prstGeom prst="rect">
            <a:avLst/>
          </a:prstGeom>
          <a:noFill/>
          <a:ln/>
        </p:spPr>
        <p:txBody>
          <a:bodyPr wrap="square" rtlCol="0" anchor="ctr"/>
          <a:lstStyle/>
          <a:p>
            <a:pPr marL="0" indent="0" algn="ctr">
              <a:lnSpc>
                <a:spcPct val="110000"/>
              </a:lnSpc>
              <a:buNone/>
            </a:pPr>
            <a:r>
              <a:rPr lang="en-US" sz="1150" b="1" smtClean="0">
                <a:solidFill>
                  <a:srgbClr val="0B2C6E"/>
                </a:solidFill>
                <a:latin typeface="Calibri" pitchFamily="34" charset="0"/>
                <a:cs typeface="Calibri" pitchFamily="34" charset="-120"/>
              </a:rPr>
              <a:t>Review Results</a:t>
            </a:r>
            <a:endParaRPr lang="en-US" sz="1150" dirty="0"/>
          </a:p>
          <a:p>
            <a:pPr marL="0" indent="0" algn="ctr">
              <a:lnSpc>
                <a:spcPct val="110000"/>
              </a:lnSpc>
              <a:buNone/>
            </a:pPr>
            <a:r>
              <a:rPr lang="en-US" sz="1150" b="1" smtClean="0">
                <a:solidFill>
                  <a:srgbClr val="0B2C6E"/>
                </a:solidFill>
                <a:latin typeface="Calibri" pitchFamily="34" charset="0"/>
                <a:ea typeface="Calibri" pitchFamily="34" charset="-122"/>
                <a:cs typeface="Calibri" pitchFamily="34" charset="-120"/>
              </a:rPr>
              <a:t>(Human — exception only)</a:t>
            </a:r>
            <a:endParaRPr lang="en-US" sz="1150" dirty="0"/>
          </a:p>
        </p:txBody>
      </p:sp>
      <p:sp>
        <p:nvSpPr>
          <p:cNvPr id="116" name="Shape 50"/>
          <p:cNvSpPr/>
          <p:nvPr/>
        </p:nvSpPr>
        <p:spPr>
          <a:xfrm>
            <a:off x="10290429" y="4160520"/>
            <a:ext cx="438912" cy="438912"/>
          </a:xfrm>
          <a:prstGeom prst="ellipse">
            <a:avLst/>
          </a:prstGeom>
          <a:solidFill>
            <a:srgbClr val="0B2C6E"/>
          </a:solidFill>
          <a:ln/>
        </p:spPr>
      </p:sp>
      <p:sp>
        <p:nvSpPr>
          <p:cNvPr id="117" name="Text 51"/>
          <p:cNvSpPr/>
          <p:nvPr/>
        </p:nvSpPr>
        <p:spPr>
          <a:xfrm>
            <a:off x="10290429" y="4160520"/>
            <a:ext cx="438912" cy="438912"/>
          </a:xfrm>
          <a:prstGeom prst="rect">
            <a:avLst/>
          </a:prstGeom>
          <a:noFill/>
          <a:ln/>
        </p:spPr>
        <p:txBody>
          <a:bodyPr wrap="square"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18" name="Shape 52"/>
          <p:cNvSpPr/>
          <p:nvPr/>
        </p:nvSpPr>
        <p:spPr>
          <a:xfrm>
            <a:off x="9269730" y="4782312"/>
            <a:ext cx="2480310" cy="658368"/>
          </a:xfrm>
          <a:prstGeom prst="roundRect">
            <a:avLst>
              <a:gd name="adj" fmla="val 9722"/>
            </a:avLst>
          </a:prstGeom>
          <a:solidFill>
            <a:srgbClr val="FFFFFF"/>
          </a:solidFill>
          <a:ln w="12700">
            <a:solidFill>
              <a:srgbClr val="DDE3EA"/>
            </a:solidFill>
            <a:prstDash val="solid"/>
          </a:ln>
        </p:spPr>
      </p:sp>
      <p:sp>
        <p:nvSpPr>
          <p:cNvPr id="119" name="Text 53"/>
          <p:cNvSpPr/>
          <p:nvPr/>
        </p:nvSpPr>
        <p:spPr>
          <a:xfrm>
            <a:off x="9361170" y="4782312"/>
            <a:ext cx="2297430" cy="658368"/>
          </a:xfrm>
          <a:prstGeom prst="rect">
            <a:avLst/>
          </a:prstGeom>
          <a:noFill/>
          <a:ln/>
        </p:spPr>
        <p:txBody>
          <a:bodyPr wrap="square" rtlCol="0" anchor="ctr"/>
          <a:lstStyle/>
          <a:p>
            <a:pPr marL="0" indent="0" algn="ctr">
              <a:lnSpc>
                <a:spcPct val="110000"/>
              </a:lnSpc>
              <a:buNone/>
            </a:pPr>
            <a:r>
              <a:rPr lang="en-US" sz="1150" b="1" dirty="0">
                <a:solidFill>
                  <a:srgbClr val="0B2C6E"/>
                </a:solidFill>
                <a:latin typeface="Calibri" pitchFamily="34" charset="0"/>
                <a:ea typeface="Calibri" pitchFamily="34" charset="-122"/>
                <a:cs typeface="Calibri" pitchFamily="34" charset="-120"/>
              </a:rPr>
              <a:t>Export Label File</a:t>
            </a:r>
            <a:endParaRPr lang="en-US" sz="1150" dirty="0"/>
          </a:p>
          <a:p>
            <a:pPr marL="0" indent="0" algn="ctr">
              <a:lnSpc>
                <a:spcPct val="110000"/>
              </a:lnSpc>
              <a:buNone/>
            </a:pPr>
            <a:r>
              <a:rPr lang="en-US" sz="1150" b="1" dirty="0">
                <a:solidFill>
                  <a:srgbClr val="0B2C6E"/>
                </a:solidFill>
                <a:latin typeface="Calibri" pitchFamily="34" charset="0"/>
                <a:ea typeface="Calibri" pitchFamily="34" charset="-122"/>
                <a:cs typeface="Calibri" pitchFamily="34" charset="-120"/>
              </a:rPr>
              <a:t>(AI)</a:t>
            </a:r>
            <a:endParaRPr lang="en-US" sz="1150" dirty="0"/>
          </a:p>
        </p:txBody>
      </p:sp>
      <p:sp>
        <p:nvSpPr>
          <p:cNvPr id="120" name="Shape 54"/>
          <p:cNvSpPr/>
          <p:nvPr/>
        </p:nvSpPr>
        <p:spPr>
          <a:xfrm>
            <a:off x="457200" y="5623560"/>
            <a:ext cx="11292840" cy="713232"/>
          </a:xfrm>
          <a:prstGeom prst="roundRect">
            <a:avLst>
              <a:gd name="adj" fmla="val 8974"/>
            </a:avLst>
          </a:prstGeom>
          <a:solidFill>
            <a:srgbClr val="E9EFFB"/>
          </a:solidFill>
          <a:ln w="12700">
            <a:solidFill>
              <a:srgbClr val="C7D6F2"/>
            </a:solidFill>
            <a:prstDash val="solid"/>
          </a:ln>
        </p:spPr>
      </p:sp>
      <p:sp>
        <p:nvSpPr>
          <p:cNvPr id="121" name="Text 55"/>
          <p:cNvSpPr/>
          <p:nvPr/>
        </p:nvSpPr>
        <p:spPr>
          <a:xfrm>
            <a:off x="685800" y="5623560"/>
            <a:ext cx="2377440" cy="713232"/>
          </a:xfrm>
          <a:prstGeom prst="rect">
            <a:avLst/>
          </a:prstGeom>
          <a:noFill/>
          <a:ln/>
        </p:spPr>
        <p:txBody>
          <a:bodyPr wrap="square" rtlCol="0" anchor="ctr"/>
          <a:lstStyle/>
          <a:p>
            <a:pPr marL="0" indent="0">
              <a:buNone/>
            </a:pPr>
            <a:r>
              <a:rPr lang="en-US" sz="1200" b="1" dirty="0">
                <a:solidFill>
                  <a:srgbClr val="0B2C6E"/>
                </a:solidFill>
                <a:latin typeface="Arial" pitchFamily="34" charset="0"/>
                <a:ea typeface="Arial" pitchFamily="34" charset="-122"/>
                <a:cs typeface="Arial" pitchFamily="34" charset="-120"/>
              </a:rPr>
              <a:t>AI NATIVE POSITION:</a:t>
            </a:r>
            <a:endParaRPr lang="en-US" sz="1200" dirty="0"/>
          </a:p>
        </p:txBody>
      </p:sp>
      <p:sp>
        <p:nvSpPr>
          <p:cNvPr id="122" name="Text 56"/>
          <p:cNvSpPr/>
          <p:nvPr/>
        </p:nvSpPr>
        <p:spPr>
          <a:xfrm>
            <a:off x="3063240" y="5623560"/>
            <a:ext cx="8503920" cy="713232"/>
          </a:xfrm>
          <a:prstGeom prst="rect">
            <a:avLst/>
          </a:prstGeom>
          <a:noFill/>
          <a:ln/>
        </p:spPr>
        <p:txBody>
          <a:bodyPr wrap="square" rtlCol="0" anchor="ctr"/>
          <a:lstStyle/>
          <a:p>
            <a:pPr marL="0" indent="0">
              <a:lnSpc>
                <a:spcPct val="120000"/>
              </a:lnSpc>
              <a:buNone/>
            </a:pPr>
            <a:r>
              <a:rPr lang="en-US" sz="1150" dirty="0">
                <a:solidFill>
                  <a:srgbClr val="3A4552"/>
                </a:solidFill>
                <a:latin typeface="Calibri" pitchFamily="34" charset="0"/>
                <a:ea typeface="Calibri" pitchFamily="34" charset="-122"/>
                <a:cs typeface="Calibri" pitchFamily="34" charset="-120"/>
              </a:rPr>
              <a:t>This is not people using AI. AI is a step inside the workflow — of four steps, AI runs three, and people act only on exceptions. Replicable to any site using PMD + Codesoft 6.</a:t>
            </a:r>
            <a:endParaRPr lang="en-US" sz="1150" dirty="0"/>
          </a:p>
        </p:txBody>
      </p:sp>
      <p:sp>
        <p:nvSpPr>
          <p:cNvPr id="123" name="Shape 57"/>
          <p:cNvSpPr/>
          <p:nvPr/>
        </p:nvSpPr>
        <p:spPr>
          <a:xfrm>
            <a:off x="0" y="6528816"/>
            <a:ext cx="12191695" cy="329184"/>
          </a:xfrm>
          <a:prstGeom prst="rect">
            <a:avLst/>
          </a:prstGeom>
          <a:solidFill>
            <a:srgbClr val="0B2C6E"/>
          </a:solidFill>
          <a:ln/>
        </p:spPr>
      </p:sp>
      <p:sp>
        <p:nvSpPr>
          <p:cNvPr id="124" name="Text 58"/>
          <p:cNvSpPr/>
          <p:nvPr/>
        </p:nvSpPr>
        <p:spPr>
          <a:xfrm>
            <a:off x="320040" y="6528816"/>
            <a:ext cx="7315200" cy="329184"/>
          </a:xfrm>
          <a:prstGeom prst="rect">
            <a:avLst/>
          </a:prstGeom>
          <a:noFill/>
          <a:ln/>
        </p:spPr>
        <p:txBody>
          <a:bodyPr wrap="square" rtlCol="0" anchor="ctr"/>
          <a:lstStyle/>
          <a:p>
            <a:pPr marL="0" indent="0">
              <a:buNone/>
            </a:pPr>
            <a:r>
              <a:rPr lang="en-US" sz="1050" dirty="0">
                <a:solidFill>
                  <a:srgbClr val="CBD6E8"/>
                </a:solidFill>
                <a:latin typeface="Calibri" pitchFamily="34" charset="0"/>
                <a:ea typeface="Calibri" pitchFamily="34" charset="-122"/>
                <a:cs typeface="Calibri" pitchFamily="34" charset="-120"/>
              </a:rPr>
              <a:t>2026 Auto Design Label — Internal. All Rights Reserved.</a:t>
            </a:r>
            <a:endParaRPr lang="en-US" sz="1050" dirty="0"/>
          </a:p>
        </p:txBody>
      </p:sp>
      <p:sp>
        <p:nvSpPr>
          <p:cNvPr id="125" name="Text 59"/>
          <p:cNvSpPr/>
          <p:nvPr/>
        </p:nvSpPr>
        <p:spPr>
          <a:xfrm>
            <a:off x="7680960" y="6528816"/>
            <a:ext cx="3108960" cy="329184"/>
          </a:xfrm>
          <a:prstGeom prst="rect">
            <a:avLst/>
          </a:prstGeom>
          <a:noFill/>
          <a:ln/>
        </p:spPr>
        <p:txBody>
          <a:bodyPr wrap="square" rtlCol="0" anchor="ctr"/>
          <a:lstStyle/>
          <a:p>
            <a:pPr marL="0" indent="0" algn="r">
              <a:buNone/>
            </a:pPr>
            <a:endParaRPr lang="en-US" sz="950" dirty="0"/>
          </a:p>
        </p:txBody>
      </p:sp>
      <p:sp>
        <p:nvSpPr>
          <p:cNvPr id="126" name="Shape 60"/>
          <p:cNvSpPr/>
          <p:nvPr/>
        </p:nvSpPr>
        <p:spPr>
          <a:xfrm>
            <a:off x="11475720" y="6528816"/>
            <a:ext cx="713232" cy="329184"/>
          </a:xfrm>
          <a:prstGeom prst="rect">
            <a:avLst/>
          </a:prstGeom>
          <a:solidFill>
            <a:srgbClr val="D0043A"/>
          </a:solidFill>
          <a:ln/>
        </p:spPr>
      </p:sp>
      <p:sp>
        <p:nvSpPr>
          <p:cNvPr id="127" name="Text 61"/>
          <p:cNvSpPr/>
          <p:nvPr/>
        </p:nvSpPr>
        <p:spPr>
          <a:xfrm>
            <a:off x="11475720" y="6528816"/>
            <a:ext cx="713232" cy="329184"/>
          </a:xfrm>
          <a:prstGeom prst="rect">
            <a:avLst/>
          </a:prstGeom>
          <a:noFill/>
          <a:ln/>
        </p:spPr>
        <p:txBody>
          <a:bodyPr wrap="square" rtlCol="0" anchor="ctr"/>
          <a:lstStyle/>
          <a:p>
            <a:pPr marL="0" indent="0" algn="ctr">
              <a:buNone/>
            </a:pPr>
            <a:r>
              <a:rPr lang="en-US" sz="1100" b="1" smtClean="0">
                <a:solidFill>
                  <a:srgbClr val="FFFFFF"/>
                </a:solidFill>
                <a:latin typeface="Calibri" pitchFamily="34" charset="0"/>
                <a:ea typeface="Calibri" pitchFamily="34" charset="-122"/>
                <a:cs typeface="Calibri" pitchFamily="34" charset="-120"/>
              </a:rPr>
              <a:t>2/5</a:t>
            </a:r>
            <a:endParaRPr lang="en-US" sz="1100" dirty="0"/>
          </a:p>
        </p:txBody>
      </p:sp>
      <p:sp>
        <p:nvSpPr>
          <p:cNvPr id="132" name="Shape 2"/>
          <p:cNvSpPr/>
          <p:nvPr/>
        </p:nvSpPr>
        <p:spPr>
          <a:xfrm>
            <a:off x="9818551" y="418863"/>
            <a:ext cx="365760" cy="365760"/>
          </a:xfrm>
          <a:prstGeom prst="roundRect">
            <a:avLst>
              <a:gd name="adj" fmla="val 20000"/>
            </a:avLst>
          </a:prstGeom>
          <a:solidFill>
            <a:srgbClr val="E8600F"/>
          </a:solidFill>
          <a:ln/>
        </p:spPr>
      </p:sp>
      <p:sp>
        <p:nvSpPr>
          <p:cNvPr id="133" name="Text 3"/>
          <p:cNvSpPr/>
          <p:nvPr/>
        </p:nvSpPr>
        <p:spPr>
          <a:xfrm>
            <a:off x="9818551" y="400575"/>
            <a:ext cx="365760" cy="36576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A</a:t>
            </a:r>
            <a:endParaRPr lang="en-US" sz="1500" dirty="0"/>
          </a:p>
        </p:txBody>
      </p:sp>
      <p:sp>
        <p:nvSpPr>
          <p:cNvPr id="134" name="Text 4"/>
          <p:cNvSpPr/>
          <p:nvPr/>
        </p:nvSpPr>
        <p:spPr>
          <a:xfrm>
            <a:off x="9214338" y="674895"/>
            <a:ext cx="1048944" cy="365760"/>
          </a:xfrm>
          <a:prstGeom prst="rect">
            <a:avLst/>
          </a:prstGeom>
          <a:noFill/>
          <a:ln/>
        </p:spPr>
        <p:txBody>
          <a:bodyPr wrap="square" rtlCol="0" anchor="ctr"/>
          <a:lstStyle/>
          <a:p>
            <a:pPr algn="r">
              <a:lnSpc>
                <a:spcPct val="120000"/>
              </a:lnSpc>
            </a:pPr>
            <a:r>
              <a:rPr lang="en-US" sz="1000">
                <a:solidFill>
                  <a:srgbClr val="667180"/>
                </a:solidFill>
                <a:latin typeface="Calibri" pitchFamily="34" charset="0"/>
                <a:ea typeface="Calibri" pitchFamily="34" charset="-122"/>
                <a:cs typeface="Calibri" pitchFamily="34" charset="-120"/>
              </a:rPr>
              <a:t>CNSBG-Billy Su</a:t>
            </a:r>
            <a:endParaRPr lang="en-US" sz="1000" dirty="0"/>
          </a:p>
        </p:txBody>
      </p:sp>
    </p:spTree>
    <p:extLst>
      <p:ext uri="{BB962C8B-B14F-4D97-AF65-F5344CB8AC3E}">
        <p14:creationId xmlns:p14="http://schemas.microsoft.com/office/powerpoint/2010/main" val="7521699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 0"/>
          <p:cNvSpPr/>
          <p:nvPr/>
        </p:nvSpPr>
        <p:spPr>
          <a:xfrm>
            <a:off x="1490472" y="400575"/>
            <a:ext cx="7452360" cy="658368"/>
          </a:xfrm>
          <a:prstGeom prst="rect">
            <a:avLst/>
          </a:prstGeom>
          <a:noFill/>
          <a:ln/>
        </p:spPr>
        <p:txBody>
          <a:bodyPr wrap="square" rtlCol="0" anchor="ctr"/>
          <a:lstStyle/>
          <a:p>
            <a:r>
              <a:rPr lang="en-US" sz="3300" b="1" kern="0" spc="30">
                <a:solidFill>
                  <a:srgbClr val="0B2C6E"/>
                </a:solidFill>
                <a:latin typeface="Arial" pitchFamily="34" charset="0"/>
                <a:ea typeface="Arial" pitchFamily="34" charset="-122"/>
                <a:cs typeface="Arial" pitchFamily="34" charset="-120"/>
              </a:rPr>
              <a:t>AUTO DESIGN LABEL</a:t>
            </a:r>
            <a:endParaRPr lang="en-US" sz="3300" dirty="0"/>
          </a:p>
        </p:txBody>
      </p:sp>
      <p:sp>
        <p:nvSpPr>
          <p:cNvPr id="63" name="Shape 2"/>
          <p:cNvSpPr/>
          <p:nvPr/>
        </p:nvSpPr>
        <p:spPr>
          <a:xfrm>
            <a:off x="9818551" y="418863"/>
            <a:ext cx="365760" cy="365760"/>
          </a:xfrm>
          <a:prstGeom prst="roundRect">
            <a:avLst>
              <a:gd name="adj" fmla="val 20000"/>
            </a:avLst>
          </a:prstGeom>
          <a:solidFill>
            <a:srgbClr val="E8600F"/>
          </a:solidFill>
          <a:ln/>
        </p:spPr>
      </p:sp>
      <p:sp>
        <p:nvSpPr>
          <p:cNvPr id="64" name="Text 3"/>
          <p:cNvSpPr/>
          <p:nvPr/>
        </p:nvSpPr>
        <p:spPr>
          <a:xfrm>
            <a:off x="9818551" y="400575"/>
            <a:ext cx="365760" cy="36576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A</a:t>
            </a:r>
            <a:endParaRPr lang="en-US" sz="1500" dirty="0"/>
          </a:p>
        </p:txBody>
      </p:sp>
      <p:sp>
        <p:nvSpPr>
          <p:cNvPr id="65" name="Text 4"/>
          <p:cNvSpPr/>
          <p:nvPr/>
        </p:nvSpPr>
        <p:spPr>
          <a:xfrm>
            <a:off x="9214338" y="674895"/>
            <a:ext cx="1048944" cy="365760"/>
          </a:xfrm>
          <a:prstGeom prst="rect">
            <a:avLst/>
          </a:prstGeom>
          <a:noFill/>
          <a:ln/>
        </p:spPr>
        <p:txBody>
          <a:bodyPr wrap="square" rtlCol="0" anchor="ctr"/>
          <a:lstStyle/>
          <a:p>
            <a:pPr algn="r">
              <a:lnSpc>
                <a:spcPct val="120000"/>
              </a:lnSpc>
            </a:pPr>
            <a:r>
              <a:rPr lang="en-US" sz="1000">
                <a:solidFill>
                  <a:srgbClr val="667180"/>
                </a:solidFill>
                <a:latin typeface="Calibri" pitchFamily="34" charset="0"/>
                <a:ea typeface="Calibri" pitchFamily="34" charset="-122"/>
                <a:cs typeface="Calibri" pitchFamily="34" charset="-120"/>
              </a:rPr>
              <a:t>CNSBG-Billy Su</a:t>
            </a:r>
            <a:endParaRPr lang="en-US" sz="1000" dirty="0"/>
          </a:p>
        </p:txBody>
      </p:sp>
      <p:sp>
        <p:nvSpPr>
          <p:cNvPr id="67" name="Text 6"/>
          <p:cNvSpPr/>
          <p:nvPr/>
        </p:nvSpPr>
        <p:spPr>
          <a:xfrm>
            <a:off x="457200" y="1162022"/>
            <a:ext cx="5029200" cy="274320"/>
          </a:xfrm>
          <a:prstGeom prst="rect">
            <a:avLst/>
          </a:prstGeom>
          <a:noFill/>
          <a:ln/>
        </p:spPr>
        <p:txBody>
          <a:bodyPr wrap="square" rtlCol="0" anchor="ctr"/>
          <a:lstStyle/>
          <a:p>
            <a:pPr marL="0" indent="0">
              <a:buNone/>
            </a:pPr>
            <a:r>
              <a:rPr lang="en-US" sz="1400" b="1" kern="0" spc="50" dirty="0">
                <a:solidFill>
                  <a:srgbClr val="0B2C6E"/>
                </a:solidFill>
                <a:latin typeface="Arial" pitchFamily="34" charset="0"/>
                <a:ea typeface="Arial" pitchFamily="34" charset="-122"/>
                <a:cs typeface="Arial" pitchFamily="34" charset="-120"/>
              </a:rPr>
              <a:t>AI NATIVE — WHAT IS DELIVERED</a:t>
            </a:r>
            <a:endParaRPr lang="en-US" sz="1400" dirty="0"/>
          </a:p>
        </p:txBody>
      </p:sp>
      <p:sp>
        <p:nvSpPr>
          <p:cNvPr id="68" name="Shape 7"/>
          <p:cNvSpPr/>
          <p:nvPr/>
        </p:nvSpPr>
        <p:spPr>
          <a:xfrm>
            <a:off x="457200" y="1629033"/>
            <a:ext cx="384048" cy="384048"/>
          </a:xfrm>
          <a:prstGeom prst="ellipse">
            <a:avLst/>
          </a:prstGeom>
          <a:solidFill>
            <a:srgbClr val="0B2C6E"/>
          </a:solidFill>
          <a:ln/>
        </p:spPr>
      </p:sp>
      <p:sp>
        <p:nvSpPr>
          <p:cNvPr id="69" name="Text 8"/>
          <p:cNvSpPr/>
          <p:nvPr/>
        </p:nvSpPr>
        <p:spPr>
          <a:xfrm>
            <a:off x="457200" y="1629033"/>
            <a:ext cx="384048" cy="384048"/>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01</a:t>
            </a:r>
            <a:endParaRPr lang="en-US" sz="1200" dirty="0"/>
          </a:p>
        </p:txBody>
      </p:sp>
      <p:sp>
        <p:nvSpPr>
          <p:cNvPr id="128" name="Text 9"/>
          <p:cNvSpPr/>
          <p:nvPr/>
        </p:nvSpPr>
        <p:spPr>
          <a:xfrm>
            <a:off x="987552" y="1592457"/>
            <a:ext cx="5093208" cy="292608"/>
          </a:xfrm>
          <a:prstGeom prst="rect">
            <a:avLst/>
          </a:prstGeom>
          <a:noFill/>
          <a:ln/>
        </p:spPr>
        <p:txBody>
          <a:bodyPr wrap="square" rtlCol="0" anchor="ctr"/>
          <a:lstStyle/>
          <a:p>
            <a:pPr marL="0" indent="0">
              <a:buNone/>
            </a:pPr>
            <a:r>
              <a:rPr lang="en-US" sz="1400" b="1" dirty="0">
                <a:solidFill>
                  <a:srgbClr val="0B2C6E"/>
                </a:solidFill>
                <a:latin typeface="Calibri" pitchFamily="34" charset="0"/>
                <a:ea typeface="Calibri" pitchFamily="34" charset="-122"/>
                <a:cs typeface="Calibri" pitchFamily="34" charset="-120"/>
              </a:rPr>
              <a:t>Machine-Readable Input, Not Human Reading</a:t>
            </a:r>
            <a:endParaRPr lang="en-US" sz="1400" dirty="0"/>
          </a:p>
        </p:txBody>
      </p:sp>
      <p:sp>
        <p:nvSpPr>
          <p:cNvPr id="129" name="Text 10"/>
          <p:cNvSpPr/>
          <p:nvPr/>
        </p:nvSpPr>
        <p:spPr>
          <a:xfrm>
            <a:off x="987552" y="1885065"/>
            <a:ext cx="5093208" cy="548640"/>
          </a:xfrm>
          <a:prstGeom prst="rect">
            <a:avLst/>
          </a:prstGeom>
          <a:noFill/>
          <a:ln/>
        </p:spPr>
        <p:txBody>
          <a:bodyPr wrap="square" rtlCol="0" anchor="ct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Extracts all PMD content (dimensions, fonts, barcodes, QR codes, positions) into LDM (standardized JSON). No person reads the document.</a:t>
            </a:r>
            <a:endParaRPr lang="en-US" sz="1100" dirty="0"/>
          </a:p>
        </p:txBody>
      </p:sp>
      <p:sp>
        <p:nvSpPr>
          <p:cNvPr id="130" name="Shape 11"/>
          <p:cNvSpPr/>
          <p:nvPr/>
        </p:nvSpPr>
        <p:spPr>
          <a:xfrm>
            <a:off x="457200" y="2525145"/>
            <a:ext cx="5623560" cy="0"/>
          </a:xfrm>
          <a:prstGeom prst="line">
            <a:avLst/>
          </a:prstGeom>
          <a:noFill/>
          <a:ln w="9525">
            <a:solidFill>
              <a:srgbClr val="DDE3EA"/>
            </a:solidFill>
            <a:prstDash val="solid"/>
          </a:ln>
        </p:spPr>
      </p:sp>
      <p:sp>
        <p:nvSpPr>
          <p:cNvPr id="131" name="Shape 12"/>
          <p:cNvSpPr/>
          <p:nvPr/>
        </p:nvSpPr>
        <p:spPr>
          <a:xfrm>
            <a:off x="457200" y="2653161"/>
            <a:ext cx="384048" cy="384048"/>
          </a:xfrm>
          <a:prstGeom prst="ellipse">
            <a:avLst/>
          </a:prstGeom>
          <a:solidFill>
            <a:srgbClr val="0B2C6E"/>
          </a:solidFill>
          <a:ln/>
        </p:spPr>
      </p:sp>
      <p:sp>
        <p:nvSpPr>
          <p:cNvPr id="132" name="Text 13"/>
          <p:cNvSpPr/>
          <p:nvPr/>
        </p:nvSpPr>
        <p:spPr>
          <a:xfrm>
            <a:off x="457200" y="2653161"/>
            <a:ext cx="384048" cy="384048"/>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02</a:t>
            </a:r>
            <a:endParaRPr lang="en-US" sz="1200" dirty="0"/>
          </a:p>
        </p:txBody>
      </p:sp>
      <p:sp>
        <p:nvSpPr>
          <p:cNvPr id="133" name="Text 14"/>
          <p:cNvSpPr/>
          <p:nvPr/>
        </p:nvSpPr>
        <p:spPr>
          <a:xfrm>
            <a:off x="987552" y="2616585"/>
            <a:ext cx="5093208" cy="292608"/>
          </a:xfrm>
          <a:prstGeom prst="rect">
            <a:avLst/>
          </a:prstGeom>
          <a:noFill/>
          <a:ln/>
        </p:spPr>
        <p:txBody>
          <a:bodyPr wrap="square" rtlCol="0" anchor="ctr"/>
          <a:lstStyle/>
          <a:p>
            <a:pPr marL="0" indent="0">
              <a:buNone/>
            </a:pPr>
            <a:r>
              <a:rPr lang="en-US" sz="1400" b="1" dirty="0">
                <a:solidFill>
                  <a:srgbClr val="0B2C6E"/>
                </a:solidFill>
                <a:latin typeface="Calibri" pitchFamily="34" charset="0"/>
                <a:ea typeface="Calibri" pitchFamily="34" charset="-122"/>
                <a:cs typeface="Calibri" pitchFamily="34" charset="-120"/>
              </a:rPr>
              <a:t>Clear Exception Boundary — AI Never Guesses</a:t>
            </a:r>
            <a:endParaRPr lang="en-US" sz="1400" dirty="0"/>
          </a:p>
        </p:txBody>
      </p:sp>
      <p:sp>
        <p:nvSpPr>
          <p:cNvPr id="134" name="Text 15"/>
          <p:cNvSpPr/>
          <p:nvPr/>
        </p:nvSpPr>
        <p:spPr>
          <a:xfrm>
            <a:off x="987552" y="2909193"/>
            <a:ext cx="5093208" cy="548640"/>
          </a:xfrm>
          <a:prstGeom prst="rect">
            <a:avLst/>
          </a:prstGeom>
          <a:noFill/>
          <a:ln/>
        </p:spPr>
        <p:txBody>
          <a:bodyPr wrap="square" rtlCol="0" anchor="ct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On masked values, unclear definitions or conflicts between sections, the system stops and reports. It never infers a “correct” value on its own.</a:t>
            </a:r>
            <a:endParaRPr lang="en-US" sz="1100" dirty="0"/>
          </a:p>
        </p:txBody>
      </p:sp>
      <p:sp>
        <p:nvSpPr>
          <p:cNvPr id="135" name="Shape 16"/>
          <p:cNvSpPr/>
          <p:nvPr/>
        </p:nvSpPr>
        <p:spPr>
          <a:xfrm>
            <a:off x="457200" y="3549273"/>
            <a:ext cx="5623560" cy="0"/>
          </a:xfrm>
          <a:prstGeom prst="line">
            <a:avLst/>
          </a:prstGeom>
          <a:noFill/>
          <a:ln w="9525">
            <a:solidFill>
              <a:srgbClr val="DDE3EA"/>
            </a:solidFill>
            <a:prstDash val="solid"/>
          </a:ln>
        </p:spPr>
      </p:sp>
      <p:sp>
        <p:nvSpPr>
          <p:cNvPr id="136" name="Shape 17"/>
          <p:cNvSpPr/>
          <p:nvPr/>
        </p:nvSpPr>
        <p:spPr>
          <a:xfrm>
            <a:off x="457200" y="3677289"/>
            <a:ext cx="384048" cy="384048"/>
          </a:xfrm>
          <a:prstGeom prst="ellipse">
            <a:avLst/>
          </a:prstGeom>
          <a:solidFill>
            <a:srgbClr val="0B2C6E"/>
          </a:solidFill>
          <a:ln/>
        </p:spPr>
      </p:sp>
      <p:sp>
        <p:nvSpPr>
          <p:cNvPr id="137" name="Text 18"/>
          <p:cNvSpPr/>
          <p:nvPr/>
        </p:nvSpPr>
        <p:spPr>
          <a:xfrm>
            <a:off x="457200" y="3677289"/>
            <a:ext cx="384048" cy="384048"/>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03</a:t>
            </a:r>
            <a:endParaRPr lang="en-US" sz="1200" dirty="0"/>
          </a:p>
        </p:txBody>
      </p:sp>
      <p:sp>
        <p:nvSpPr>
          <p:cNvPr id="138" name="Text 19"/>
          <p:cNvSpPr/>
          <p:nvPr/>
        </p:nvSpPr>
        <p:spPr>
          <a:xfrm>
            <a:off x="987552" y="3640713"/>
            <a:ext cx="5093208" cy="292608"/>
          </a:xfrm>
          <a:prstGeom prst="rect">
            <a:avLst/>
          </a:prstGeom>
          <a:noFill/>
          <a:ln/>
        </p:spPr>
        <p:txBody>
          <a:bodyPr wrap="square" rtlCol="0" anchor="ctr"/>
          <a:lstStyle/>
          <a:p>
            <a:pPr marL="0" indent="0">
              <a:buNone/>
            </a:pPr>
            <a:r>
              <a:rPr lang="en-US" sz="1400" b="1" dirty="0">
                <a:solidFill>
                  <a:srgbClr val="0B2C6E"/>
                </a:solidFill>
                <a:latin typeface="Calibri" pitchFamily="34" charset="0"/>
                <a:ea typeface="Calibri" pitchFamily="34" charset="-122"/>
                <a:cs typeface="Calibri" pitchFamily="34" charset="-120"/>
              </a:rPr>
              <a:t>AI Designs, Human Approves Exceptions</a:t>
            </a:r>
            <a:endParaRPr lang="en-US" sz="1400" dirty="0"/>
          </a:p>
        </p:txBody>
      </p:sp>
      <p:sp>
        <p:nvSpPr>
          <p:cNvPr id="139" name="Text 20"/>
          <p:cNvSpPr/>
          <p:nvPr/>
        </p:nvSpPr>
        <p:spPr>
          <a:xfrm>
            <a:off x="987552" y="3933321"/>
            <a:ext cx="5093208" cy="548640"/>
          </a:xfrm>
          <a:prstGeom prst="rect">
            <a:avLst/>
          </a:prstGeom>
          <a:noFill/>
          <a:ln/>
        </p:spPr>
        <p:txBody>
          <a:bodyPr wrap="square" rtlCol="0" anchor="ct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Generates label designs at true 1:1 scale (mm) for preview and review before and after export. Operators confirm only what was flagged.</a:t>
            </a:r>
            <a:endParaRPr lang="en-US" sz="1100" dirty="0"/>
          </a:p>
        </p:txBody>
      </p:sp>
      <p:sp>
        <p:nvSpPr>
          <p:cNvPr id="140" name="Shape 21"/>
          <p:cNvSpPr/>
          <p:nvPr/>
        </p:nvSpPr>
        <p:spPr>
          <a:xfrm>
            <a:off x="457200" y="4573401"/>
            <a:ext cx="5623560" cy="0"/>
          </a:xfrm>
          <a:prstGeom prst="line">
            <a:avLst/>
          </a:prstGeom>
          <a:noFill/>
          <a:ln w="9525">
            <a:solidFill>
              <a:srgbClr val="DDE3EA"/>
            </a:solidFill>
            <a:prstDash val="solid"/>
          </a:ln>
        </p:spPr>
      </p:sp>
      <p:sp>
        <p:nvSpPr>
          <p:cNvPr id="141" name="Shape 22"/>
          <p:cNvSpPr/>
          <p:nvPr/>
        </p:nvSpPr>
        <p:spPr>
          <a:xfrm>
            <a:off x="457200" y="4701417"/>
            <a:ext cx="384048" cy="384048"/>
          </a:xfrm>
          <a:prstGeom prst="ellipse">
            <a:avLst/>
          </a:prstGeom>
          <a:solidFill>
            <a:srgbClr val="0B2C6E"/>
          </a:solidFill>
          <a:ln/>
        </p:spPr>
      </p:sp>
      <p:sp>
        <p:nvSpPr>
          <p:cNvPr id="142" name="Text 23"/>
          <p:cNvSpPr/>
          <p:nvPr/>
        </p:nvSpPr>
        <p:spPr>
          <a:xfrm>
            <a:off x="457200" y="4701417"/>
            <a:ext cx="384048" cy="384048"/>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04</a:t>
            </a:r>
            <a:endParaRPr lang="en-US" sz="1200" dirty="0"/>
          </a:p>
        </p:txBody>
      </p:sp>
      <p:sp>
        <p:nvSpPr>
          <p:cNvPr id="143" name="Text 24"/>
          <p:cNvSpPr/>
          <p:nvPr/>
        </p:nvSpPr>
        <p:spPr>
          <a:xfrm>
            <a:off x="987552" y="4664841"/>
            <a:ext cx="5093208" cy="292608"/>
          </a:xfrm>
          <a:prstGeom prst="rect">
            <a:avLst/>
          </a:prstGeom>
          <a:noFill/>
          <a:ln/>
        </p:spPr>
        <p:txBody>
          <a:bodyPr wrap="square" rtlCol="0" anchor="ctr"/>
          <a:lstStyle/>
          <a:p>
            <a:pPr marL="0" indent="0">
              <a:buNone/>
            </a:pPr>
            <a:r>
              <a:rPr lang="en-US" sz="1400" b="1" dirty="0">
                <a:solidFill>
                  <a:srgbClr val="0B2C6E"/>
                </a:solidFill>
                <a:latin typeface="Calibri" pitchFamily="34" charset="0"/>
                <a:ea typeface="Calibri" pitchFamily="34" charset="-122"/>
                <a:cs typeface="Calibri" pitchFamily="34" charset="-120"/>
              </a:rPr>
              <a:t>Traceable by Design — LDM Is Auditable</a:t>
            </a:r>
            <a:endParaRPr lang="en-US" sz="1400" dirty="0"/>
          </a:p>
        </p:txBody>
      </p:sp>
      <p:sp>
        <p:nvSpPr>
          <p:cNvPr id="144" name="Text 25"/>
          <p:cNvSpPr/>
          <p:nvPr/>
        </p:nvSpPr>
        <p:spPr>
          <a:xfrm>
            <a:off x="987552" y="4957449"/>
            <a:ext cx="5093208" cy="548640"/>
          </a:xfrm>
          <a:prstGeom prst="rect">
            <a:avLst/>
          </a:prstGeom>
          <a:noFill/>
          <a:ln/>
        </p:spPr>
        <p:txBody>
          <a:bodyPr wrap="square" rtlCol="0" anchor="ct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Every label is versioned JSON (LDM), not a binary .lab file — readable, comparable, auditable. ZPL is generated from the same LDM (Phase 2 license cost-down).</a:t>
            </a:r>
            <a:endParaRPr lang="en-US" sz="1100" dirty="0"/>
          </a:p>
        </p:txBody>
      </p:sp>
      <p:sp>
        <p:nvSpPr>
          <p:cNvPr id="145" name="Shape 26"/>
          <p:cNvSpPr/>
          <p:nvPr/>
        </p:nvSpPr>
        <p:spPr>
          <a:xfrm>
            <a:off x="457200" y="5568767"/>
            <a:ext cx="5623560" cy="868680"/>
          </a:xfrm>
          <a:prstGeom prst="roundRect">
            <a:avLst>
              <a:gd name="adj" fmla="val 7368"/>
            </a:avLst>
          </a:prstGeom>
          <a:solidFill>
            <a:srgbClr val="E9EFFB"/>
          </a:solidFill>
          <a:ln w="12700">
            <a:solidFill>
              <a:srgbClr val="C7D6F2"/>
            </a:solidFill>
            <a:prstDash val="solid"/>
          </a:ln>
        </p:spPr>
      </p:sp>
      <p:pic>
        <p:nvPicPr>
          <p:cNvPr id="146" name="Image 1" descr="/home/claude/deck2/assets/ic-bulb.png"/>
          <p:cNvPicPr>
            <a:picLocks noChangeAspect="1"/>
          </p:cNvPicPr>
          <p:nvPr/>
        </p:nvPicPr>
        <p:blipFill>
          <a:blip r:embed="rId3"/>
          <a:stretch>
            <a:fillRect/>
          </a:stretch>
        </p:blipFill>
        <p:spPr>
          <a:xfrm>
            <a:off x="658368" y="5788223"/>
            <a:ext cx="384048" cy="384048"/>
          </a:xfrm>
          <a:prstGeom prst="rect">
            <a:avLst/>
          </a:prstGeom>
        </p:spPr>
      </p:pic>
      <p:sp>
        <p:nvSpPr>
          <p:cNvPr id="147" name="Text 27"/>
          <p:cNvSpPr/>
          <p:nvPr/>
        </p:nvSpPr>
        <p:spPr>
          <a:xfrm>
            <a:off x="1188720" y="5678495"/>
            <a:ext cx="4709160" cy="237744"/>
          </a:xfrm>
          <a:prstGeom prst="rect">
            <a:avLst/>
          </a:prstGeom>
          <a:noFill/>
          <a:ln/>
        </p:spPr>
        <p:txBody>
          <a:bodyPr wrap="square" rtlCol="0" anchor="ctr"/>
          <a:lstStyle/>
          <a:p>
            <a:pPr marL="0" indent="0">
              <a:buNone/>
            </a:pPr>
            <a:r>
              <a:rPr lang="en-US" sz="1200" b="1" kern="0" spc="50" dirty="0">
                <a:solidFill>
                  <a:srgbClr val="0B2C6E"/>
                </a:solidFill>
                <a:latin typeface="Arial" pitchFamily="34" charset="0"/>
                <a:ea typeface="Arial" pitchFamily="34" charset="-122"/>
                <a:cs typeface="Arial" pitchFamily="34" charset="-120"/>
              </a:rPr>
              <a:t>THE AI NATIVE TEST</a:t>
            </a:r>
            <a:endParaRPr lang="en-US" sz="1200" dirty="0"/>
          </a:p>
        </p:txBody>
      </p:sp>
      <p:sp>
        <p:nvSpPr>
          <p:cNvPr id="148" name="Text 28"/>
          <p:cNvSpPr/>
          <p:nvPr/>
        </p:nvSpPr>
        <p:spPr>
          <a:xfrm>
            <a:off x="1188720" y="5934527"/>
            <a:ext cx="4663440" cy="457200"/>
          </a:xfrm>
          <a:prstGeom prst="rect">
            <a:avLst/>
          </a:prstGeom>
          <a:noFill/>
          <a:ln/>
        </p:spPr>
        <p:txBody>
          <a:bodyPr wrap="square" rtlCol="0" anchor="ctr"/>
          <a:lstStyle/>
          <a:p>
            <a:pPr marL="0" indent="0">
              <a:lnSpc>
                <a:spcPct val="120000"/>
              </a:lnSpc>
              <a:buNone/>
            </a:pPr>
            <a:r>
              <a:rPr lang="en-US" sz="1100" dirty="0">
                <a:solidFill>
                  <a:srgbClr val="3A4552"/>
                </a:solidFill>
                <a:latin typeface="Calibri" pitchFamily="34" charset="0"/>
                <a:ea typeface="Calibri" pitchFamily="34" charset="-122"/>
                <a:cs typeface="Calibri" pitchFamily="34" charset="-120"/>
              </a:rPr>
              <a:t>Switch it off for one week and Label Room goes back to reading PMDs by hand — [X] engineer-hours per week. The work does not slow down; it stops.</a:t>
            </a:r>
            <a:endParaRPr lang="en-US" sz="1100" dirty="0"/>
          </a:p>
        </p:txBody>
      </p:sp>
      <p:sp>
        <p:nvSpPr>
          <p:cNvPr id="149" name="Shape 29"/>
          <p:cNvSpPr/>
          <p:nvPr/>
        </p:nvSpPr>
        <p:spPr>
          <a:xfrm>
            <a:off x="6355080" y="1562840"/>
            <a:ext cx="5709402" cy="4878752"/>
          </a:xfrm>
          <a:prstGeom prst="roundRect">
            <a:avLst>
              <a:gd name="adj" fmla="val 1261"/>
            </a:avLst>
          </a:prstGeom>
          <a:solidFill>
            <a:srgbClr val="081F4D"/>
          </a:solidFill>
          <a:ln w="12700">
            <a:solidFill>
              <a:srgbClr val="081F4D"/>
            </a:solidFill>
            <a:prstDash val="solid"/>
          </a:ln>
          <a:effectLst>
            <a:outerShdw blurRad="101600" dist="25400" dir="5400000" algn="bl" rotWithShape="0">
              <a:srgbClr val="0A0E12">
                <a:alpha val="10000"/>
              </a:srgbClr>
            </a:outerShdw>
          </a:effectLst>
        </p:spPr>
      </p:sp>
      <p:sp>
        <p:nvSpPr>
          <p:cNvPr id="150" name="Shape 30"/>
          <p:cNvSpPr/>
          <p:nvPr/>
        </p:nvSpPr>
        <p:spPr>
          <a:xfrm>
            <a:off x="6456783" y="5575087"/>
            <a:ext cx="4534678" cy="329184"/>
          </a:xfrm>
          <a:prstGeom prst="roundRect">
            <a:avLst>
              <a:gd name="adj" fmla="val 50000"/>
            </a:avLst>
          </a:prstGeom>
          <a:solidFill>
            <a:srgbClr val="0B2C6E"/>
          </a:solidFill>
          <a:ln/>
        </p:spPr>
      </p:sp>
      <p:sp>
        <p:nvSpPr>
          <p:cNvPr id="151" name="Text 31"/>
          <p:cNvSpPr/>
          <p:nvPr/>
        </p:nvSpPr>
        <p:spPr>
          <a:xfrm>
            <a:off x="6391131" y="5575087"/>
            <a:ext cx="4124469" cy="329184"/>
          </a:xfrm>
          <a:prstGeom prst="rect">
            <a:avLst/>
          </a:prstGeom>
          <a:noFill/>
          <a:ln/>
        </p:spPr>
        <p:txBody>
          <a:bodyPr wrap="square" rtlCol="0" anchor="ctr"/>
          <a:lstStyle/>
          <a:p>
            <a:pPr marL="0" indent="0" algn="ctr">
              <a:buNone/>
            </a:pPr>
            <a:r>
              <a:rPr lang="en-US" sz="1050" b="1" smtClean="0">
                <a:solidFill>
                  <a:srgbClr val="FFFFFF"/>
                </a:solidFill>
                <a:latin typeface="Calibri" pitchFamily="34" charset="0"/>
                <a:ea typeface="Calibri" pitchFamily="34" charset="-122"/>
                <a:cs typeface="Calibri" pitchFamily="34" charset="-120"/>
              </a:rPr>
              <a:t>READ – ANALYSIS – DESIGN – HUMAN REVIEW – EXPORT FILE </a:t>
            </a:r>
            <a:endParaRPr lang="en-US" sz="1050" dirty="0"/>
          </a:p>
        </p:txBody>
      </p:sp>
      <p:sp>
        <p:nvSpPr>
          <p:cNvPr id="152" name="Shape 32"/>
          <p:cNvSpPr/>
          <p:nvPr/>
        </p:nvSpPr>
        <p:spPr>
          <a:xfrm>
            <a:off x="10421016" y="5593375"/>
            <a:ext cx="1609344" cy="310896"/>
          </a:xfrm>
          <a:prstGeom prst="roundRect">
            <a:avLst>
              <a:gd name="adj" fmla="val 50000"/>
            </a:avLst>
          </a:prstGeom>
          <a:solidFill>
            <a:schemeClr val="accent2"/>
          </a:solidFill>
          <a:ln>
            <a:solidFill>
              <a:schemeClr val="accent2"/>
            </a:solidFill>
          </a:ln>
        </p:spPr>
      </p:sp>
      <p:sp>
        <p:nvSpPr>
          <p:cNvPr id="153" name="Text 33"/>
          <p:cNvSpPr/>
          <p:nvPr/>
        </p:nvSpPr>
        <p:spPr>
          <a:xfrm>
            <a:off x="10421016" y="5575087"/>
            <a:ext cx="1609344" cy="329184"/>
          </a:xfrm>
          <a:prstGeom prst="rect">
            <a:avLst/>
          </a:prstGeom>
          <a:noFill/>
          <a:ln/>
        </p:spPr>
        <p:txBody>
          <a:bodyPr wrap="square" rtlCol="0" anchor="ctr"/>
          <a:lstStyle/>
          <a:p>
            <a:pPr marL="0" indent="0" algn="ctr">
              <a:buNone/>
            </a:pPr>
            <a:r>
              <a:rPr lang="en-US" sz="1100" b="1" smtClean="0">
                <a:solidFill>
                  <a:schemeClr val="bg1"/>
                </a:solidFill>
                <a:latin typeface="Calibri" pitchFamily="34" charset="0"/>
                <a:cs typeface="Calibri" pitchFamily="34" charset="-120"/>
              </a:rPr>
              <a:t>TESTING</a:t>
            </a:r>
            <a:endParaRPr lang="en-US" sz="1100" dirty="0">
              <a:solidFill>
                <a:schemeClr val="bg1"/>
              </a:solidFill>
            </a:endParaRPr>
          </a:p>
        </p:txBody>
      </p:sp>
      <p:sp>
        <p:nvSpPr>
          <p:cNvPr id="154" name="Text 34"/>
          <p:cNvSpPr/>
          <p:nvPr/>
        </p:nvSpPr>
        <p:spPr>
          <a:xfrm>
            <a:off x="6355080" y="1205247"/>
            <a:ext cx="5486400" cy="237744"/>
          </a:xfrm>
          <a:prstGeom prst="rect">
            <a:avLst/>
          </a:prstGeom>
          <a:noFill/>
          <a:ln/>
        </p:spPr>
        <p:txBody>
          <a:bodyPr wrap="square" rtlCol="0" anchor="ctr"/>
          <a:lstStyle/>
          <a:p>
            <a:r>
              <a:rPr lang="en-US" sz="1400" b="1" kern="0" spc="50" dirty="0">
                <a:solidFill>
                  <a:srgbClr val="0B2C6E"/>
                </a:solidFill>
                <a:latin typeface="Arial" pitchFamily="34" charset="0"/>
                <a:ea typeface="Arial" pitchFamily="34" charset="-122"/>
                <a:cs typeface="Arial" pitchFamily="34" charset="-120"/>
              </a:rPr>
              <a:t>LIVE INTERFACE — DEMO IN PROGRESS</a:t>
            </a:r>
          </a:p>
        </p:txBody>
      </p:sp>
      <p:sp>
        <p:nvSpPr>
          <p:cNvPr id="155" name="Shape 35"/>
          <p:cNvSpPr/>
          <p:nvPr/>
        </p:nvSpPr>
        <p:spPr>
          <a:xfrm>
            <a:off x="0" y="6528816"/>
            <a:ext cx="12191695" cy="329184"/>
          </a:xfrm>
          <a:prstGeom prst="rect">
            <a:avLst/>
          </a:prstGeom>
          <a:solidFill>
            <a:srgbClr val="0B2C6E"/>
          </a:solidFill>
          <a:ln/>
        </p:spPr>
      </p:sp>
      <p:sp>
        <p:nvSpPr>
          <p:cNvPr id="156" name="Text 36"/>
          <p:cNvSpPr/>
          <p:nvPr/>
        </p:nvSpPr>
        <p:spPr>
          <a:xfrm>
            <a:off x="320040" y="6528816"/>
            <a:ext cx="7315200" cy="329184"/>
          </a:xfrm>
          <a:prstGeom prst="rect">
            <a:avLst/>
          </a:prstGeom>
          <a:noFill/>
          <a:ln/>
        </p:spPr>
        <p:txBody>
          <a:bodyPr wrap="square" rtlCol="0" anchor="ctr"/>
          <a:lstStyle/>
          <a:p>
            <a:pPr marL="0" indent="0">
              <a:buNone/>
            </a:pPr>
            <a:r>
              <a:rPr lang="en-US" sz="1050" dirty="0">
                <a:solidFill>
                  <a:srgbClr val="CBD6E8"/>
                </a:solidFill>
                <a:latin typeface="Calibri" pitchFamily="34" charset="0"/>
                <a:ea typeface="Calibri" pitchFamily="34" charset="-122"/>
                <a:cs typeface="Calibri" pitchFamily="34" charset="-120"/>
              </a:rPr>
              <a:t>2026 Auto Design Label — Internal. All Rights Reserved.</a:t>
            </a:r>
            <a:endParaRPr lang="en-US" sz="1050" dirty="0"/>
          </a:p>
        </p:txBody>
      </p:sp>
      <p:sp>
        <p:nvSpPr>
          <p:cNvPr id="157" name="Text 37"/>
          <p:cNvSpPr/>
          <p:nvPr/>
        </p:nvSpPr>
        <p:spPr>
          <a:xfrm>
            <a:off x="7680960" y="6528816"/>
            <a:ext cx="3108960" cy="329184"/>
          </a:xfrm>
          <a:prstGeom prst="rect">
            <a:avLst/>
          </a:prstGeom>
          <a:noFill/>
          <a:ln/>
        </p:spPr>
        <p:txBody>
          <a:bodyPr wrap="square" rtlCol="0" anchor="ctr"/>
          <a:lstStyle/>
          <a:p>
            <a:pPr marL="0" indent="0" algn="r">
              <a:buNone/>
            </a:pPr>
            <a:endParaRPr lang="en-US" sz="950" dirty="0"/>
          </a:p>
        </p:txBody>
      </p:sp>
      <p:sp>
        <p:nvSpPr>
          <p:cNvPr id="158" name="Shape 38"/>
          <p:cNvSpPr/>
          <p:nvPr/>
        </p:nvSpPr>
        <p:spPr>
          <a:xfrm>
            <a:off x="11475720" y="6528816"/>
            <a:ext cx="713232" cy="329184"/>
          </a:xfrm>
          <a:prstGeom prst="rect">
            <a:avLst/>
          </a:prstGeom>
          <a:solidFill>
            <a:srgbClr val="D0043A"/>
          </a:solidFill>
          <a:ln/>
        </p:spPr>
      </p:sp>
      <p:sp>
        <p:nvSpPr>
          <p:cNvPr id="159" name="Text 39"/>
          <p:cNvSpPr/>
          <p:nvPr/>
        </p:nvSpPr>
        <p:spPr>
          <a:xfrm>
            <a:off x="11475720" y="6528816"/>
            <a:ext cx="713232" cy="329184"/>
          </a:xfrm>
          <a:prstGeom prst="rect">
            <a:avLst/>
          </a:prstGeom>
          <a:noFill/>
          <a:ln/>
        </p:spPr>
        <p:txBody>
          <a:bodyPr wrap="square" rtlCol="0" anchor="ctr"/>
          <a:lstStyle/>
          <a:p>
            <a:pPr marL="0" indent="0" algn="ctr">
              <a:buNone/>
            </a:pPr>
            <a:r>
              <a:rPr lang="en-US" sz="1100" b="1" smtClean="0">
                <a:solidFill>
                  <a:srgbClr val="FFFFFF"/>
                </a:solidFill>
                <a:latin typeface="Calibri" pitchFamily="34" charset="0"/>
                <a:ea typeface="Calibri" pitchFamily="34" charset="-122"/>
                <a:cs typeface="Calibri" pitchFamily="34" charset="-120"/>
              </a:rPr>
              <a:t>3/5</a:t>
            </a:r>
            <a:endParaRPr lang="en-US" sz="1100" dirty="0"/>
          </a:p>
        </p:txBody>
      </p:sp>
      <p:pic>
        <p:nvPicPr>
          <p:cNvPr id="2" name="Picture 1"/>
          <p:cNvPicPr>
            <a:picLocks noChangeAspect="1"/>
          </p:cNvPicPr>
          <p:nvPr/>
        </p:nvPicPr>
        <p:blipFill>
          <a:blip r:embed="rId4"/>
          <a:stretch>
            <a:fillRect/>
          </a:stretch>
        </p:blipFill>
        <p:spPr>
          <a:xfrm>
            <a:off x="6391131" y="1610370"/>
            <a:ext cx="5654689" cy="3741449"/>
          </a:xfrm>
          <a:prstGeom prst="rect">
            <a:avLst/>
          </a:prstGeom>
        </p:spPr>
      </p:pic>
    </p:spTree>
    <p:extLst>
      <p:ext uri="{BB962C8B-B14F-4D97-AF65-F5344CB8AC3E}">
        <p14:creationId xmlns:p14="http://schemas.microsoft.com/office/powerpoint/2010/main" val="4134296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ext 0"/>
          <p:cNvSpPr/>
          <p:nvPr/>
        </p:nvSpPr>
        <p:spPr>
          <a:xfrm>
            <a:off x="1490472" y="400575"/>
            <a:ext cx="7452360" cy="658368"/>
          </a:xfrm>
          <a:prstGeom prst="rect">
            <a:avLst/>
          </a:prstGeom>
          <a:noFill/>
          <a:ln/>
        </p:spPr>
        <p:txBody>
          <a:bodyPr wrap="square" rtlCol="0" anchor="ctr"/>
          <a:lstStyle/>
          <a:p>
            <a:r>
              <a:rPr lang="en-US" sz="3300" b="1" kern="0" spc="30">
                <a:solidFill>
                  <a:srgbClr val="0B2C6E"/>
                </a:solidFill>
                <a:latin typeface="Arial" pitchFamily="34" charset="0"/>
                <a:ea typeface="Arial" pitchFamily="34" charset="-122"/>
                <a:cs typeface="Arial" pitchFamily="34" charset="-120"/>
              </a:rPr>
              <a:t>TRACE LOG — AUDIT BY DESIGN</a:t>
            </a:r>
            <a:endParaRPr lang="en-US" sz="3300" dirty="0"/>
          </a:p>
        </p:txBody>
      </p:sp>
      <p:sp>
        <p:nvSpPr>
          <p:cNvPr id="63" name="Shape 2"/>
          <p:cNvSpPr/>
          <p:nvPr/>
        </p:nvSpPr>
        <p:spPr>
          <a:xfrm>
            <a:off x="9818551" y="418863"/>
            <a:ext cx="365760" cy="365760"/>
          </a:xfrm>
          <a:prstGeom prst="roundRect">
            <a:avLst>
              <a:gd name="adj" fmla="val 20000"/>
            </a:avLst>
          </a:prstGeom>
          <a:solidFill>
            <a:srgbClr val="E8600F"/>
          </a:solidFill>
          <a:ln/>
        </p:spPr>
      </p:sp>
      <p:sp>
        <p:nvSpPr>
          <p:cNvPr id="64" name="Text 3"/>
          <p:cNvSpPr/>
          <p:nvPr/>
        </p:nvSpPr>
        <p:spPr>
          <a:xfrm>
            <a:off x="9818551" y="400575"/>
            <a:ext cx="365760" cy="36576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A</a:t>
            </a:r>
            <a:endParaRPr lang="en-US" sz="1500" dirty="0"/>
          </a:p>
        </p:txBody>
      </p:sp>
      <p:sp>
        <p:nvSpPr>
          <p:cNvPr id="65" name="Text 4"/>
          <p:cNvSpPr/>
          <p:nvPr/>
        </p:nvSpPr>
        <p:spPr>
          <a:xfrm>
            <a:off x="9214338" y="674895"/>
            <a:ext cx="1048944" cy="365760"/>
          </a:xfrm>
          <a:prstGeom prst="rect">
            <a:avLst/>
          </a:prstGeom>
          <a:noFill/>
          <a:ln/>
        </p:spPr>
        <p:txBody>
          <a:bodyPr wrap="square" rtlCol="0" anchor="ctr"/>
          <a:lstStyle/>
          <a:p>
            <a:pPr algn="r">
              <a:lnSpc>
                <a:spcPct val="120000"/>
              </a:lnSpc>
            </a:pPr>
            <a:r>
              <a:rPr lang="en-US" sz="1000">
                <a:solidFill>
                  <a:srgbClr val="667180"/>
                </a:solidFill>
                <a:latin typeface="Calibri" pitchFamily="34" charset="0"/>
                <a:ea typeface="Calibri" pitchFamily="34" charset="-122"/>
                <a:cs typeface="Calibri" pitchFamily="34" charset="-120"/>
              </a:rPr>
              <a:t>CNSBG-Billy Su</a:t>
            </a:r>
            <a:endParaRPr lang="en-US" sz="1000" dirty="0"/>
          </a:p>
        </p:txBody>
      </p:sp>
      <p:sp>
        <p:nvSpPr>
          <p:cNvPr id="67" name="Text 6"/>
          <p:cNvSpPr/>
          <p:nvPr/>
        </p:nvSpPr>
        <p:spPr>
          <a:xfrm>
            <a:off x="457200" y="1162022"/>
            <a:ext cx="5029200" cy="274320"/>
          </a:xfrm>
          <a:prstGeom prst="rect">
            <a:avLst/>
          </a:prstGeom>
          <a:noFill/>
          <a:ln/>
        </p:spPr>
        <p:txBody>
          <a:bodyPr wrap="square" rtlCol="0" anchor="ctr"/>
          <a:lstStyle/>
          <a:p>
            <a:pPr marL="0" indent="0">
              <a:buNone/>
            </a:pPr>
            <a:r>
              <a:rPr lang="en-US" sz="1400" b="1" kern="0" spc="50" dirty="0">
                <a:solidFill>
                  <a:srgbClr val="0B2C6E"/>
                </a:solidFill>
                <a:latin typeface="Arial" pitchFamily="34" charset="0"/>
                <a:ea typeface="Arial" pitchFamily="34" charset="-122"/>
                <a:cs typeface="Arial" pitchFamily="34" charset="-120"/>
              </a:rPr>
              <a:t>WHAT THE LOG RECORDS</a:t>
            </a:r>
            <a:endParaRPr lang="en-US" sz="1400" dirty="0"/>
          </a:p>
        </p:txBody>
      </p:sp>
      <p:sp>
        <p:nvSpPr>
          <p:cNvPr id="68" name="Shape 7"/>
          <p:cNvSpPr/>
          <p:nvPr/>
        </p:nvSpPr>
        <p:spPr>
          <a:xfrm>
            <a:off x="457200" y="1629033"/>
            <a:ext cx="384048" cy="384048"/>
          </a:xfrm>
          <a:prstGeom prst="ellipse">
            <a:avLst/>
          </a:prstGeom>
          <a:solidFill>
            <a:srgbClr val="0B2C6E"/>
          </a:solidFill>
          <a:ln/>
        </p:spPr>
      </p:sp>
      <p:sp>
        <p:nvSpPr>
          <p:cNvPr id="69" name="Text 8"/>
          <p:cNvSpPr/>
          <p:nvPr/>
        </p:nvSpPr>
        <p:spPr>
          <a:xfrm>
            <a:off x="457200" y="1629033"/>
            <a:ext cx="384048" cy="384048"/>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01</a:t>
            </a:r>
            <a:endParaRPr lang="en-US" sz="1200" dirty="0"/>
          </a:p>
        </p:txBody>
      </p:sp>
      <p:sp>
        <p:nvSpPr>
          <p:cNvPr id="128" name="Text 9"/>
          <p:cNvSpPr/>
          <p:nvPr/>
        </p:nvSpPr>
        <p:spPr>
          <a:xfrm>
            <a:off x="987552" y="1592457"/>
            <a:ext cx="5093208" cy="292608"/>
          </a:xfrm>
          <a:prstGeom prst="rect">
            <a:avLst/>
          </a:prstGeom>
          <a:noFill/>
          <a:ln/>
        </p:spPr>
        <p:txBody>
          <a:bodyPr wrap="square" rtlCol="0" anchor="ctr"/>
          <a:lstStyle/>
          <a:p>
            <a:pPr marL="0" indent="0">
              <a:buNone/>
            </a:pPr>
            <a:r>
              <a:rPr lang="en-US" sz="1400" b="1" dirty="0">
                <a:solidFill>
                  <a:srgbClr val="0B2C6E"/>
                </a:solidFill>
                <a:latin typeface="Calibri" pitchFamily="34" charset="0"/>
                <a:ea typeface="Calibri" pitchFamily="34" charset="-122"/>
                <a:cs typeface="Calibri" pitchFamily="34" charset="-120"/>
              </a:rPr>
              <a:t>Ten Steps for Every Label</a:t>
            </a:r>
            <a:endParaRPr lang="en-US" sz="1400" dirty="0"/>
          </a:p>
        </p:txBody>
      </p:sp>
      <p:sp>
        <p:nvSpPr>
          <p:cNvPr id="129" name="Text 10"/>
          <p:cNvSpPr/>
          <p:nvPr/>
        </p:nvSpPr>
        <p:spPr>
          <a:xfrm>
            <a:off x="987552" y="1885065"/>
            <a:ext cx="5093208" cy="548640"/>
          </a:xfrm>
          <a:prstGeom prst="rect">
            <a:avLst/>
          </a:prstGeom>
          <a:noFill/>
          <a:ln/>
        </p:spPr>
        <p:txBody>
          <a:bodyPr wrap="square" rtlCol="0" anchor="ct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From identifying the label section in the PMD to the final element count: frame and scale, scope, fonts, text, variables, barcodes, QR.</a:t>
            </a:r>
            <a:endParaRPr lang="en-US" sz="1100" dirty="0"/>
          </a:p>
        </p:txBody>
      </p:sp>
      <p:sp>
        <p:nvSpPr>
          <p:cNvPr id="130" name="Shape 11"/>
          <p:cNvSpPr/>
          <p:nvPr/>
        </p:nvSpPr>
        <p:spPr>
          <a:xfrm>
            <a:off x="457200" y="2525145"/>
            <a:ext cx="5623560" cy="0"/>
          </a:xfrm>
          <a:prstGeom prst="line">
            <a:avLst/>
          </a:prstGeom>
          <a:noFill/>
          <a:ln w="9525">
            <a:solidFill>
              <a:srgbClr val="DDE3EA"/>
            </a:solidFill>
            <a:prstDash val="solid"/>
          </a:ln>
        </p:spPr>
      </p:sp>
      <p:sp>
        <p:nvSpPr>
          <p:cNvPr id="131" name="Shape 12"/>
          <p:cNvSpPr/>
          <p:nvPr/>
        </p:nvSpPr>
        <p:spPr>
          <a:xfrm>
            <a:off x="457200" y="2653161"/>
            <a:ext cx="384048" cy="384048"/>
          </a:xfrm>
          <a:prstGeom prst="ellipse">
            <a:avLst/>
          </a:prstGeom>
          <a:solidFill>
            <a:srgbClr val="0B2C6E"/>
          </a:solidFill>
          <a:ln/>
        </p:spPr>
      </p:sp>
      <p:sp>
        <p:nvSpPr>
          <p:cNvPr id="132" name="Text 13"/>
          <p:cNvSpPr/>
          <p:nvPr/>
        </p:nvSpPr>
        <p:spPr>
          <a:xfrm>
            <a:off x="457200" y="2653161"/>
            <a:ext cx="384048" cy="384048"/>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02</a:t>
            </a:r>
            <a:endParaRPr lang="en-US" sz="1200" dirty="0"/>
          </a:p>
        </p:txBody>
      </p:sp>
      <p:sp>
        <p:nvSpPr>
          <p:cNvPr id="133" name="Text 14"/>
          <p:cNvSpPr/>
          <p:nvPr/>
        </p:nvSpPr>
        <p:spPr>
          <a:xfrm>
            <a:off x="987552" y="2616585"/>
            <a:ext cx="5093208" cy="292608"/>
          </a:xfrm>
          <a:prstGeom prst="rect">
            <a:avLst/>
          </a:prstGeom>
          <a:noFill/>
          <a:ln/>
        </p:spPr>
        <p:txBody>
          <a:bodyPr wrap="square" rtlCol="0" anchor="ctr"/>
          <a:lstStyle/>
          <a:p>
            <a:pPr marL="0" indent="0">
              <a:buNone/>
            </a:pPr>
            <a:r>
              <a:rPr lang="en-US" sz="1400" b="1" dirty="0">
                <a:solidFill>
                  <a:srgbClr val="0B2C6E"/>
                </a:solidFill>
                <a:latin typeface="Calibri" pitchFamily="34" charset="0"/>
                <a:ea typeface="Calibri" pitchFamily="34" charset="-122"/>
                <a:cs typeface="Calibri" pitchFamily="34" charset="-120"/>
              </a:rPr>
              <a:t>Every Value Cites Its Source</a:t>
            </a:r>
            <a:endParaRPr lang="en-US" sz="1400" dirty="0"/>
          </a:p>
        </p:txBody>
      </p:sp>
      <p:sp>
        <p:nvSpPr>
          <p:cNvPr id="134" name="Text 15"/>
          <p:cNvSpPr/>
          <p:nvPr/>
        </p:nvSpPr>
        <p:spPr>
          <a:xfrm>
            <a:off x="987552" y="2909193"/>
            <a:ext cx="5093208" cy="548640"/>
          </a:xfrm>
          <a:prstGeom prst="rect">
            <a:avLst/>
          </a:prstGeom>
          <a:noFill/>
          <a:ln/>
        </p:spPr>
        <p:txBody>
          <a:bodyPr wrap="square" rtlCol="0" anchor="ct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Each step quotes the PMD page and line it read, plus the rule applied — e.g. page 2, Label Size 53×39 mm, confirmed by a border ratio of 1.36.</a:t>
            </a:r>
            <a:endParaRPr lang="en-US" sz="1100" dirty="0"/>
          </a:p>
        </p:txBody>
      </p:sp>
      <p:sp>
        <p:nvSpPr>
          <p:cNvPr id="135" name="Shape 16"/>
          <p:cNvSpPr/>
          <p:nvPr/>
        </p:nvSpPr>
        <p:spPr>
          <a:xfrm>
            <a:off x="457200" y="3549273"/>
            <a:ext cx="5623560" cy="0"/>
          </a:xfrm>
          <a:prstGeom prst="line">
            <a:avLst/>
          </a:prstGeom>
          <a:noFill/>
          <a:ln w="9525">
            <a:solidFill>
              <a:srgbClr val="DDE3EA"/>
            </a:solidFill>
            <a:prstDash val="solid"/>
          </a:ln>
        </p:spPr>
      </p:sp>
      <p:sp>
        <p:nvSpPr>
          <p:cNvPr id="136" name="Shape 17"/>
          <p:cNvSpPr/>
          <p:nvPr/>
        </p:nvSpPr>
        <p:spPr>
          <a:xfrm>
            <a:off x="457200" y="3677289"/>
            <a:ext cx="384048" cy="384048"/>
          </a:xfrm>
          <a:prstGeom prst="ellipse">
            <a:avLst/>
          </a:prstGeom>
          <a:solidFill>
            <a:srgbClr val="0B2C6E"/>
          </a:solidFill>
          <a:ln/>
        </p:spPr>
      </p:sp>
      <p:sp>
        <p:nvSpPr>
          <p:cNvPr id="137" name="Text 18"/>
          <p:cNvSpPr/>
          <p:nvPr/>
        </p:nvSpPr>
        <p:spPr>
          <a:xfrm>
            <a:off x="457200" y="3677289"/>
            <a:ext cx="384048" cy="384048"/>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03</a:t>
            </a:r>
            <a:endParaRPr lang="en-US" sz="1200" dirty="0"/>
          </a:p>
        </p:txBody>
      </p:sp>
      <p:sp>
        <p:nvSpPr>
          <p:cNvPr id="138" name="Text 19"/>
          <p:cNvSpPr/>
          <p:nvPr/>
        </p:nvSpPr>
        <p:spPr>
          <a:xfrm>
            <a:off x="987552" y="3640713"/>
            <a:ext cx="5093208" cy="292608"/>
          </a:xfrm>
          <a:prstGeom prst="rect">
            <a:avLst/>
          </a:prstGeom>
          <a:noFill/>
          <a:ln/>
        </p:spPr>
        <p:txBody>
          <a:bodyPr wrap="square" rtlCol="0" anchor="ctr"/>
          <a:lstStyle/>
          <a:p>
            <a:pPr marL="0" indent="0">
              <a:buNone/>
            </a:pPr>
            <a:r>
              <a:rPr lang="en-US" sz="1400" b="1" dirty="0">
                <a:solidFill>
                  <a:srgbClr val="0B2C6E"/>
                </a:solidFill>
                <a:latin typeface="Calibri" pitchFamily="34" charset="0"/>
                <a:ea typeface="Calibri" pitchFamily="34" charset="-122"/>
                <a:cs typeface="Calibri" pitchFamily="34" charset="-120"/>
              </a:rPr>
              <a:t>No Guesswork in the Chain</a:t>
            </a:r>
            <a:endParaRPr lang="en-US" sz="1400" dirty="0"/>
          </a:p>
        </p:txBody>
      </p:sp>
      <p:sp>
        <p:nvSpPr>
          <p:cNvPr id="139" name="Text 20"/>
          <p:cNvSpPr/>
          <p:nvPr/>
        </p:nvSpPr>
        <p:spPr>
          <a:xfrm>
            <a:off x="987552" y="3933321"/>
            <a:ext cx="5093208" cy="548640"/>
          </a:xfrm>
          <a:prstGeom prst="rect">
            <a:avLst/>
          </a:prstGeom>
          <a:noFill/>
          <a:ln/>
        </p:spPr>
        <p:txBody>
          <a:bodyPr wrap="square" rtlCol="0" anchor="ct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Coordinates come from the vector strokes in the PDF, not from estimation. Bold or light comes from the embedded font name of each glyph.</a:t>
            </a:r>
            <a:endParaRPr lang="en-US" sz="1100" dirty="0"/>
          </a:p>
        </p:txBody>
      </p:sp>
      <p:sp>
        <p:nvSpPr>
          <p:cNvPr id="140" name="Shape 21"/>
          <p:cNvSpPr/>
          <p:nvPr/>
        </p:nvSpPr>
        <p:spPr>
          <a:xfrm>
            <a:off x="457200" y="4573401"/>
            <a:ext cx="5623560" cy="0"/>
          </a:xfrm>
          <a:prstGeom prst="line">
            <a:avLst/>
          </a:prstGeom>
          <a:noFill/>
          <a:ln w="9525">
            <a:solidFill>
              <a:srgbClr val="DDE3EA"/>
            </a:solidFill>
            <a:prstDash val="solid"/>
          </a:ln>
        </p:spPr>
      </p:sp>
      <p:sp>
        <p:nvSpPr>
          <p:cNvPr id="141" name="Shape 22"/>
          <p:cNvSpPr/>
          <p:nvPr/>
        </p:nvSpPr>
        <p:spPr>
          <a:xfrm>
            <a:off x="457200" y="4701417"/>
            <a:ext cx="384048" cy="384048"/>
          </a:xfrm>
          <a:prstGeom prst="ellipse">
            <a:avLst/>
          </a:prstGeom>
          <a:solidFill>
            <a:srgbClr val="0B2C6E"/>
          </a:solidFill>
          <a:ln/>
        </p:spPr>
      </p:sp>
      <p:sp>
        <p:nvSpPr>
          <p:cNvPr id="142" name="Text 23"/>
          <p:cNvSpPr/>
          <p:nvPr/>
        </p:nvSpPr>
        <p:spPr>
          <a:xfrm>
            <a:off x="457200" y="4701417"/>
            <a:ext cx="384048" cy="384048"/>
          </a:xfrm>
          <a:prstGeom prst="rect">
            <a:avLst/>
          </a:prstGeom>
          <a:noFill/>
          <a:ln/>
        </p:spPr>
        <p:txBody>
          <a:bodyPr wrap="square" rtlCol="0" anchor="ct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04</a:t>
            </a:r>
            <a:endParaRPr lang="en-US" sz="1200" dirty="0"/>
          </a:p>
        </p:txBody>
      </p:sp>
      <p:sp>
        <p:nvSpPr>
          <p:cNvPr id="143" name="Text 24"/>
          <p:cNvSpPr/>
          <p:nvPr/>
        </p:nvSpPr>
        <p:spPr>
          <a:xfrm>
            <a:off x="987552" y="4664841"/>
            <a:ext cx="5093208" cy="292608"/>
          </a:xfrm>
          <a:prstGeom prst="rect">
            <a:avLst/>
          </a:prstGeom>
          <a:noFill/>
          <a:ln/>
        </p:spPr>
        <p:txBody>
          <a:bodyPr wrap="square" rtlCol="0" anchor="ctr"/>
          <a:lstStyle/>
          <a:p>
            <a:pPr marL="0" indent="0">
              <a:buNone/>
            </a:pPr>
            <a:r>
              <a:rPr lang="en-US" sz="1400" b="1" dirty="0">
                <a:solidFill>
                  <a:srgbClr val="0B2C6E"/>
                </a:solidFill>
                <a:latin typeface="Calibri" pitchFamily="34" charset="0"/>
                <a:ea typeface="Calibri" pitchFamily="34" charset="-122"/>
                <a:cs typeface="Calibri" pitchFamily="34" charset="-120"/>
              </a:rPr>
              <a:t>Exceptions Are Marked, Not Hidden</a:t>
            </a:r>
            <a:endParaRPr lang="en-US" sz="1400" dirty="0"/>
          </a:p>
        </p:txBody>
      </p:sp>
      <p:sp>
        <p:nvSpPr>
          <p:cNvPr id="144" name="Text 25"/>
          <p:cNvSpPr/>
          <p:nvPr/>
        </p:nvSpPr>
        <p:spPr>
          <a:xfrm>
            <a:off x="987552" y="4957449"/>
            <a:ext cx="5093208" cy="548640"/>
          </a:xfrm>
          <a:prstGeom prst="rect">
            <a:avLst/>
          </a:prstGeom>
          <a:noFill/>
          <a:ln/>
        </p:spPr>
        <p:txBody>
          <a:bodyPr wrap="square" rtlCol="0" anchor="ct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Steps are stamped Automatic, Needs confirmation or Warning. Here the QR step was flagged; two other labels in the document were refused as out of scope.</a:t>
            </a:r>
            <a:endParaRPr lang="en-US" sz="1100" dirty="0"/>
          </a:p>
        </p:txBody>
      </p:sp>
      <p:sp>
        <p:nvSpPr>
          <p:cNvPr id="145" name="Shape 26"/>
          <p:cNvSpPr/>
          <p:nvPr/>
        </p:nvSpPr>
        <p:spPr>
          <a:xfrm>
            <a:off x="457200" y="5568767"/>
            <a:ext cx="5623560" cy="868680"/>
          </a:xfrm>
          <a:prstGeom prst="roundRect">
            <a:avLst>
              <a:gd name="adj" fmla="val 7368"/>
            </a:avLst>
          </a:prstGeom>
          <a:solidFill>
            <a:srgbClr val="E9EFFB"/>
          </a:solidFill>
          <a:ln w="12700">
            <a:solidFill>
              <a:srgbClr val="C7D6F2"/>
            </a:solidFill>
            <a:prstDash val="solid"/>
          </a:ln>
        </p:spPr>
      </p:sp>
      <p:pic>
        <p:nvPicPr>
          <p:cNvPr id="146" name="Image 1" descr="/home/claude/deck2/assets/ic-bulb.png"/>
          <p:cNvPicPr>
            <a:picLocks noChangeAspect="1"/>
          </p:cNvPicPr>
          <p:nvPr/>
        </p:nvPicPr>
        <p:blipFill>
          <a:blip r:embed="rId3"/>
          <a:stretch>
            <a:fillRect/>
          </a:stretch>
        </p:blipFill>
        <p:spPr>
          <a:xfrm>
            <a:off x="658368" y="5788223"/>
            <a:ext cx="384048" cy="384048"/>
          </a:xfrm>
          <a:prstGeom prst="rect">
            <a:avLst/>
          </a:prstGeom>
        </p:spPr>
      </p:pic>
      <p:sp>
        <p:nvSpPr>
          <p:cNvPr id="147" name="Text 27"/>
          <p:cNvSpPr/>
          <p:nvPr/>
        </p:nvSpPr>
        <p:spPr>
          <a:xfrm>
            <a:off x="1188720" y="5678495"/>
            <a:ext cx="4709160" cy="237744"/>
          </a:xfrm>
          <a:prstGeom prst="rect">
            <a:avLst/>
          </a:prstGeom>
          <a:noFill/>
          <a:ln/>
        </p:spPr>
        <p:txBody>
          <a:bodyPr wrap="square" rtlCol="0" anchor="ctr"/>
          <a:lstStyle/>
          <a:p>
            <a:pPr marL="0" indent="0">
              <a:buNone/>
            </a:pPr>
            <a:r>
              <a:rPr lang="en-US" sz="1200" b="1" kern="0" spc="50" dirty="0">
                <a:solidFill>
                  <a:srgbClr val="0B2C6E"/>
                </a:solidFill>
                <a:latin typeface="Arial" pitchFamily="34" charset="0"/>
                <a:ea typeface="Arial" pitchFamily="34" charset="-122"/>
                <a:cs typeface="Arial" pitchFamily="34" charset="-120"/>
              </a:rPr>
              <a:t>AUDIT IN PRACTICE</a:t>
            </a:r>
            <a:endParaRPr lang="en-US" sz="1200" dirty="0"/>
          </a:p>
        </p:txBody>
      </p:sp>
      <p:sp>
        <p:nvSpPr>
          <p:cNvPr id="148" name="Text 28"/>
          <p:cNvSpPr/>
          <p:nvPr/>
        </p:nvSpPr>
        <p:spPr>
          <a:xfrm>
            <a:off x="1188720" y="5934527"/>
            <a:ext cx="4663440" cy="457200"/>
          </a:xfrm>
          <a:prstGeom prst="rect">
            <a:avLst/>
          </a:prstGeom>
          <a:noFill/>
          <a:ln/>
        </p:spPr>
        <p:txBody>
          <a:bodyPr wrap="square" rtlCol="0" anchor="ctr"/>
          <a:lstStyle/>
          <a:p>
            <a:pPr marL="0" indent="0">
              <a:lnSpc>
                <a:spcPct val="120000"/>
              </a:lnSpc>
              <a:buNone/>
            </a:pPr>
            <a:r>
              <a:rPr lang="en-US" sz="1100" dirty="0">
                <a:solidFill>
                  <a:srgbClr val="3A4552"/>
                </a:solidFill>
                <a:latin typeface="Calibri" pitchFamily="34" charset="0"/>
                <a:ea typeface="Calibri" pitchFamily="34" charset="-122"/>
                <a:cs typeface="Calibri" pitchFamily="34" charset="-120"/>
              </a:rPr>
              <a:t>If a customer challenges a printed label, we open the log for that run and show the PMD page, the rule, and the value produced.</a:t>
            </a:r>
            <a:endParaRPr lang="en-US" sz="1100" dirty="0"/>
          </a:p>
        </p:txBody>
      </p:sp>
      <p:sp>
        <p:nvSpPr>
          <p:cNvPr id="149" name="Shape 29"/>
          <p:cNvSpPr/>
          <p:nvPr/>
        </p:nvSpPr>
        <p:spPr>
          <a:xfrm>
            <a:off x="6355080" y="1562840"/>
            <a:ext cx="5709402" cy="4878752"/>
          </a:xfrm>
          <a:prstGeom prst="roundRect">
            <a:avLst>
              <a:gd name="adj" fmla="val 1261"/>
            </a:avLst>
          </a:prstGeom>
          <a:solidFill>
            <a:srgbClr val="081F4D"/>
          </a:solidFill>
          <a:ln w="12700">
            <a:solidFill>
              <a:srgbClr val="081F4D"/>
            </a:solidFill>
            <a:prstDash val="solid"/>
          </a:ln>
          <a:effectLst>
            <a:outerShdw blurRad="101600" dist="25400" dir="5400000" algn="bl" rotWithShape="0">
              <a:srgbClr val="0A0E12">
                <a:alpha val="10000"/>
              </a:srgbClr>
            </a:outerShdw>
          </a:effectLst>
        </p:spPr>
      </p:sp>
      <p:sp>
        <p:nvSpPr>
          <p:cNvPr id="150" name="Shape 30"/>
          <p:cNvSpPr/>
          <p:nvPr/>
        </p:nvSpPr>
        <p:spPr>
          <a:xfrm>
            <a:off x="6456783" y="5575087"/>
            <a:ext cx="4534678" cy="329184"/>
          </a:xfrm>
          <a:prstGeom prst="roundRect">
            <a:avLst>
              <a:gd name="adj" fmla="val 50000"/>
            </a:avLst>
          </a:prstGeom>
          <a:solidFill>
            <a:srgbClr val="0B2C6E"/>
          </a:solidFill>
          <a:ln/>
        </p:spPr>
      </p:sp>
      <p:sp>
        <p:nvSpPr>
          <p:cNvPr id="151" name="Text 31"/>
          <p:cNvSpPr/>
          <p:nvPr/>
        </p:nvSpPr>
        <p:spPr>
          <a:xfrm>
            <a:off x="6391131" y="5575087"/>
            <a:ext cx="4124469" cy="329184"/>
          </a:xfrm>
          <a:prstGeom prst="rect">
            <a:avLst/>
          </a:prstGeom>
          <a:noFill/>
          <a:ln/>
        </p:spPr>
        <p:txBody>
          <a:bodyPr wrap="square" rtlCol="0" anchor="ctr"/>
          <a:lstStyle/>
          <a:p>
            <a:pPr marL="0" indent="0" algn="ctr">
              <a:buNone/>
            </a:pPr>
            <a:r>
              <a:rPr lang="en-US" sz="1050" b="1" smtClean="0">
                <a:solidFill>
                  <a:srgbClr val="FFFFFF"/>
                </a:solidFill>
                <a:latin typeface="Calibri" pitchFamily="34" charset="0"/>
                <a:ea typeface="Calibri" pitchFamily="34" charset="-122"/>
                <a:cs typeface="Calibri" pitchFamily="34" charset="-120"/>
              </a:rPr>
              <a:t>MRP and RSN label — 1 of 10 steps flagged for confirmation</a:t>
            </a:r>
            <a:endParaRPr lang="en-US" sz="1050" dirty="0"/>
          </a:p>
        </p:txBody>
      </p:sp>
      <p:sp>
        <p:nvSpPr>
          <p:cNvPr id="152" name="Shape 32"/>
          <p:cNvSpPr/>
          <p:nvPr/>
        </p:nvSpPr>
        <p:spPr>
          <a:xfrm>
            <a:off x="10421016" y="5593375"/>
            <a:ext cx="1609344" cy="310896"/>
          </a:xfrm>
          <a:prstGeom prst="roundRect">
            <a:avLst>
              <a:gd name="adj" fmla="val 50000"/>
            </a:avLst>
          </a:prstGeom>
          <a:solidFill>
            <a:schemeClr val="accent2"/>
          </a:solidFill>
          <a:ln>
            <a:solidFill>
              <a:schemeClr val="accent2"/>
            </a:solidFill>
          </a:ln>
        </p:spPr>
      </p:sp>
      <p:sp>
        <p:nvSpPr>
          <p:cNvPr id="153" name="Text 33"/>
          <p:cNvSpPr/>
          <p:nvPr/>
        </p:nvSpPr>
        <p:spPr>
          <a:xfrm>
            <a:off x="10421016" y="5575087"/>
            <a:ext cx="1609344" cy="329184"/>
          </a:xfrm>
          <a:prstGeom prst="rect">
            <a:avLst/>
          </a:prstGeom>
          <a:noFill/>
          <a:ln/>
        </p:spPr>
        <p:txBody>
          <a:bodyPr wrap="square" rtlCol="0" anchor="ctr"/>
          <a:lstStyle/>
          <a:p>
            <a:pPr marL="0" indent="0" algn="ctr">
              <a:buNone/>
            </a:pPr>
            <a:r>
              <a:rPr lang="en-US" sz="1100" b="1" smtClean="0">
                <a:solidFill>
                  <a:schemeClr val="bg1"/>
                </a:solidFill>
                <a:latin typeface="Calibri" pitchFamily="34" charset="0"/>
                <a:cs typeface="Calibri" pitchFamily="34" charset="-120"/>
              </a:rPr>
              <a:t>AUDITABLE</a:t>
            </a:r>
            <a:endParaRPr lang="en-US" sz="1100" dirty="0">
              <a:solidFill>
                <a:schemeClr val="bg1"/>
              </a:solidFill>
            </a:endParaRPr>
          </a:p>
        </p:txBody>
      </p:sp>
      <p:sp>
        <p:nvSpPr>
          <p:cNvPr id="154" name="Text 34"/>
          <p:cNvSpPr/>
          <p:nvPr/>
        </p:nvSpPr>
        <p:spPr>
          <a:xfrm>
            <a:off x="6355080" y="1205247"/>
            <a:ext cx="5486400" cy="237744"/>
          </a:xfrm>
          <a:prstGeom prst="rect">
            <a:avLst/>
          </a:prstGeom>
          <a:noFill/>
          <a:ln/>
        </p:spPr>
        <p:txBody>
          <a:bodyPr wrap="square" rtlCol="0" anchor="ctr"/>
          <a:lstStyle/>
          <a:p>
            <a:r>
              <a:rPr lang="en-US" sz="1400" b="1" kern="0" spc="50" dirty="0">
                <a:solidFill>
                  <a:srgbClr val="0B2C6E"/>
                </a:solidFill>
                <a:latin typeface="Arial" pitchFamily="34" charset="0"/>
                <a:ea typeface="Arial" pitchFamily="34" charset="-122"/>
                <a:cs typeface="Arial" pitchFamily="34" charset="-120"/>
              </a:rPr>
              <a:t>TRACE LOG — B01O023.01 (EXCERPT)</a:t>
            </a:r>
          </a:p>
        </p:txBody>
      </p:sp>
      <p:sp>
        <p:nvSpPr>
          <p:cNvPr id="155" name="Shape 35"/>
          <p:cNvSpPr/>
          <p:nvPr/>
        </p:nvSpPr>
        <p:spPr>
          <a:xfrm>
            <a:off x="0" y="6528816"/>
            <a:ext cx="12191695" cy="329184"/>
          </a:xfrm>
          <a:prstGeom prst="rect">
            <a:avLst/>
          </a:prstGeom>
          <a:solidFill>
            <a:srgbClr val="0B2C6E"/>
          </a:solidFill>
          <a:ln/>
        </p:spPr>
      </p:sp>
      <p:sp>
        <p:nvSpPr>
          <p:cNvPr id="156" name="Text 36"/>
          <p:cNvSpPr/>
          <p:nvPr/>
        </p:nvSpPr>
        <p:spPr>
          <a:xfrm>
            <a:off x="320040" y="6528816"/>
            <a:ext cx="7315200" cy="329184"/>
          </a:xfrm>
          <a:prstGeom prst="rect">
            <a:avLst/>
          </a:prstGeom>
          <a:noFill/>
          <a:ln/>
        </p:spPr>
        <p:txBody>
          <a:bodyPr wrap="square" rtlCol="0" anchor="ctr"/>
          <a:lstStyle/>
          <a:p>
            <a:pPr marL="0" indent="0">
              <a:buNone/>
            </a:pPr>
            <a:r>
              <a:rPr lang="en-US" sz="1050" dirty="0">
                <a:solidFill>
                  <a:srgbClr val="CBD6E8"/>
                </a:solidFill>
                <a:latin typeface="Calibri" pitchFamily="34" charset="0"/>
                <a:ea typeface="Calibri" pitchFamily="34" charset="-122"/>
                <a:cs typeface="Calibri" pitchFamily="34" charset="-120"/>
              </a:rPr>
              <a:t>2026 Auto Design Label — Internal. All Rights Reserved.</a:t>
            </a:r>
            <a:endParaRPr lang="en-US" sz="1050" dirty="0"/>
          </a:p>
        </p:txBody>
      </p:sp>
      <p:sp>
        <p:nvSpPr>
          <p:cNvPr id="157" name="Text 37"/>
          <p:cNvSpPr/>
          <p:nvPr/>
        </p:nvSpPr>
        <p:spPr>
          <a:xfrm>
            <a:off x="7680960" y="6528816"/>
            <a:ext cx="3108960" cy="329184"/>
          </a:xfrm>
          <a:prstGeom prst="rect">
            <a:avLst/>
          </a:prstGeom>
          <a:noFill/>
          <a:ln/>
        </p:spPr>
        <p:txBody>
          <a:bodyPr wrap="square" rtlCol="0" anchor="ctr"/>
          <a:lstStyle/>
          <a:p>
            <a:pPr marL="0" indent="0" algn="r">
              <a:buNone/>
            </a:pPr>
            <a:endParaRPr lang="en-US" sz="950" dirty="0"/>
          </a:p>
        </p:txBody>
      </p:sp>
      <p:sp>
        <p:nvSpPr>
          <p:cNvPr id="158" name="Shape 38"/>
          <p:cNvSpPr/>
          <p:nvPr/>
        </p:nvSpPr>
        <p:spPr>
          <a:xfrm>
            <a:off x="11475720" y="6528816"/>
            <a:ext cx="713232" cy="329184"/>
          </a:xfrm>
          <a:prstGeom prst="rect">
            <a:avLst/>
          </a:prstGeom>
          <a:solidFill>
            <a:srgbClr val="D0043A"/>
          </a:solidFill>
          <a:ln/>
        </p:spPr>
      </p:sp>
      <p:sp>
        <p:nvSpPr>
          <p:cNvPr id="159" name="Text 39"/>
          <p:cNvSpPr/>
          <p:nvPr/>
        </p:nvSpPr>
        <p:spPr>
          <a:xfrm>
            <a:off x="11475720" y="6528816"/>
            <a:ext cx="713232" cy="329184"/>
          </a:xfrm>
          <a:prstGeom prst="rect">
            <a:avLst/>
          </a:prstGeom>
          <a:noFill/>
          <a:ln/>
        </p:spPr>
        <p:txBody>
          <a:bodyPr wrap="square" rtlCol="0" anchor="ctr"/>
          <a:lstStyle/>
          <a:p>
            <a:pPr marL="0" indent="0" algn="ctr">
              <a:buNone/>
            </a:pPr>
            <a:r>
              <a:rPr lang="en-US" sz="1100" b="1" smtClean="0">
                <a:solidFill>
                  <a:srgbClr val="FFFFFF"/>
                </a:solidFill>
                <a:latin typeface="Calibri" pitchFamily="34" charset="0"/>
                <a:ea typeface="Calibri" pitchFamily="34" charset="-122"/>
                <a:cs typeface="Calibri" pitchFamily="34" charset="-120"/>
              </a:rPr>
              <a:t>4/5</a:t>
            </a:r>
            <a:endParaRPr lang="en-US" sz="1100" dirty="0"/>
          </a:p>
        </p:txBody>
      </p:sp>
      <p:pic>
        <p:nvPicPr>
          <p:cNvPr id="2" name="Picture 1"/>
          <p:cNvPicPr>
            <a:picLocks noChangeAspect="1"/>
          </p:cNvPicPr>
          <p:nvPr/>
        </p:nvPicPr>
        <p:blipFill>
          <a:blip r:embed="rId4"/>
          <a:stretch>
            <a:fillRect/>
          </a:stretch>
        </p:blipFill>
        <p:spPr>
          <a:xfrm>
            <a:off x="6391131" y="1610370"/>
            <a:ext cx="5654689" cy="3773566"/>
          </a:xfrm>
          <a:prstGeom prst="rect">
            <a:avLst/>
          </a:prstGeom>
        </p:spPr>
      </p:pic>
    </p:spTree>
    <p:extLst>
      <p:ext uri="{BB962C8B-B14F-4D97-AF65-F5344CB8AC3E}">
        <p14:creationId xmlns:p14="http://schemas.microsoft.com/office/powerpoint/2010/main" val="4134296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 0"/>
          <p:cNvSpPr/>
          <p:nvPr/>
        </p:nvSpPr>
        <p:spPr>
          <a:xfrm>
            <a:off x="1508760" y="453331"/>
            <a:ext cx="7502804" cy="65836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300" b="1" kern="0" spc="30" dirty="0">
                <a:solidFill>
                  <a:srgbClr val="0B2C6E"/>
                </a:solidFill>
                <a:latin typeface="Arial" pitchFamily="34" charset="0"/>
                <a:ea typeface="Arial" pitchFamily="34" charset="-122"/>
                <a:cs typeface="Arial" pitchFamily="34" charset="-120"/>
              </a:rPr>
              <a:t>SCALE TO ALL SITES</a:t>
            </a:r>
            <a:endParaRPr lang="en-US" sz="3300" dirty="0"/>
          </a:p>
        </p:txBody>
      </p:sp>
      <p:sp>
        <p:nvSpPr>
          <p:cNvPr id="182" name="Text 6"/>
          <p:cNvSpPr/>
          <p:nvPr/>
        </p:nvSpPr>
        <p:spPr>
          <a:xfrm>
            <a:off x="525932" y="1522746"/>
            <a:ext cx="5029200"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kern="0" spc="50" dirty="0">
                <a:solidFill>
                  <a:srgbClr val="0B2C6E"/>
                </a:solidFill>
                <a:latin typeface="Arial" pitchFamily="34" charset="0"/>
                <a:ea typeface="Arial" pitchFamily="34" charset="-122"/>
                <a:cs typeface="Arial" pitchFamily="34" charset="-120"/>
              </a:rPr>
              <a:t>WHY IT </a:t>
            </a:r>
            <a:r>
              <a:rPr lang="en-US" sz="1400" b="1" kern="0" spc="50">
                <a:solidFill>
                  <a:srgbClr val="0B2C6E"/>
                </a:solidFill>
                <a:latin typeface="Arial" pitchFamily="34" charset="0"/>
                <a:ea typeface="Arial" pitchFamily="34" charset="-122"/>
                <a:cs typeface="Arial" pitchFamily="34" charset="-120"/>
              </a:rPr>
              <a:t>SCALES </a:t>
            </a:r>
            <a:r>
              <a:rPr lang="en-US" sz="1400" b="1" kern="0" spc="50" smtClean="0">
                <a:solidFill>
                  <a:srgbClr val="0B2C6E"/>
                </a:solidFill>
                <a:latin typeface="Arial" pitchFamily="34" charset="0"/>
                <a:ea typeface="Arial" pitchFamily="34" charset="-122"/>
                <a:cs typeface="Arial" pitchFamily="34" charset="-120"/>
              </a:rPr>
              <a:t>ACROSS SITES</a:t>
            </a:r>
            <a:endParaRPr lang="en-US" sz="1400" dirty="0"/>
          </a:p>
        </p:txBody>
      </p:sp>
      <p:sp>
        <p:nvSpPr>
          <p:cNvPr id="183" name="Shape 7"/>
          <p:cNvSpPr/>
          <p:nvPr/>
        </p:nvSpPr>
        <p:spPr>
          <a:xfrm>
            <a:off x="525932" y="1922472"/>
            <a:ext cx="384048" cy="384048"/>
          </a:xfrm>
          <a:prstGeom prst="ellipse">
            <a:avLst/>
          </a:prstGeom>
          <a:solidFill>
            <a:srgbClr val="0B2C6E"/>
          </a:solidFill>
          <a:ln/>
        </p:spPr>
        <p:txBody>
          <a:bodyPr/>
          <a:lstStyle/>
          <a:p>
            <a:endParaRPr lang="en-US"/>
          </a:p>
        </p:txBody>
      </p:sp>
      <p:sp>
        <p:nvSpPr>
          <p:cNvPr id="184" name="Text 8"/>
          <p:cNvSpPr/>
          <p:nvPr/>
        </p:nvSpPr>
        <p:spPr>
          <a:xfrm>
            <a:off x="525932" y="1922472"/>
            <a:ext cx="384048" cy="38404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01</a:t>
            </a:r>
            <a:endParaRPr lang="en-US" sz="1200" dirty="0"/>
          </a:p>
        </p:txBody>
      </p:sp>
      <p:sp>
        <p:nvSpPr>
          <p:cNvPr id="185" name="Text 9"/>
          <p:cNvSpPr/>
          <p:nvPr/>
        </p:nvSpPr>
        <p:spPr>
          <a:xfrm>
            <a:off x="1056284" y="1885896"/>
            <a:ext cx="5093208"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0B2C6E"/>
                </a:solidFill>
                <a:latin typeface="Calibri" pitchFamily="34" charset="0"/>
                <a:ea typeface="Calibri" pitchFamily="34" charset="-122"/>
                <a:cs typeface="Calibri" pitchFamily="34" charset="-120"/>
              </a:rPr>
              <a:t>Replicable by Design, Not Site-Specific</a:t>
            </a:r>
            <a:endParaRPr lang="en-US" sz="1400" dirty="0"/>
          </a:p>
        </p:txBody>
      </p:sp>
      <p:sp>
        <p:nvSpPr>
          <p:cNvPr id="186" name="Text 10"/>
          <p:cNvSpPr/>
          <p:nvPr/>
        </p:nvSpPr>
        <p:spPr>
          <a:xfrm>
            <a:off x="1056284" y="2178504"/>
            <a:ext cx="5093208"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LDM is a generic JSON schema — any site using the same PMD format and Codesoft 6 can load it directly, with no need to build a separate engine.</a:t>
            </a:r>
            <a:endParaRPr lang="en-US" sz="1100" dirty="0"/>
          </a:p>
        </p:txBody>
      </p:sp>
      <p:sp>
        <p:nvSpPr>
          <p:cNvPr id="187" name="Shape 11"/>
          <p:cNvSpPr/>
          <p:nvPr/>
        </p:nvSpPr>
        <p:spPr>
          <a:xfrm>
            <a:off x="525932" y="2818584"/>
            <a:ext cx="5623560" cy="0"/>
          </a:xfrm>
          <a:prstGeom prst="line">
            <a:avLst/>
          </a:prstGeom>
          <a:noFill/>
          <a:ln w="9525">
            <a:solidFill>
              <a:srgbClr val="DDE3EA"/>
            </a:solidFill>
            <a:prstDash val="solid"/>
          </a:ln>
        </p:spPr>
        <p:txBody>
          <a:bodyPr/>
          <a:lstStyle/>
          <a:p>
            <a:endParaRPr lang="en-US"/>
          </a:p>
        </p:txBody>
      </p:sp>
      <p:sp>
        <p:nvSpPr>
          <p:cNvPr id="188" name="Shape 12"/>
          <p:cNvSpPr/>
          <p:nvPr/>
        </p:nvSpPr>
        <p:spPr>
          <a:xfrm>
            <a:off x="525932" y="2946600"/>
            <a:ext cx="384048" cy="384048"/>
          </a:xfrm>
          <a:prstGeom prst="ellipse">
            <a:avLst/>
          </a:prstGeom>
          <a:solidFill>
            <a:srgbClr val="0B2C6E"/>
          </a:solidFill>
          <a:ln/>
        </p:spPr>
        <p:txBody>
          <a:bodyPr/>
          <a:lstStyle/>
          <a:p>
            <a:endParaRPr lang="en-US"/>
          </a:p>
        </p:txBody>
      </p:sp>
      <p:sp>
        <p:nvSpPr>
          <p:cNvPr id="189" name="Text 13"/>
          <p:cNvSpPr/>
          <p:nvPr/>
        </p:nvSpPr>
        <p:spPr>
          <a:xfrm>
            <a:off x="525932" y="2946600"/>
            <a:ext cx="384048" cy="38404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02</a:t>
            </a:r>
            <a:endParaRPr lang="en-US" sz="1200" dirty="0"/>
          </a:p>
        </p:txBody>
      </p:sp>
      <p:sp>
        <p:nvSpPr>
          <p:cNvPr id="190" name="Text 14"/>
          <p:cNvSpPr/>
          <p:nvPr/>
        </p:nvSpPr>
        <p:spPr>
          <a:xfrm>
            <a:off x="1056284" y="2910024"/>
            <a:ext cx="5093208"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0B2C6E"/>
                </a:solidFill>
                <a:latin typeface="Calibri" pitchFamily="34" charset="0"/>
                <a:ea typeface="Calibri" pitchFamily="34" charset="-122"/>
                <a:cs typeface="Calibri" pitchFamily="34" charset="-120"/>
              </a:rPr>
              <a:t>Shared Linter for All Standards</a:t>
            </a:r>
            <a:endParaRPr lang="en-US" sz="1400" dirty="0"/>
          </a:p>
        </p:txBody>
      </p:sp>
      <p:sp>
        <p:nvSpPr>
          <p:cNvPr id="191" name="Text 15"/>
          <p:cNvSpPr/>
          <p:nvPr/>
        </p:nvSpPr>
        <p:spPr>
          <a:xfrm>
            <a:off x="1056284" y="3202632"/>
            <a:ext cx="5093208"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Printability rules (X-dimension, QR density, boundary overflow) apply to every label type and every site — only the input data differs.</a:t>
            </a:r>
            <a:endParaRPr lang="en-US" sz="1100" dirty="0"/>
          </a:p>
        </p:txBody>
      </p:sp>
      <p:sp>
        <p:nvSpPr>
          <p:cNvPr id="192" name="Shape 16"/>
          <p:cNvSpPr/>
          <p:nvPr/>
        </p:nvSpPr>
        <p:spPr>
          <a:xfrm>
            <a:off x="525932" y="3842712"/>
            <a:ext cx="5623560" cy="0"/>
          </a:xfrm>
          <a:prstGeom prst="line">
            <a:avLst/>
          </a:prstGeom>
          <a:noFill/>
          <a:ln w="9525">
            <a:solidFill>
              <a:srgbClr val="DDE3EA"/>
            </a:solidFill>
            <a:prstDash val="solid"/>
          </a:ln>
        </p:spPr>
        <p:txBody>
          <a:bodyPr/>
          <a:lstStyle/>
          <a:p>
            <a:endParaRPr lang="en-US"/>
          </a:p>
        </p:txBody>
      </p:sp>
      <p:sp>
        <p:nvSpPr>
          <p:cNvPr id="193" name="Shape 17"/>
          <p:cNvSpPr/>
          <p:nvPr/>
        </p:nvSpPr>
        <p:spPr>
          <a:xfrm>
            <a:off x="525932" y="3970728"/>
            <a:ext cx="384048" cy="384048"/>
          </a:xfrm>
          <a:prstGeom prst="ellipse">
            <a:avLst/>
          </a:prstGeom>
          <a:solidFill>
            <a:srgbClr val="0B2C6E"/>
          </a:solidFill>
          <a:ln/>
        </p:spPr>
        <p:txBody>
          <a:bodyPr/>
          <a:lstStyle/>
          <a:p>
            <a:endParaRPr lang="en-US"/>
          </a:p>
        </p:txBody>
      </p:sp>
      <p:sp>
        <p:nvSpPr>
          <p:cNvPr id="194" name="Text 18"/>
          <p:cNvSpPr/>
          <p:nvPr/>
        </p:nvSpPr>
        <p:spPr>
          <a:xfrm>
            <a:off x="525932" y="3970728"/>
            <a:ext cx="384048" cy="38404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03</a:t>
            </a:r>
            <a:endParaRPr lang="en-US" sz="1200" dirty="0"/>
          </a:p>
        </p:txBody>
      </p:sp>
      <p:sp>
        <p:nvSpPr>
          <p:cNvPr id="195" name="Text 19"/>
          <p:cNvSpPr/>
          <p:nvPr/>
        </p:nvSpPr>
        <p:spPr>
          <a:xfrm>
            <a:off x="1056284" y="3934152"/>
            <a:ext cx="5093208"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0B2C6E"/>
                </a:solidFill>
                <a:latin typeface="Calibri" pitchFamily="34" charset="0"/>
                <a:ea typeface="Calibri" pitchFamily="34" charset="-122"/>
                <a:cs typeface="Calibri" pitchFamily="34" charset="-120"/>
              </a:rPr>
              <a:t>Hardware-Independent by Site</a:t>
            </a:r>
            <a:endParaRPr lang="en-US" sz="1400" dirty="0"/>
          </a:p>
        </p:txBody>
      </p:sp>
      <p:sp>
        <p:nvSpPr>
          <p:cNvPr id="196" name="Text 20"/>
          <p:cNvSpPr/>
          <p:nvPr/>
        </p:nvSpPr>
        <p:spPr>
          <a:xfrm>
            <a:off x="1056284" y="4226760"/>
            <a:ext cx="5093208"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ZplEmitter and PrinterClient communicate over standard ZPL via port 9100 — compatible with any Zebra printer, not locked to any site-specific model.</a:t>
            </a:r>
            <a:endParaRPr lang="en-US" sz="1100" dirty="0"/>
          </a:p>
        </p:txBody>
      </p:sp>
      <p:sp>
        <p:nvSpPr>
          <p:cNvPr id="197" name="Shape 21"/>
          <p:cNvSpPr/>
          <p:nvPr/>
        </p:nvSpPr>
        <p:spPr>
          <a:xfrm>
            <a:off x="525932" y="4866840"/>
            <a:ext cx="5623560" cy="0"/>
          </a:xfrm>
          <a:prstGeom prst="line">
            <a:avLst/>
          </a:prstGeom>
          <a:noFill/>
          <a:ln w="9525">
            <a:solidFill>
              <a:srgbClr val="DDE3EA"/>
            </a:solidFill>
            <a:prstDash val="solid"/>
          </a:ln>
        </p:spPr>
        <p:txBody>
          <a:bodyPr/>
          <a:lstStyle/>
          <a:p>
            <a:endParaRPr lang="en-US"/>
          </a:p>
        </p:txBody>
      </p:sp>
      <p:sp>
        <p:nvSpPr>
          <p:cNvPr id="198" name="Shape 22"/>
          <p:cNvSpPr/>
          <p:nvPr/>
        </p:nvSpPr>
        <p:spPr>
          <a:xfrm>
            <a:off x="525932" y="4994856"/>
            <a:ext cx="384048" cy="384048"/>
          </a:xfrm>
          <a:prstGeom prst="ellipse">
            <a:avLst/>
          </a:prstGeom>
          <a:solidFill>
            <a:srgbClr val="0B2C6E"/>
          </a:solidFill>
          <a:ln/>
        </p:spPr>
        <p:txBody>
          <a:bodyPr/>
          <a:lstStyle/>
          <a:p>
            <a:endParaRPr lang="en-US"/>
          </a:p>
        </p:txBody>
      </p:sp>
      <p:sp>
        <p:nvSpPr>
          <p:cNvPr id="199" name="Text 23"/>
          <p:cNvSpPr/>
          <p:nvPr/>
        </p:nvSpPr>
        <p:spPr>
          <a:xfrm>
            <a:off x="525932" y="4994856"/>
            <a:ext cx="384048" cy="38404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dirty="0">
                <a:solidFill>
                  <a:srgbClr val="FFFFFF"/>
                </a:solidFill>
                <a:latin typeface="Courier New" pitchFamily="34" charset="0"/>
                <a:ea typeface="Courier New" pitchFamily="34" charset="-122"/>
                <a:cs typeface="Courier New" pitchFamily="34" charset="-120"/>
              </a:rPr>
              <a:t>04</a:t>
            </a:r>
            <a:endParaRPr lang="en-US" sz="1200" dirty="0"/>
          </a:p>
        </p:txBody>
      </p:sp>
      <p:sp>
        <p:nvSpPr>
          <p:cNvPr id="200" name="Text 24"/>
          <p:cNvSpPr/>
          <p:nvPr/>
        </p:nvSpPr>
        <p:spPr>
          <a:xfrm>
            <a:off x="1056284" y="4958280"/>
            <a:ext cx="5093208" cy="29260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400" b="1" dirty="0">
                <a:solidFill>
                  <a:srgbClr val="0B2C6E"/>
                </a:solidFill>
                <a:latin typeface="Calibri" pitchFamily="34" charset="0"/>
                <a:ea typeface="Calibri" pitchFamily="34" charset="-122"/>
                <a:cs typeface="Calibri" pitchFamily="34" charset="-120"/>
              </a:rPr>
              <a:t>Incremental Rollout, Zero Disruption</a:t>
            </a:r>
            <a:endParaRPr lang="en-US" sz="1400" dirty="0"/>
          </a:p>
        </p:txBody>
      </p:sp>
      <p:sp>
        <p:nvSpPr>
          <p:cNvPr id="201" name="Text 25"/>
          <p:cNvSpPr/>
          <p:nvPr/>
        </p:nvSpPr>
        <p:spPr>
          <a:xfrm>
            <a:off x="1056284" y="5250888"/>
            <a:ext cx="5093208" cy="5486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2000"/>
              </a:lnSpc>
              <a:buNone/>
            </a:pPr>
            <a:r>
              <a:rPr lang="en-US" sz="1100" dirty="0">
                <a:solidFill>
                  <a:srgbClr val="3A4552"/>
                </a:solidFill>
                <a:latin typeface="Calibri" pitchFamily="34" charset="0"/>
                <a:ea typeface="Calibri" pitchFamily="34" charset="-122"/>
                <a:cs typeface="Calibri" pitchFamily="34" charset="-120"/>
              </a:rPr>
              <a:t>Each site converts independently at its own pace — Label Room continues running CS6 in parallel until stability is confirmed.</a:t>
            </a:r>
            <a:endParaRPr lang="en-US" sz="1100" dirty="0"/>
          </a:p>
        </p:txBody>
      </p:sp>
      <p:sp>
        <p:nvSpPr>
          <p:cNvPr id="202" name="Text 26"/>
          <p:cNvSpPr/>
          <p:nvPr/>
        </p:nvSpPr>
        <p:spPr>
          <a:xfrm>
            <a:off x="68732" y="0"/>
            <a:ext cx="91440" cy="9144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dirty="0"/>
          </a:p>
        </p:txBody>
      </p:sp>
      <p:sp>
        <p:nvSpPr>
          <p:cNvPr id="203" name="Text 27"/>
          <p:cNvSpPr/>
          <p:nvPr/>
        </p:nvSpPr>
        <p:spPr>
          <a:xfrm>
            <a:off x="6345431" y="1544528"/>
            <a:ext cx="5394960" cy="23774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kern="0" spc="50" dirty="0">
                <a:solidFill>
                  <a:srgbClr val="0B2C6E"/>
                </a:solidFill>
                <a:latin typeface="Arial" pitchFamily="34" charset="0"/>
                <a:ea typeface="Arial" pitchFamily="34" charset="-122"/>
                <a:cs typeface="Arial" pitchFamily="34" charset="-120"/>
              </a:rPr>
              <a:t>REQUIREMENTS FOR SITE ADOPTION</a:t>
            </a:r>
          </a:p>
        </p:txBody>
      </p:sp>
      <p:sp>
        <p:nvSpPr>
          <p:cNvPr id="204" name="Shape 28"/>
          <p:cNvSpPr/>
          <p:nvPr/>
        </p:nvSpPr>
        <p:spPr>
          <a:xfrm>
            <a:off x="6423812" y="1871101"/>
            <a:ext cx="5394960" cy="3218688"/>
          </a:xfrm>
          <a:prstGeom prst="roundRect">
            <a:avLst>
              <a:gd name="adj" fmla="val 2349"/>
            </a:avLst>
          </a:prstGeom>
          <a:solidFill>
            <a:srgbClr val="FFFFFF"/>
          </a:solidFill>
          <a:ln w="12700">
            <a:solidFill>
              <a:srgbClr val="DDE3EA"/>
            </a:solidFill>
            <a:prstDash val="solid"/>
          </a:ln>
          <a:effectLst>
            <a:outerShdw blurRad="101600" dist="25400" dir="5400000" algn="bl" rotWithShape="0">
              <a:srgbClr val="0A0E12">
                <a:alpha val="10000"/>
              </a:srgbClr>
            </a:outerShdw>
          </a:effectLst>
        </p:spPr>
        <p:txBody>
          <a:bodyPr/>
          <a:lstStyle/>
          <a:p>
            <a:endParaRPr lang="en-US"/>
          </a:p>
        </p:txBody>
      </p:sp>
      <p:sp>
        <p:nvSpPr>
          <p:cNvPr id="205" name="Shape 29"/>
          <p:cNvSpPr/>
          <p:nvPr/>
        </p:nvSpPr>
        <p:spPr>
          <a:xfrm>
            <a:off x="6423812" y="1871101"/>
            <a:ext cx="5394960" cy="457200"/>
          </a:xfrm>
          <a:prstGeom prst="rect">
            <a:avLst/>
          </a:prstGeom>
          <a:solidFill>
            <a:srgbClr val="0B2C6E"/>
          </a:solidFill>
          <a:ln/>
        </p:spPr>
        <p:txBody>
          <a:bodyPr/>
          <a:lstStyle/>
          <a:p>
            <a:endParaRPr lang="en-US"/>
          </a:p>
        </p:txBody>
      </p:sp>
      <p:sp>
        <p:nvSpPr>
          <p:cNvPr id="206" name="Text 30"/>
          <p:cNvSpPr/>
          <p:nvPr/>
        </p:nvSpPr>
        <p:spPr>
          <a:xfrm>
            <a:off x="6652412" y="1871101"/>
            <a:ext cx="356616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50" b="1" dirty="0">
                <a:solidFill>
                  <a:srgbClr val="FFFFFF"/>
                </a:solidFill>
                <a:latin typeface="Calibri" pitchFamily="34" charset="0"/>
                <a:ea typeface="Calibri" pitchFamily="34" charset="-122"/>
                <a:cs typeface="Calibri" pitchFamily="34" charset="-120"/>
              </a:rPr>
              <a:t>Requirement</a:t>
            </a:r>
            <a:endParaRPr lang="en-US" sz="1150" dirty="0"/>
          </a:p>
        </p:txBody>
      </p:sp>
      <p:sp>
        <p:nvSpPr>
          <p:cNvPr id="207" name="Text 31"/>
          <p:cNvSpPr/>
          <p:nvPr/>
        </p:nvSpPr>
        <p:spPr>
          <a:xfrm>
            <a:off x="10081412" y="1871101"/>
            <a:ext cx="155448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50" b="1" dirty="0">
                <a:solidFill>
                  <a:srgbClr val="FFFFFF"/>
                </a:solidFill>
                <a:latin typeface="Calibri" pitchFamily="34" charset="0"/>
                <a:ea typeface="Calibri" pitchFamily="34" charset="-122"/>
                <a:cs typeface="Calibri" pitchFamily="34" charset="-120"/>
              </a:rPr>
              <a:t>Priority</a:t>
            </a:r>
            <a:endParaRPr lang="en-US" sz="1150" dirty="0"/>
          </a:p>
        </p:txBody>
      </p:sp>
      <p:sp>
        <p:nvSpPr>
          <p:cNvPr id="208" name="Text 32"/>
          <p:cNvSpPr/>
          <p:nvPr/>
        </p:nvSpPr>
        <p:spPr>
          <a:xfrm>
            <a:off x="6652412" y="2328301"/>
            <a:ext cx="3383280" cy="56692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100" dirty="0">
                <a:solidFill>
                  <a:srgbClr val="16202B"/>
                </a:solidFill>
                <a:latin typeface="Calibri" pitchFamily="34" charset="0"/>
                <a:ea typeface="Calibri" pitchFamily="34" charset="-122"/>
                <a:cs typeface="Calibri" pitchFamily="34" charset="-120"/>
              </a:rPr>
              <a:t>Label documents in PMD (PDF) format</a:t>
            </a:r>
            <a:endParaRPr lang="en-US" sz="1100" dirty="0"/>
          </a:p>
        </p:txBody>
      </p:sp>
      <p:sp>
        <p:nvSpPr>
          <p:cNvPr id="209" name="Shape 33"/>
          <p:cNvSpPr/>
          <p:nvPr/>
        </p:nvSpPr>
        <p:spPr>
          <a:xfrm>
            <a:off x="10218572" y="2456317"/>
            <a:ext cx="1371600" cy="310896"/>
          </a:xfrm>
          <a:prstGeom prst="roundRect">
            <a:avLst>
              <a:gd name="adj" fmla="val 50000"/>
            </a:avLst>
          </a:prstGeom>
          <a:solidFill>
            <a:srgbClr val="E9EFFB"/>
          </a:solidFill>
          <a:ln/>
        </p:spPr>
        <p:txBody>
          <a:bodyPr/>
          <a:lstStyle/>
          <a:p>
            <a:endParaRPr lang="en-US"/>
          </a:p>
        </p:txBody>
      </p:sp>
      <p:sp>
        <p:nvSpPr>
          <p:cNvPr id="210" name="Text 34"/>
          <p:cNvSpPr/>
          <p:nvPr/>
        </p:nvSpPr>
        <p:spPr>
          <a:xfrm>
            <a:off x="10218572" y="2456317"/>
            <a:ext cx="1371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b="1" dirty="0">
                <a:solidFill>
                  <a:srgbClr val="0B2C6E"/>
                </a:solidFill>
                <a:latin typeface="Calibri" pitchFamily="34" charset="0"/>
                <a:ea typeface="Calibri" pitchFamily="34" charset="-122"/>
                <a:cs typeface="Calibri" pitchFamily="34" charset="-120"/>
              </a:rPr>
              <a:t>Required</a:t>
            </a:r>
            <a:endParaRPr lang="en-US" sz="950" dirty="0"/>
          </a:p>
        </p:txBody>
      </p:sp>
      <p:sp>
        <p:nvSpPr>
          <p:cNvPr id="211" name="Shape 35"/>
          <p:cNvSpPr/>
          <p:nvPr/>
        </p:nvSpPr>
        <p:spPr>
          <a:xfrm>
            <a:off x="6423812" y="2895229"/>
            <a:ext cx="5394960" cy="566928"/>
          </a:xfrm>
          <a:prstGeom prst="rect">
            <a:avLst/>
          </a:prstGeom>
          <a:solidFill>
            <a:srgbClr val="F6F8FB"/>
          </a:solidFill>
          <a:ln/>
        </p:spPr>
        <p:txBody>
          <a:bodyPr/>
          <a:lstStyle/>
          <a:p>
            <a:endParaRPr lang="en-US"/>
          </a:p>
        </p:txBody>
      </p:sp>
      <p:sp>
        <p:nvSpPr>
          <p:cNvPr id="212" name="Text 36"/>
          <p:cNvSpPr/>
          <p:nvPr/>
        </p:nvSpPr>
        <p:spPr>
          <a:xfrm>
            <a:off x="6652412" y="2895229"/>
            <a:ext cx="3383280" cy="56692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100" dirty="0">
                <a:solidFill>
                  <a:srgbClr val="16202B"/>
                </a:solidFill>
                <a:latin typeface="Calibri" pitchFamily="34" charset="0"/>
                <a:ea typeface="Calibri" pitchFamily="34" charset="-122"/>
                <a:cs typeface="Calibri" pitchFamily="34" charset="-120"/>
              </a:rPr>
              <a:t>Currently using Codesoft 6 + Zebra printers</a:t>
            </a:r>
            <a:endParaRPr lang="en-US" sz="1100" dirty="0"/>
          </a:p>
        </p:txBody>
      </p:sp>
      <p:sp>
        <p:nvSpPr>
          <p:cNvPr id="213" name="Shape 37"/>
          <p:cNvSpPr/>
          <p:nvPr/>
        </p:nvSpPr>
        <p:spPr>
          <a:xfrm>
            <a:off x="10218572" y="3023245"/>
            <a:ext cx="1371600" cy="310896"/>
          </a:xfrm>
          <a:prstGeom prst="roundRect">
            <a:avLst>
              <a:gd name="adj" fmla="val 50000"/>
            </a:avLst>
          </a:prstGeom>
          <a:solidFill>
            <a:srgbClr val="E9EFFB"/>
          </a:solidFill>
          <a:ln/>
        </p:spPr>
        <p:txBody>
          <a:bodyPr/>
          <a:lstStyle/>
          <a:p>
            <a:endParaRPr lang="en-US"/>
          </a:p>
        </p:txBody>
      </p:sp>
      <p:sp>
        <p:nvSpPr>
          <p:cNvPr id="214" name="Text 38"/>
          <p:cNvSpPr/>
          <p:nvPr/>
        </p:nvSpPr>
        <p:spPr>
          <a:xfrm>
            <a:off x="10218572" y="3023245"/>
            <a:ext cx="1371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b="1" dirty="0">
                <a:solidFill>
                  <a:srgbClr val="0B2C6E"/>
                </a:solidFill>
                <a:latin typeface="Calibri" pitchFamily="34" charset="0"/>
                <a:ea typeface="Calibri" pitchFamily="34" charset="-122"/>
                <a:cs typeface="Calibri" pitchFamily="34" charset="-120"/>
              </a:rPr>
              <a:t>Required</a:t>
            </a:r>
            <a:endParaRPr lang="en-US" sz="950" dirty="0"/>
          </a:p>
        </p:txBody>
      </p:sp>
      <p:sp>
        <p:nvSpPr>
          <p:cNvPr id="215" name="Text 39"/>
          <p:cNvSpPr/>
          <p:nvPr/>
        </p:nvSpPr>
        <p:spPr>
          <a:xfrm>
            <a:off x="6652412" y="3462157"/>
            <a:ext cx="3383280" cy="56692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100" dirty="0">
                <a:solidFill>
                  <a:srgbClr val="16202B"/>
                </a:solidFill>
                <a:latin typeface="Calibri" pitchFamily="34" charset="0"/>
                <a:ea typeface="Calibri" pitchFamily="34" charset="-122"/>
                <a:cs typeface="Calibri" pitchFamily="34" charset="-120"/>
              </a:rPr>
              <a:t>A representative document sample for initial LDM validation</a:t>
            </a:r>
            <a:endParaRPr lang="en-US" sz="1100" dirty="0"/>
          </a:p>
        </p:txBody>
      </p:sp>
      <p:sp>
        <p:nvSpPr>
          <p:cNvPr id="216" name="Shape 40"/>
          <p:cNvSpPr/>
          <p:nvPr/>
        </p:nvSpPr>
        <p:spPr>
          <a:xfrm>
            <a:off x="10218572" y="3590173"/>
            <a:ext cx="1371600" cy="310896"/>
          </a:xfrm>
          <a:prstGeom prst="roundRect">
            <a:avLst>
              <a:gd name="adj" fmla="val 50000"/>
            </a:avLst>
          </a:prstGeom>
          <a:solidFill>
            <a:srgbClr val="E9EFFB"/>
          </a:solidFill>
          <a:ln/>
        </p:spPr>
        <p:txBody>
          <a:bodyPr/>
          <a:lstStyle/>
          <a:p>
            <a:endParaRPr lang="en-US"/>
          </a:p>
        </p:txBody>
      </p:sp>
      <p:sp>
        <p:nvSpPr>
          <p:cNvPr id="217" name="Text 41"/>
          <p:cNvSpPr/>
          <p:nvPr/>
        </p:nvSpPr>
        <p:spPr>
          <a:xfrm>
            <a:off x="10218572" y="3590173"/>
            <a:ext cx="1371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b="1" dirty="0">
                <a:solidFill>
                  <a:srgbClr val="0B2C6E"/>
                </a:solidFill>
                <a:latin typeface="Calibri" pitchFamily="34" charset="0"/>
                <a:ea typeface="Calibri" pitchFamily="34" charset="-122"/>
                <a:cs typeface="Calibri" pitchFamily="34" charset="-120"/>
              </a:rPr>
              <a:t>Required</a:t>
            </a:r>
            <a:endParaRPr lang="en-US" sz="950" dirty="0"/>
          </a:p>
        </p:txBody>
      </p:sp>
      <p:sp>
        <p:nvSpPr>
          <p:cNvPr id="218" name="Shape 42"/>
          <p:cNvSpPr/>
          <p:nvPr/>
        </p:nvSpPr>
        <p:spPr>
          <a:xfrm>
            <a:off x="6423812" y="4029085"/>
            <a:ext cx="5394960" cy="566928"/>
          </a:xfrm>
          <a:prstGeom prst="rect">
            <a:avLst/>
          </a:prstGeom>
          <a:solidFill>
            <a:srgbClr val="F6F8FB"/>
          </a:solidFill>
          <a:ln/>
        </p:spPr>
        <p:txBody>
          <a:bodyPr/>
          <a:lstStyle/>
          <a:p>
            <a:endParaRPr lang="en-US"/>
          </a:p>
        </p:txBody>
      </p:sp>
      <p:sp>
        <p:nvSpPr>
          <p:cNvPr id="219" name="Text 43"/>
          <p:cNvSpPr/>
          <p:nvPr/>
        </p:nvSpPr>
        <p:spPr>
          <a:xfrm>
            <a:off x="6652412" y="4029085"/>
            <a:ext cx="3383280" cy="56692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100" dirty="0">
                <a:solidFill>
                  <a:srgbClr val="16202B"/>
                </a:solidFill>
                <a:latin typeface="Calibri" pitchFamily="34" charset="0"/>
                <a:ea typeface="Calibri" pitchFamily="34" charset="-122"/>
                <a:cs typeface="Calibri" pitchFamily="34" charset="-120"/>
              </a:rPr>
              <a:t>Site-specific font files (if different from JioType)</a:t>
            </a:r>
            <a:endParaRPr lang="en-US" sz="1100" dirty="0"/>
          </a:p>
        </p:txBody>
      </p:sp>
      <p:sp>
        <p:nvSpPr>
          <p:cNvPr id="220" name="Shape 44"/>
          <p:cNvSpPr/>
          <p:nvPr/>
        </p:nvSpPr>
        <p:spPr>
          <a:xfrm>
            <a:off x="10218572" y="4157101"/>
            <a:ext cx="1371600" cy="310896"/>
          </a:xfrm>
          <a:prstGeom prst="roundRect">
            <a:avLst>
              <a:gd name="adj" fmla="val 50000"/>
            </a:avLst>
          </a:prstGeom>
          <a:solidFill>
            <a:srgbClr val="EEF1F3"/>
          </a:solidFill>
          <a:ln/>
        </p:spPr>
        <p:txBody>
          <a:bodyPr/>
          <a:lstStyle/>
          <a:p>
            <a:endParaRPr lang="en-US"/>
          </a:p>
        </p:txBody>
      </p:sp>
      <p:sp>
        <p:nvSpPr>
          <p:cNvPr id="221" name="Text 45"/>
          <p:cNvSpPr/>
          <p:nvPr/>
        </p:nvSpPr>
        <p:spPr>
          <a:xfrm>
            <a:off x="10218572" y="4157101"/>
            <a:ext cx="1371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b="1" dirty="0">
                <a:solidFill>
                  <a:srgbClr val="667180"/>
                </a:solidFill>
                <a:latin typeface="Calibri" pitchFamily="34" charset="0"/>
                <a:ea typeface="Calibri" pitchFamily="34" charset="-122"/>
                <a:cs typeface="Calibri" pitchFamily="34" charset="-120"/>
              </a:rPr>
              <a:t>Optional — Phase 2</a:t>
            </a:r>
            <a:endParaRPr lang="en-US" sz="950" dirty="0"/>
          </a:p>
        </p:txBody>
      </p:sp>
      <p:sp>
        <p:nvSpPr>
          <p:cNvPr id="300" name="Text Row5"/>
          <p:cNvSpPr/>
          <p:nvPr/>
        </p:nvSpPr>
        <p:spPr>
          <a:xfrm>
            <a:off x="6652412" y="4596013"/>
            <a:ext cx="3383280" cy="49377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10000"/>
              </a:lnSpc>
              <a:buNone/>
            </a:pPr>
            <a:r>
              <a:rPr lang="en-US" sz="1100" dirty="0">
                <a:solidFill>
                  <a:srgbClr val="16202B"/>
                </a:solidFill>
                <a:latin typeface="Calibri" pitchFamily="34" charset="0"/>
                <a:ea typeface="Calibri" pitchFamily="34" charset="-122"/>
                <a:cs typeface="Calibri" pitchFamily="34" charset="-120"/>
              </a:rPr>
              <a:t>Event-driven trigger — auto-start on new PMD release</a:t>
            </a:r>
            <a:endParaRPr lang="en-US" sz="1100" dirty="0"/>
          </a:p>
        </p:txBody>
      </p:sp>
      <p:sp>
        <p:nvSpPr>
          <p:cNvPr id="301" name="Shape Row5Pill"/>
          <p:cNvSpPr/>
          <p:nvPr/>
        </p:nvSpPr>
        <p:spPr>
          <a:xfrm>
            <a:off x="10218572" y="4687453"/>
            <a:ext cx="1371600" cy="310896"/>
          </a:xfrm>
          <a:prstGeom prst="roundRect">
            <a:avLst>
              <a:gd name="adj" fmla="val 50000"/>
            </a:avLst>
          </a:prstGeom>
          <a:solidFill>
            <a:srgbClr val="EEF1F3"/>
          </a:solidFill>
          <a:ln/>
        </p:spPr>
        <p:txBody>
          <a:bodyPr/>
          <a:lstStyle/>
          <a:p>
            <a:endParaRPr lang="en-US"/>
          </a:p>
        </p:txBody>
      </p:sp>
      <p:sp>
        <p:nvSpPr>
          <p:cNvPr id="302" name="Text Row5Pill"/>
          <p:cNvSpPr/>
          <p:nvPr/>
        </p:nvSpPr>
        <p:spPr>
          <a:xfrm>
            <a:off x="10218572" y="4687453"/>
            <a:ext cx="1371600" cy="310896"/>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b="1" dirty="0">
                <a:solidFill>
                  <a:srgbClr val="667180"/>
                </a:solidFill>
                <a:latin typeface="Calibri" pitchFamily="34" charset="0"/>
                <a:ea typeface="Calibri" pitchFamily="34" charset="-122"/>
                <a:cs typeface="Calibri" pitchFamily="34" charset="-120"/>
              </a:rPr>
              <a:t>Phase 2</a:t>
            </a:r>
            <a:endParaRPr lang="en-US" sz="950" dirty="0"/>
          </a:p>
        </p:txBody>
      </p:sp>
      <p:sp>
        <p:nvSpPr>
          <p:cNvPr id="222" name="Shape 46"/>
          <p:cNvSpPr/>
          <p:nvPr/>
        </p:nvSpPr>
        <p:spPr>
          <a:xfrm>
            <a:off x="6423812" y="5318388"/>
            <a:ext cx="5394960" cy="1014983"/>
          </a:xfrm>
          <a:prstGeom prst="roundRect">
            <a:avLst>
              <a:gd name="adj" fmla="val 7368"/>
            </a:avLst>
          </a:prstGeom>
          <a:solidFill>
            <a:srgbClr val="E9EFFB"/>
          </a:solidFill>
          <a:ln w="12700">
            <a:solidFill>
              <a:srgbClr val="C7D6F2"/>
            </a:solidFill>
            <a:prstDash val="solid"/>
          </a:ln>
        </p:spPr>
        <p:txBody>
          <a:bodyPr/>
          <a:lstStyle/>
          <a:p>
            <a:endParaRPr lang="en-US"/>
          </a:p>
        </p:txBody>
      </p:sp>
      <p:pic>
        <p:nvPicPr>
          <p:cNvPr id="223" name="Image 1" descr="/home/claude/deck2/assets/ic-bulb.png"/>
          <p:cNvPicPr>
            <a:picLocks noChangeAspect="1"/>
          </p:cNvPicPr>
          <p:nvPr/>
        </p:nvPicPr>
        <p:blipFill>
          <a:blip r:embed="rId3"/>
          <a:stretch>
            <a:fillRect/>
          </a:stretch>
        </p:blipFill>
        <p:spPr>
          <a:xfrm>
            <a:off x="6624980" y="5537845"/>
            <a:ext cx="384048" cy="384048"/>
          </a:xfrm>
          <a:prstGeom prst="rect">
            <a:avLst/>
          </a:prstGeom>
        </p:spPr>
      </p:pic>
      <p:sp>
        <p:nvSpPr>
          <p:cNvPr id="224" name="Text 47"/>
          <p:cNvSpPr/>
          <p:nvPr/>
        </p:nvSpPr>
        <p:spPr>
          <a:xfrm>
            <a:off x="7155332" y="5428117"/>
            <a:ext cx="4480560" cy="23774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50" dirty="0">
                <a:solidFill>
                  <a:srgbClr val="0B2C6E"/>
                </a:solidFill>
                <a:latin typeface="Arial" pitchFamily="34" charset="0"/>
                <a:ea typeface="Arial" pitchFamily="34" charset="-122"/>
                <a:cs typeface="Arial" pitchFamily="34" charset="-120"/>
              </a:rPr>
              <a:t>REQUEST</a:t>
            </a:r>
            <a:endParaRPr lang="en-US" sz="1200" dirty="0"/>
          </a:p>
        </p:txBody>
      </p:sp>
      <p:sp>
        <p:nvSpPr>
          <p:cNvPr id="225" name="Text 48"/>
          <p:cNvSpPr/>
          <p:nvPr/>
        </p:nvSpPr>
        <p:spPr>
          <a:xfrm>
            <a:off x="7155332" y="5709088"/>
            <a:ext cx="4663440" cy="45720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100" dirty="0">
                <a:solidFill>
                  <a:srgbClr val="3A4552"/>
                </a:solidFill>
                <a:latin typeface="Calibri" pitchFamily="34" charset="0"/>
                <a:ea typeface="Calibri" pitchFamily="34" charset="-122"/>
                <a:cs typeface="Calibri" pitchFamily="34" charset="-120"/>
              </a:rPr>
              <a:t>Approve Phase 2 — event-driven trigger, run-level audit log, and Codesoft 6 license cost-down. And each related site to send one sample PMD this week.</a:t>
            </a:r>
            <a:endParaRPr lang="en-US" sz="1100" dirty="0"/>
          </a:p>
        </p:txBody>
      </p:sp>
      <p:sp>
        <p:nvSpPr>
          <p:cNvPr id="226" name="Shape 49"/>
          <p:cNvSpPr/>
          <p:nvPr/>
        </p:nvSpPr>
        <p:spPr>
          <a:xfrm>
            <a:off x="-13564" y="6528816"/>
            <a:ext cx="12191695" cy="329184"/>
          </a:xfrm>
          <a:prstGeom prst="rect">
            <a:avLst/>
          </a:prstGeom>
          <a:solidFill>
            <a:srgbClr val="0B2C6E"/>
          </a:solidFill>
          <a:ln/>
        </p:spPr>
        <p:txBody>
          <a:bodyPr/>
          <a:lstStyle/>
          <a:p>
            <a:endParaRPr lang="en-US"/>
          </a:p>
        </p:txBody>
      </p:sp>
      <p:sp>
        <p:nvSpPr>
          <p:cNvPr id="227" name="Text 50"/>
          <p:cNvSpPr/>
          <p:nvPr/>
        </p:nvSpPr>
        <p:spPr>
          <a:xfrm>
            <a:off x="306476" y="6528816"/>
            <a:ext cx="7315200" cy="32918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dirty="0">
                <a:solidFill>
                  <a:srgbClr val="CBD6E8"/>
                </a:solidFill>
                <a:latin typeface="Calibri" pitchFamily="34" charset="0"/>
                <a:ea typeface="Calibri" pitchFamily="34" charset="-122"/>
                <a:cs typeface="Calibri" pitchFamily="34" charset="-120"/>
              </a:rPr>
              <a:t>2026 Auto Design Label — Internal. All Rights Reserved.</a:t>
            </a:r>
            <a:endParaRPr lang="en-US" sz="1050" dirty="0"/>
          </a:p>
        </p:txBody>
      </p:sp>
      <p:sp>
        <p:nvSpPr>
          <p:cNvPr id="228" name="Text 51"/>
          <p:cNvSpPr/>
          <p:nvPr/>
        </p:nvSpPr>
        <p:spPr>
          <a:xfrm>
            <a:off x="7667396" y="6528816"/>
            <a:ext cx="3108960" cy="32918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r">
              <a:buNone/>
            </a:pPr>
            <a:r>
              <a:rPr lang="en-US" sz="950" b="1" dirty="0">
                <a:solidFill>
                  <a:srgbClr val="9FB3D0"/>
                </a:solidFill>
                <a:latin typeface="Calibri" pitchFamily="34" charset="0"/>
                <a:ea typeface="Calibri" pitchFamily="34" charset="-122"/>
                <a:cs typeface="Calibri" pitchFamily="34" charset="-120"/>
              </a:rPr>
              <a:t>PHASE 1 — IN PROGRESS</a:t>
            </a:r>
            <a:endParaRPr lang="en-US" sz="950" dirty="0"/>
          </a:p>
        </p:txBody>
      </p:sp>
      <p:sp>
        <p:nvSpPr>
          <p:cNvPr id="229" name="Shape 52"/>
          <p:cNvSpPr/>
          <p:nvPr/>
        </p:nvSpPr>
        <p:spPr>
          <a:xfrm>
            <a:off x="11462155" y="6528816"/>
            <a:ext cx="761695" cy="329184"/>
          </a:xfrm>
          <a:prstGeom prst="rect">
            <a:avLst/>
          </a:prstGeom>
          <a:solidFill>
            <a:srgbClr val="D0043A"/>
          </a:solidFill>
          <a:ln/>
        </p:spPr>
        <p:txBody>
          <a:bodyPr/>
          <a:lstStyle/>
          <a:p>
            <a:endParaRPr lang="en-US"/>
          </a:p>
        </p:txBody>
      </p:sp>
      <p:sp>
        <p:nvSpPr>
          <p:cNvPr id="230" name="Text 53"/>
          <p:cNvSpPr/>
          <p:nvPr/>
        </p:nvSpPr>
        <p:spPr>
          <a:xfrm>
            <a:off x="11462156" y="6528816"/>
            <a:ext cx="713232" cy="329184"/>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100" b="1" smtClean="0">
                <a:solidFill>
                  <a:srgbClr val="FFFFFF"/>
                </a:solidFill>
                <a:latin typeface="Calibri" pitchFamily="34" charset="0"/>
                <a:ea typeface="Calibri" pitchFamily="34" charset="-122"/>
                <a:cs typeface="Calibri" pitchFamily="34" charset="-120"/>
              </a:rPr>
              <a:t>5/5</a:t>
            </a:r>
            <a:endParaRPr lang="en-US" sz="1100" dirty="0"/>
          </a:p>
        </p:txBody>
      </p:sp>
      <p:sp>
        <p:nvSpPr>
          <p:cNvPr id="231" name="Shape 2"/>
          <p:cNvSpPr/>
          <p:nvPr/>
        </p:nvSpPr>
        <p:spPr>
          <a:xfrm>
            <a:off x="9818551" y="418863"/>
            <a:ext cx="365760" cy="365760"/>
          </a:xfrm>
          <a:prstGeom prst="roundRect">
            <a:avLst>
              <a:gd name="adj" fmla="val 20000"/>
            </a:avLst>
          </a:prstGeom>
          <a:solidFill>
            <a:srgbClr val="E8600F"/>
          </a:solidFill>
          <a:ln/>
        </p:spPr>
      </p:sp>
      <p:sp>
        <p:nvSpPr>
          <p:cNvPr id="232" name="Text 3"/>
          <p:cNvSpPr/>
          <p:nvPr/>
        </p:nvSpPr>
        <p:spPr>
          <a:xfrm>
            <a:off x="9818551" y="400575"/>
            <a:ext cx="365760" cy="36576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A</a:t>
            </a:r>
            <a:endParaRPr lang="en-US" sz="1500" dirty="0"/>
          </a:p>
        </p:txBody>
      </p:sp>
      <p:sp>
        <p:nvSpPr>
          <p:cNvPr id="233" name="Text 4"/>
          <p:cNvSpPr/>
          <p:nvPr/>
        </p:nvSpPr>
        <p:spPr>
          <a:xfrm>
            <a:off x="9214338" y="674895"/>
            <a:ext cx="1048944" cy="365760"/>
          </a:xfrm>
          <a:prstGeom prst="rect">
            <a:avLst/>
          </a:prstGeom>
          <a:noFill/>
          <a:ln/>
        </p:spPr>
        <p:txBody>
          <a:bodyPr wrap="square" rtlCol="0" anchor="ctr"/>
          <a:lstStyle/>
          <a:p>
            <a:pPr algn="r">
              <a:lnSpc>
                <a:spcPct val="120000"/>
              </a:lnSpc>
            </a:pPr>
            <a:r>
              <a:rPr lang="en-US" sz="1000">
                <a:solidFill>
                  <a:srgbClr val="667180"/>
                </a:solidFill>
                <a:latin typeface="Calibri" pitchFamily="34" charset="0"/>
                <a:ea typeface="Calibri" pitchFamily="34" charset="-122"/>
                <a:cs typeface="Calibri" pitchFamily="34" charset="-120"/>
              </a:rPr>
              <a:t>CNSBG-Billy Su</a:t>
            </a:r>
            <a:endParaRPr lang="en-US" sz="1000" dirty="0"/>
          </a:p>
        </p:txBody>
      </p:sp>
    </p:spTree>
    <p:extLst>
      <p:ext uri="{BB962C8B-B14F-4D97-AF65-F5344CB8AC3E}">
        <p14:creationId xmlns:p14="http://schemas.microsoft.com/office/powerpoint/2010/main" val="18393544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majorFont>
      <a:minorFont>
        <a:latin typeface="Arial"/>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majorFont>
      <a:minorFont>
        <a:latin typeface="Arial"/>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majorFont>
      <a:minorFont>
        <a:latin typeface="Arial"/>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4ccf059-af5d-4b92-932d-3690a1231c55}" enabled="1" method="Standard" siteId="{cb3d8dcd-2ed2-4bad-89a5-e0a7195fb643}" contentBits="0" removed="0"/>
</clbl:labelList>
</file>

<file path=docProps/app.xml><?xml version="1.0" encoding="utf-8"?>
<Properties xmlns="http://schemas.openxmlformats.org/officeDocument/2006/extended-properties" xmlns:vt="http://schemas.openxmlformats.org/officeDocument/2006/docPropsVTypes">
  <Template/>
  <TotalTime>1978</TotalTime>
  <Words>2594</Words>
  <Application>Microsoft Office PowerPoint</Application>
  <PresentationFormat>Widescreen</PresentationFormat>
  <Paragraphs>215</Paragraphs>
  <Slides>5</Slides>
  <Notes>5</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5</vt:i4>
      </vt:variant>
    </vt:vector>
  </HeadingPairs>
  <TitlesOfParts>
    <vt:vector size="15" baseType="lpstr">
      <vt:lpstr>Inter Black</vt:lpstr>
      <vt:lpstr>微软雅黑</vt:lpstr>
      <vt:lpstr>思源黑体 CN Heavy</vt:lpstr>
      <vt:lpstr>Arial</vt:lpstr>
      <vt:lpstr>Arial Black</vt:lpstr>
      <vt:lpstr>Calibri</vt:lpstr>
      <vt:lpstr>Courier New</vt:lpstr>
      <vt:lpstr>Office 主题​​</vt:lpstr>
      <vt:lpstr>Office 主题​​</vt:lpstr>
      <vt:lpstr>Office 主题​​</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FORKLIFT TASK DISPATCH</dc:title>
  <dc:creator>Chown</dc:creator>
  <cp:lastModifiedBy>Billy (VN CNS IT)</cp:lastModifiedBy>
  <cp:revision>23</cp:revision>
  <dcterms:modified xsi:type="dcterms:W3CDTF">2026-08-29T05:28:51Z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2022-05-19T09:53:00Z</dcterms:created>
  <dc:creator>ZMY</dc:creator>
  <dc:description/>
  <dc:language>en-US</dc:language>
  <cp:lastModifiedBy>FTI IT</cp:lastModifiedBy>
  <dcterms:modified xsi:type="dcterms:W3CDTF">2026-08-20T02:28:22Z</dcterms:modified>
  <cp:revision>520</cp:revision>
  <dc:subject/>
  <dc:title>PowerPoint 演示文稿</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7B54E248D5E74C45B50FC95368D550F8_12</vt:lpwstr>
  </property>
  <property fmtid="{D5CDD505-2E9C-101B-9397-08002B2CF9AE}" pid="3" name="KSOProductBuildVer">
    <vt:lpwstr>2052-12.1.0.16250</vt:lpwstr>
  </property>
  <property fmtid="{D5CDD505-2E9C-101B-9397-08002B2CF9AE}" pid="4" name="PresentationFormat">
    <vt:lpwstr>Widescreen</vt:lpwstr>
  </property>
  <property fmtid="{D5CDD505-2E9C-101B-9397-08002B2CF9AE}" pid="5" name="Slides">
    <vt:r8>2</vt:r8>
  </property>
</Properties>
</file>